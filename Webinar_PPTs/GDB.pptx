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5143500" cx="9144000"/>
  <p:notesSz cx="6858000" cy="9144000"/>
  <p:embeddedFontLst>
    <p:embeddedFont>
      <p:font typeface="Dosis"/>
      <p:regular r:id="rId62"/>
      <p:bold r:id="rId63"/>
    </p:embeddedFont>
    <p:embeddedFont>
      <p:font typeface="Titillium Web"/>
      <p:regular r:id="rId64"/>
      <p:bold r:id="rId65"/>
      <p:italic r:id="rId66"/>
      <p:boldItalic r:id="rId67"/>
    </p:embeddedFont>
    <p:embeddedFont>
      <p:font typeface="Dosis Medium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AFF340-68F6-4691-A15D-6B147D21FFE5}">
  <a:tblStyle styleId="{40AFF340-68F6-4691-A15D-6B147D21FF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osis-regular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TitilliumWeb-regular.fntdata"/><Relationship Id="rId63" Type="http://schemas.openxmlformats.org/officeDocument/2006/relationships/font" Target="fonts/Dosis-bold.fntdata"/><Relationship Id="rId22" Type="http://schemas.openxmlformats.org/officeDocument/2006/relationships/slide" Target="slides/slide16.xml"/><Relationship Id="rId66" Type="http://schemas.openxmlformats.org/officeDocument/2006/relationships/font" Target="fonts/TitilliumWeb-italic.fntdata"/><Relationship Id="rId21" Type="http://schemas.openxmlformats.org/officeDocument/2006/relationships/slide" Target="slides/slide15.xml"/><Relationship Id="rId65" Type="http://schemas.openxmlformats.org/officeDocument/2006/relationships/font" Target="fonts/TitilliumWeb-bold.fntdata"/><Relationship Id="rId24" Type="http://schemas.openxmlformats.org/officeDocument/2006/relationships/slide" Target="slides/slide18.xml"/><Relationship Id="rId68" Type="http://schemas.openxmlformats.org/officeDocument/2006/relationships/font" Target="fonts/DosisMedium-regular.fntdata"/><Relationship Id="rId23" Type="http://schemas.openxmlformats.org/officeDocument/2006/relationships/slide" Target="slides/slide17.xml"/><Relationship Id="rId67" Type="http://schemas.openxmlformats.org/officeDocument/2006/relationships/font" Target="fonts/TitilliumWeb-bold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DosisMedium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6c75d0c54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6c75d0c54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97d3744084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97d3744084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ef49428c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ef49428c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858fe014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858fe01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85ad4cc70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85ad4cc70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85ad4cc70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85ad4cc7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858fe014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858fe014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858fe014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858fe01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58fe01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858fe01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ee46d54b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ee46d54b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7d3744084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7d3744084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ed7e1715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ed7e1715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ad04fd64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4ad04fd64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ad04fd64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4ad04fd64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ad04fd64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4ad04fd64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ad04fd6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4ad04fd6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ad04fd64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4ad04fd64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d04fd64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4ad04fd64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ad04fd649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4ad04fd64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ad04fd64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4ad04fd64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ad04fd64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4ad04fd64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ad04fd64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ad04fd64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ee46d54b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8ee46d54b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ee46d54b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8ee46d54b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ee46d54b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ee46d54b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ee46d54b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ee46d54b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ee46d54b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8ee46d54b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ee46d54b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ee46d54b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ee46d54b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8ee46d54b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ee46d54b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8ee46d54b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ee46d54b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8ee46d54b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ee46d54b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8ee46d54b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ee46d54b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8ee46d54b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ee46d54b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8ee46d54b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ee46d54b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8ee46d54b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ee46d54b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ee46d54b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ee46d54b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8ee46d54b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8ee46d54b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8ee46d54b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ee46d54b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8ee46d54b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ee46d54b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8ee46d54b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ee46d54b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8ee46d54b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ee46d54b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8ee46d54b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ee46d54b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8ee46d54b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ee46d54b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ee46d54b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ee46d54b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ee46d54b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ad04fd64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4ad04fd64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ad04fd64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4ad04fd64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4ad04fd649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4ad04fd649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8ee46d54b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8ee46d54b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ee46d54b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8ee46d54b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ee46d54b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8ee46d54b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ee46d54b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8ee46d54b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ee46d54b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8ee46d54b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bbafba8b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6bbafba8b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4ad04fd649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4ad04fd649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875025" y="3484300"/>
            <a:ext cx="7269000" cy="763200"/>
          </a:xfrm>
          <a:prstGeom prst="rect">
            <a:avLst/>
          </a:prstGeom>
          <a:noFill/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Font typeface="Dosis"/>
              <a:buNone/>
              <a:defRPr sz="42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cxnSp>
        <p:nvCxnSpPr>
          <p:cNvPr id="14" name="Google Shape;14;p2"/>
          <p:cNvCxnSpPr/>
          <p:nvPr/>
        </p:nvCxnSpPr>
        <p:spPr>
          <a:xfrm>
            <a:off x="461175" y="2673625"/>
            <a:ext cx="7569600" cy="1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787" y="3300400"/>
            <a:ext cx="1600274" cy="160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Font typeface="Dosis"/>
              <a:buNone/>
              <a:defRPr sz="36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cxnSp>
        <p:nvCxnSpPr>
          <p:cNvPr id="19" name="Google Shape;19;p3"/>
          <p:cNvCxnSpPr>
            <a:endCxn id="18" idx="2"/>
          </p:cNvCxnSpPr>
          <p:nvPr/>
        </p:nvCxnSpPr>
        <p:spPr>
          <a:xfrm>
            <a:off x="461100" y="2978550"/>
            <a:ext cx="4110900" cy="14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itillium Web"/>
              <a:buNone/>
              <a:defRPr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23" name="Google Shape;23;p4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70350" y="739475"/>
            <a:ext cx="4041300" cy="3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itillium Web"/>
              <a:buChar char="●"/>
              <a:defRPr sz="14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1275" y="739475"/>
            <a:ext cx="4140900" cy="3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itillium Web"/>
              <a:buChar char="●"/>
              <a:defRPr sz="14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●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Clr>
                <a:srgbClr val="073763"/>
              </a:buClr>
              <a:buSzPts val="1200"/>
              <a:buFont typeface="Titillium Web"/>
              <a:buChar char="○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Clr>
                <a:srgbClr val="073763"/>
              </a:buClr>
              <a:buSzPts val="1200"/>
              <a:buFont typeface="Titillium Web"/>
              <a:buChar char="■"/>
              <a:defRPr sz="1200">
                <a:solidFill>
                  <a:srgbClr val="07376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3975" y="540025"/>
            <a:ext cx="9132000" cy="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238625" y="4892100"/>
            <a:ext cx="3378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ctrTitle"/>
          </p:nvPr>
        </p:nvSpPr>
        <p:spPr>
          <a:xfrm>
            <a:off x="311700" y="1862025"/>
            <a:ext cx="8520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Font typeface="Arial"/>
              <a:buNone/>
              <a:defRPr sz="42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" name="Google Shape;37;p7"/>
          <p:cNvSpPr txBox="1"/>
          <p:nvPr>
            <p:ph idx="1" type="subTitle"/>
          </p:nvPr>
        </p:nvSpPr>
        <p:spPr>
          <a:xfrm>
            <a:off x="311688" y="26736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8" name="Google Shape;38;p7"/>
          <p:cNvCxnSpPr/>
          <p:nvPr/>
        </p:nvCxnSpPr>
        <p:spPr>
          <a:xfrm>
            <a:off x="461175" y="2673625"/>
            <a:ext cx="7569600" cy="1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71862" y="52850"/>
            <a:ext cx="1600274" cy="160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311700" y="1862025"/>
            <a:ext cx="8520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4200"/>
              <a:buFont typeface="Dosis"/>
              <a:buNone/>
              <a:defRPr sz="42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311688" y="26736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tillium Web"/>
              <a:buNone/>
              <a:defRPr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Titillium Web"/>
              <a:buNone/>
              <a:defRPr sz="2800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cxnSp>
        <p:nvCxnSpPr>
          <p:cNvPr id="45" name="Google Shape;45;p9"/>
          <p:cNvCxnSpPr/>
          <p:nvPr/>
        </p:nvCxnSpPr>
        <p:spPr>
          <a:xfrm>
            <a:off x="461175" y="2673625"/>
            <a:ext cx="7569600" cy="1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71862" y="52850"/>
            <a:ext cx="1600274" cy="160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sz="28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00" y="701700"/>
            <a:ext cx="88224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Titillium Web"/>
              <a:buChar char="●"/>
              <a:defRPr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●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Titillium Web"/>
              <a:buChar char="○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Titillium Web"/>
              <a:buChar char="■"/>
              <a:defRPr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39775" y="4926600"/>
            <a:ext cx="75183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975" y="4815975"/>
            <a:ext cx="7587600" cy="25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1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818325" y="4815900"/>
            <a:ext cx="4023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100"/>
            </a:lvl1pPr>
            <a:lvl2pPr lvl="1">
              <a:buNone/>
              <a:defRPr sz="1100"/>
            </a:lvl2pPr>
            <a:lvl3pPr lvl="2">
              <a:buNone/>
              <a:defRPr sz="1100"/>
            </a:lvl3pPr>
            <a:lvl4pPr lvl="3">
              <a:buNone/>
              <a:defRPr sz="1100"/>
            </a:lvl4pPr>
            <a:lvl5pPr lvl="4">
              <a:buNone/>
              <a:defRPr sz="1100"/>
            </a:lvl5pPr>
            <a:lvl6pPr lvl="5">
              <a:buNone/>
              <a:defRPr sz="1100"/>
            </a:lvl6pPr>
            <a:lvl7pPr lvl="6">
              <a:buNone/>
              <a:defRPr sz="1100"/>
            </a:lvl7pPr>
            <a:lvl8pPr lvl="7">
              <a:buNone/>
              <a:defRPr sz="1100"/>
            </a:lvl8pPr>
            <a:lvl9pPr lvl="8"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8176" y="4615201"/>
            <a:ext cx="540001" cy="5399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shakti.org.in/documentation.html" TargetMode="External"/><Relationship Id="rId4" Type="http://schemas.openxmlformats.org/officeDocument/2006/relationships/hyperlink" Target="https://blogshakti.org.in/" TargetMode="External"/><Relationship Id="rId11" Type="http://schemas.openxmlformats.org/officeDocument/2006/relationships/hyperlink" Target="https://gitlab.com/shaktiproject/uncore/devices" TargetMode="External"/><Relationship Id="rId10" Type="http://schemas.openxmlformats.org/officeDocument/2006/relationships/hyperlink" Target="https://gitlab.com/shaktiproject/cores" TargetMode="External"/><Relationship Id="rId9" Type="http://schemas.openxmlformats.org/officeDocument/2006/relationships/hyperlink" Target="https://registry.platformio.org/platforms/platformio/shakti" TargetMode="External"/><Relationship Id="rId5" Type="http://schemas.openxmlformats.org/officeDocument/2006/relationships/hyperlink" Target="https://gitlab.com/shaktiproject/sp2020" TargetMode="External"/><Relationship Id="rId6" Type="http://schemas.openxmlformats.org/officeDocument/2006/relationships/hyperlink" Target="https://gitlab.com/shaktiproject/software/shakti-sdk" TargetMode="External"/><Relationship Id="rId7" Type="http://schemas.openxmlformats.org/officeDocument/2006/relationships/hyperlink" Target="https://blogshakti.org.in/how-to-print-hello-world-on-shakti-using-arduino-ide/" TargetMode="External"/><Relationship Id="rId8" Type="http://schemas.openxmlformats.org/officeDocument/2006/relationships/hyperlink" Target="https://gitlab.com/shaktiproject/software/linux-on-shakti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ctrTitle"/>
          </p:nvPr>
        </p:nvSpPr>
        <p:spPr>
          <a:xfrm>
            <a:off x="94100" y="1862025"/>
            <a:ext cx="8969700" cy="7632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GDB</a:t>
            </a:r>
            <a:endParaRPr/>
          </a:p>
        </p:txBody>
      </p:sp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311688" y="2673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SHAKTI Group | CSE Dept | PS-CDISHA - RISE Lab | IIT Madras</a:t>
            </a:r>
            <a:br>
              <a:rPr b="1"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</a:br>
            <a:br>
              <a:rPr b="1"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b="1"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RISE LAB </a:t>
            </a:r>
            <a:endParaRPr b="1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IIT - Madras</a:t>
            </a:r>
            <a:endParaRPr b="1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Preview of the Session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318975" y="540000"/>
            <a:ext cx="8458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1.  Introduction to GDB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2</a:t>
            </a: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. GDB Commands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3</a:t>
            </a: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. RISC-V CSR’s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4. RISC-V Exceptions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5. Demo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/>
        </p:nvSpPr>
        <p:spPr>
          <a:xfrm>
            <a:off x="0" y="771525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. GDB (GNU Debugger) -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Debugging tool designed for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RISC V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architecture.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Program that helps to see what the code is doing inside the processor - while it runs, stops, crashes, or behaves weirdly.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90125"/>
            <a:ext cx="8839199" cy="82071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>
            <p:ph idx="4294967295"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Introduction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to GDB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idx="4294967295"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GDB Commands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1149125" y="86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2895725"/>
                <a:gridCol w="4343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Command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Functionality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</a:t>
                      </a: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et remotetimeout unlimited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Disables the timeout for that remote connection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</a:t>
                      </a: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arget remote localhost : 3333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Tells GDB to connect to a remote target (e.g. OpenOCD) running on your computer at port 3333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</a:t>
                      </a: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ile &lt;path&gt;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Informs GDB of the file with its path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load/l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Informs GDB to load the file specified in the path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compare-sections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To make sure the loaded file has been loaded properly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c/continue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To continue to execute the instruction from start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4294967295"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GDB Commands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graphicFrame>
        <p:nvGraphicFramePr>
          <p:cNvPr id="77" name="Google Shape;77;p14"/>
          <p:cNvGraphicFramePr/>
          <p:nvPr/>
        </p:nvGraphicFramePr>
        <p:xfrm>
          <a:off x="1090150" y="106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2895725"/>
                <a:gridCol w="4343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Command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Functionality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jump &lt;*addr&gt;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Jumps to the specified address. The debugger resumes program execution at that point unless it encounters a breakpoint there.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step / s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Steps from one function to another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stepi / si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Steps into assembler instructions, into any function calls.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4294967295"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GDB Commands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graphicFrame>
        <p:nvGraphicFramePr>
          <p:cNvPr id="83" name="Google Shape;83;p15"/>
          <p:cNvGraphicFramePr/>
          <p:nvPr/>
        </p:nvGraphicFramePr>
        <p:xfrm>
          <a:off x="860100" y="67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2895725"/>
                <a:gridCol w="4343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Command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Functionality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break [Function Name] 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break [filename]:[Line Number] 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break [Address]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Creates a breakpoint at a specified line, address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</a:t>
                      </a: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isplay breakpoint / info breakpoint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To display all breakpoints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delete 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delete [number]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Deletes specific breakpoints or all breakpoints.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4294967295"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GDB Commands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graphicFrame>
        <p:nvGraphicFramePr>
          <p:cNvPr id="89" name="Google Shape;89;p16"/>
          <p:cNvGraphicFramePr/>
          <p:nvPr/>
        </p:nvGraphicFramePr>
        <p:xfrm>
          <a:off x="769075" y="67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2986750"/>
                <a:gridCol w="4343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Command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Functionality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p/x &lt;address&gt;</a:t>
                      </a:r>
                      <a:b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</a:b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x/bx , x/hx , x/wx &lt;address&gt;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Used for </a:t>
                      </a: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displaying value of specific address </a:t>
                      </a:r>
                      <a:b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</a:b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“x”  is hex , can be replaced with other format specifier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</a:t>
                      </a: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et {format} &lt;address&gt;=&lt;value&gt;</a:t>
                      </a:r>
                      <a:b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</a:b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Format (char,short,int)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Used for setting value of specific address . </a:t>
                      </a:r>
                      <a:b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</a:b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Format depend on the accessible size of address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info reg / i r / info registers info all-registers / i all-registers /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info registers [Register name]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Displays the contents of all processor registers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bt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Backtraces to the function where exception was raised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idx="4294967295"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RISC-V Exceptions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graphicFrame>
        <p:nvGraphicFramePr>
          <p:cNvPr id="95" name="Google Shape;95;p17"/>
          <p:cNvGraphicFramePr/>
          <p:nvPr/>
        </p:nvGraphicFramePr>
        <p:xfrm>
          <a:off x="898600" y="81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1940950"/>
                <a:gridCol w="5298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Cause 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Cause Meaning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0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Instruction Address M</a:t>
                      </a: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isaligned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1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Instruction Access Fault (Instruction does not exist)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2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Illegal Instruction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3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Breakpoint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4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Load Address M</a:t>
                      </a: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isaligned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5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Load Access Fault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6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Store Address </a:t>
                      </a: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Misaligned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7</a:t>
                      </a:r>
                      <a:endParaRPr sz="1600"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B5394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Store Access Fault</a:t>
                      </a:r>
                      <a:endParaRPr>
                        <a:solidFill>
                          <a:srgbClr val="0B5394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0" y="771525"/>
            <a:ext cx="91440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As part of Machine Mode Trap Handling Register RISC-V has 3 important CSR Registers </a:t>
            </a:r>
            <a:b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b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1) mtval ( machine trap value ) - exception-specific information to assist software in handling the trap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2) mepc (machine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expectation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pc) - points to the program counter where the exception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occurred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3) mcause ( machine cause ) - the value indicate the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type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of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exception that occurred</a:t>
            </a:r>
            <a:b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b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1" name="Google Shape;101;p18"/>
          <p:cNvSpPr txBox="1"/>
          <p:nvPr>
            <p:ph idx="4294967295"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RISC-V CSR’s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GC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SDK Framework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1" y="4731750"/>
            <a:ext cx="428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tillium Web"/>
                <a:ea typeface="Titillium Web"/>
                <a:cs typeface="Titillium Web"/>
                <a:sym typeface="Titillium Web"/>
              </a:rPr>
              <a:t>https://gitlab.com/shaktiproject/gc2025.git</a:t>
            </a:r>
            <a:endParaRPr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1348" y="692400"/>
            <a:ext cx="6501303" cy="388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BSP - Board Support Package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190825" y="701700"/>
            <a:ext cx="8714700" cy="39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/>
              <a:t>The BSP is layer above the hardware. </a:t>
            </a:r>
            <a:r>
              <a:rPr lang="en" sz="2500"/>
              <a:t>It consists of  </a:t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Driver files for various protocols (peripherals).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Header files for driver files.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</a:t>
            </a:r>
            <a:r>
              <a:rPr lang="en" sz="2500"/>
              <a:t>ssential</a:t>
            </a:r>
            <a:r>
              <a:rPr lang="en" sz="2500"/>
              <a:t> functions and reusable code like ‘printf’ and multi-level logging for debugging.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</a:t>
            </a:r>
            <a:r>
              <a:rPr lang="en" sz="2500"/>
              <a:t>tartup</a:t>
            </a:r>
            <a:r>
              <a:rPr lang="en" sz="2500"/>
              <a:t> code , trap handler , memory initialisation.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Files required for booting 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Platform dependent definitions tailored to each SoC.</a:t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Drivers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64650" y="64960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126" name="Google Shape;126;p22"/>
          <p:cNvSpPr txBox="1"/>
          <p:nvPr/>
        </p:nvSpPr>
        <p:spPr>
          <a:xfrm>
            <a:off x="3098400" y="915100"/>
            <a:ext cx="6045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Drivers are for all supported peripherals (protocols).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Inside each driver file is a set of software constructs (functions / API ).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Executes a particular task in hardware.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Called by the application code / project.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27" name="Google Shape;127;p22" title="Screenshot from 2025-07-03 08-23-26.png"/>
          <p:cNvPicPr preferRelativeResize="0"/>
          <p:nvPr/>
        </p:nvPicPr>
        <p:blipFill rotWithShape="1">
          <a:blip r:embed="rId3">
            <a:alphaModFix/>
          </a:blip>
          <a:srcRect b="44760" l="3975" r="0" t="0"/>
          <a:stretch/>
        </p:blipFill>
        <p:spPr>
          <a:xfrm>
            <a:off x="1288300" y="831300"/>
            <a:ext cx="1874925" cy="19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 title="Screenshot from 2025-07-03 08-25-19.png"/>
          <p:cNvPicPr preferRelativeResize="0"/>
          <p:nvPr/>
        </p:nvPicPr>
        <p:blipFill rotWithShape="1">
          <a:blip r:embed="rId4">
            <a:alphaModFix/>
          </a:blip>
          <a:srcRect b="0" l="3975" r="0" t="0"/>
          <a:stretch/>
        </p:blipFill>
        <p:spPr>
          <a:xfrm>
            <a:off x="1289800" y="2817950"/>
            <a:ext cx="1874925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Include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135" name="Google Shape;135;p23"/>
          <p:cNvSpPr txBox="1"/>
          <p:nvPr/>
        </p:nvSpPr>
        <p:spPr>
          <a:xfrm>
            <a:off x="3352950" y="809675"/>
            <a:ext cx="51870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Header files for all the peripheral drivers.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Dosis Medium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Generic But Board specific.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Peripheral registers are mapped as arrays.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Instance of arrays used to  access the registers.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Macros for bit level description of the registers.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6" name="Google Shape;136;p23" title="Screenshot from 2025-07-03 14-48-53.png"/>
          <p:cNvPicPr preferRelativeResize="0"/>
          <p:nvPr/>
        </p:nvPicPr>
        <p:blipFill rotWithShape="1">
          <a:blip r:embed="rId3">
            <a:alphaModFix/>
          </a:blip>
          <a:srcRect b="50367" l="3484" r="0" t="0"/>
          <a:stretch/>
        </p:blipFill>
        <p:spPr>
          <a:xfrm>
            <a:off x="451950" y="1251175"/>
            <a:ext cx="1348000" cy="255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 title="Screenshot from 2025-07-03 14-48-53.png"/>
          <p:cNvPicPr preferRelativeResize="0"/>
          <p:nvPr/>
        </p:nvPicPr>
        <p:blipFill rotWithShape="1">
          <a:blip r:embed="rId3">
            <a:alphaModFix/>
          </a:blip>
          <a:srcRect b="866" l="6690" r="0" t="50154"/>
          <a:stretch/>
        </p:blipFill>
        <p:spPr>
          <a:xfrm>
            <a:off x="1740975" y="1251175"/>
            <a:ext cx="1303175" cy="25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Lib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850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144" name="Google Shape;144;p24"/>
          <p:cNvSpPr txBox="1"/>
          <p:nvPr/>
        </p:nvSpPr>
        <p:spPr>
          <a:xfrm>
            <a:off x="3061675" y="940475"/>
            <a:ext cx="5641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Utilities are defined as APIs with definitions and implementations.    e.g Printf, multi level log prints, delay loops, string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operations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, etc.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Called repeatedly in the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application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codes. e.g.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Print library, delay_loop.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145" name="Google Shape;145;p24" title="Screenshot from 2025-07-03 14-52-15.png"/>
          <p:cNvPicPr preferRelativeResize="0"/>
          <p:nvPr/>
        </p:nvPicPr>
        <p:blipFill rotWithShape="1">
          <a:blip r:embed="rId3">
            <a:alphaModFix/>
          </a:blip>
          <a:srcRect b="80360" l="1728" r="1718" t="3484"/>
          <a:stretch/>
        </p:blipFill>
        <p:spPr>
          <a:xfrm>
            <a:off x="733525" y="1512550"/>
            <a:ext cx="1885325" cy="38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 title="Screenshot from 2025-07-03 14-52-15.png"/>
          <p:cNvPicPr preferRelativeResize="0"/>
          <p:nvPr/>
        </p:nvPicPr>
        <p:blipFill rotWithShape="1">
          <a:blip r:embed="rId3">
            <a:alphaModFix/>
          </a:blip>
          <a:srcRect b="30316" l="3446" r="0" t="53529"/>
          <a:stretch/>
        </p:blipFill>
        <p:spPr>
          <a:xfrm>
            <a:off x="775950" y="1933650"/>
            <a:ext cx="1842900" cy="38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 title="Screenshot from 2025-07-03 14-52-15.png"/>
          <p:cNvPicPr preferRelativeResize="0"/>
          <p:nvPr/>
        </p:nvPicPr>
        <p:blipFill rotWithShape="1">
          <a:blip r:embed="rId3">
            <a:alphaModFix/>
          </a:blip>
          <a:srcRect b="-9527" l="3446" r="0" t="86574"/>
          <a:stretch/>
        </p:blipFill>
        <p:spPr>
          <a:xfrm>
            <a:off x="775950" y="2354750"/>
            <a:ext cx="1885325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Core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161275" y="540000"/>
            <a:ext cx="8322600" cy="26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graphicFrame>
        <p:nvGraphicFramePr>
          <p:cNvPr id="154" name="Google Shape;154;p25"/>
          <p:cNvGraphicFramePr/>
          <p:nvPr/>
        </p:nvGraphicFramePr>
        <p:xfrm>
          <a:off x="2405550" y="97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6078325"/>
              </a:tblGrid>
              <a:tr h="39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 Medium"/>
                          <a:ea typeface="Dosis Medium"/>
                          <a:cs typeface="Dosis Medium"/>
                          <a:sym typeface="Dosis Medium"/>
                        </a:rPr>
                        <a:t>Trap Handling initialisations &amp; calling the main function.</a:t>
                      </a:r>
                      <a:endParaRPr>
                        <a:latin typeface="Dosis Medium"/>
                        <a:ea typeface="Dosis Medium"/>
                        <a:cs typeface="Dosis Medium"/>
                        <a:sym typeface="Dosis Medium"/>
                      </a:endParaRPr>
                    </a:p>
                  </a:txBody>
                  <a:tcPr marT="91425" marB="91425" marR="91425" marL="91425"/>
                </a:tc>
              </a:tr>
              <a:tr h="3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 Medium"/>
                          <a:ea typeface="Dosis Medium"/>
                          <a:cs typeface="Dosis Medium"/>
                          <a:sym typeface="Dosis Medium"/>
                        </a:rPr>
                        <a:t>Register initialisation, Section initialisation like (stack, text, global, data, etc.)</a:t>
                      </a:r>
                      <a:endParaRPr>
                        <a:latin typeface="Dosis Medium"/>
                        <a:ea typeface="Dosis Medium"/>
                        <a:cs typeface="Dosis Medium"/>
                        <a:sym typeface="Dosis Medium"/>
                      </a:endParaRPr>
                    </a:p>
                  </a:txBody>
                  <a:tcPr marT="91425" marB="91425" marR="91425" marL="91425"/>
                </a:tc>
              </a:tr>
              <a:tr h="3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 Medium"/>
                          <a:ea typeface="Dosis Medium"/>
                          <a:cs typeface="Dosis Medium"/>
                          <a:sym typeface="Dosis Medium"/>
                        </a:rPr>
                        <a:t>Pushing the register values into Stack, Call ISR, Pop the register values.</a:t>
                      </a:r>
                      <a:endParaRPr>
                        <a:latin typeface="Dosis Medium"/>
                        <a:ea typeface="Dosis Medium"/>
                        <a:cs typeface="Dosis Medium"/>
                        <a:sym typeface="Dosis Medium"/>
                      </a:endParaRPr>
                    </a:p>
                  </a:txBody>
                  <a:tcPr marT="91425" marB="91425" marR="91425" marL="91425"/>
                </a:tc>
              </a:tr>
              <a:tr h="3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 Medium"/>
                          <a:ea typeface="Dosis Medium"/>
                          <a:cs typeface="Dosis Medium"/>
                          <a:sym typeface="Dosis Medium"/>
                        </a:rPr>
                        <a:t>Find the cause for the trap and jump to the Handler</a:t>
                      </a:r>
                      <a:endParaRPr>
                        <a:latin typeface="Dosis Medium"/>
                        <a:ea typeface="Dosis Medium"/>
                        <a:cs typeface="Dosis Medium"/>
                        <a:sym typeface="Dosis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5" name="Google Shape;155;p25" title="Screenshot from 2025-07-03 08-17-07.png"/>
          <p:cNvPicPr preferRelativeResize="0"/>
          <p:nvPr/>
        </p:nvPicPr>
        <p:blipFill rotWithShape="1">
          <a:blip r:embed="rId3">
            <a:alphaModFix/>
          </a:blip>
          <a:srcRect b="0" l="4240" r="-1507" t="0"/>
          <a:stretch/>
        </p:blipFill>
        <p:spPr>
          <a:xfrm>
            <a:off x="601525" y="962025"/>
            <a:ext cx="1843850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 txBox="1"/>
          <p:nvPr/>
        </p:nvSpPr>
        <p:spPr>
          <a:xfrm>
            <a:off x="475975" y="2559800"/>
            <a:ext cx="8007900" cy="26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Core has implementation which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Initialises memory.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Trap handler functions to handle exceptions and interrupts.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Startup file which initialises the RISC-V Registers.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Handlers for different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privilege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levels.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Third Party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163" name="Google Shape;163;p26"/>
          <p:cNvSpPr txBox="1"/>
          <p:nvPr/>
        </p:nvSpPr>
        <p:spPr>
          <a:xfrm>
            <a:off x="2618575" y="866150"/>
            <a:ext cx="6316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Board specific address mapping (platform.h).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Configuration files to be used for debugging (ftdi.cfg).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Linker for various sections of the code.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Support for backward compatibility.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sis"/>
              <a:ea typeface="Dosis"/>
              <a:cs typeface="Dosis"/>
              <a:sym typeface="Dosis"/>
            </a:endParaRPr>
          </a:p>
        </p:txBody>
      </p:sp>
      <p:graphicFrame>
        <p:nvGraphicFramePr>
          <p:cNvPr id="164" name="Google Shape;164;p26"/>
          <p:cNvGraphicFramePr/>
          <p:nvPr/>
        </p:nvGraphicFramePr>
        <p:xfrm>
          <a:off x="557325" y="155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1664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Ganga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Yamuna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Utils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171" name="Google Shape;171;p27"/>
          <p:cNvSpPr txBox="1"/>
          <p:nvPr/>
        </p:nvSpPr>
        <p:spPr>
          <a:xfrm>
            <a:off x="2267325" y="987475"/>
            <a:ext cx="6385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Board SPI or External SPI can be used for uploading the application code into flash.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Application code to be flashed is converted into a header file before uploading.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Has the required python scripts required to flash the application code.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172" name="Google Shape;172;p27" title="Screenshot from 2025-07-03 14-59-00.png"/>
          <p:cNvPicPr preferRelativeResize="0"/>
          <p:nvPr/>
        </p:nvPicPr>
        <p:blipFill rotWithShape="1">
          <a:blip r:embed="rId3">
            <a:alphaModFix/>
          </a:blip>
          <a:srcRect b="0" l="0" r="0" t="23141"/>
          <a:stretch/>
        </p:blipFill>
        <p:spPr>
          <a:xfrm>
            <a:off x="314700" y="1846100"/>
            <a:ext cx="1952625" cy="12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oftware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78" name="Google Shape;178;p28" title="Screenshot from 2025-07-03 14-59-52.png"/>
          <p:cNvPicPr preferRelativeResize="0"/>
          <p:nvPr/>
        </p:nvPicPr>
        <p:blipFill rotWithShape="1">
          <a:blip r:embed="rId3">
            <a:alphaModFix/>
          </a:blip>
          <a:srcRect b="30191" l="0" r="0" t="0"/>
          <a:stretch/>
        </p:blipFill>
        <p:spPr>
          <a:xfrm>
            <a:off x="2216025" y="855100"/>
            <a:ext cx="1952625" cy="831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" name="Google Shape;179;p28"/>
          <p:cNvGraphicFramePr/>
          <p:nvPr/>
        </p:nvGraphicFramePr>
        <p:xfrm>
          <a:off x="4117125" y="85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3096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 Medium"/>
                          <a:ea typeface="Dosis Medium"/>
                          <a:cs typeface="Dosis Medium"/>
                          <a:sym typeface="Dosis Medium"/>
                        </a:rPr>
                        <a:t>Example driver codes for peripherals.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 Medium"/>
                          <a:ea typeface="Dosis Medium"/>
                          <a:cs typeface="Dosis Medium"/>
                          <a:sym typeface="Dosis Medium"/>
                        </a:rPr>
                        <a:t>Application Project with many drivers.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0" name="Google Shape;180;p28"/>
          <p:cNvSpPr txBox="1"/>
          <p:nvPr/>
        </p:nvSpPr>
        <p:spPr>
          <a:xfrm>
            <a:off x="1516875" y="2171350"/>
            <a:ext cx="68616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“Examples” consist of Application code targeted use the functionality of individual peripheral.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“Projects” consists of Application code involving multiple peripherals.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“BenchMarks”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It is a set of Standard works , used to evaluate performance of the Core.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E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xamples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187" name="Google Shape;187;p29"/>
          <p:cNvSpPr txBox="1"/>
          <p:nvPr/>
        </p:nvSpPr>
        <p:spPr>
          <a:xfrm>
            <a:off x="3026300" y="931425"/>
            <a:ext cx="5457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Simple code to show how the driver API can be called.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Application code which uses only one peripheral (driver) as main one.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Has multiple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application code for each driver.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88" name="Google Shape;188;p29" title="Screenshot from 2025-07-03 15-03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663" y="809463"/>
            <a:ext cx="195262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P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rojects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pic>
        <p:nvPicPr>
          <p:cNvPr id="195" name="Google Shape;195;p30" title="Screenshot from 2025-07-03 15-04-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38" y="1274050"/>
            <a:ext cx="195262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 txBox="1"/>
          <p:nvPr/>
        </p:nvSpPr>
        <p:spPr>
          <a:xfrm>
            <a:off x="3424975" y="1125875"/>
            <a:ext cx="46233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Integrates more than one peripheral driver.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Application code which uses more than one peripheral.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Focus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here is to show how multiple drivers can be integrated into a single top file and used.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311700" y="19583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: Compile and Execute “Hello World” Program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Prerequisite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7" name="Google Shape;207;p32"/>
          <p:cNvSpPr txBox="1"/>
          <p:nvPr/>
        </p:nvSpPr>
        <p:spPr>
          <a:xfrm>
            <a:off x="0" y="579475"/>
            <a:ext cx="8254200" cy="56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Vivado  - to program the FPGA.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OpenOCD - to configure the host as  server.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RISCV-GNU-TOOLCHAIN - connect the core (SoC) as client to server and accesses the core/SoC.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GTKTerm - for viewing the console prints.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Refer the “tool setup manual” in GCSDK/Docs 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Program the FPGA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214" name="Google Shape;214;p33"/>
          <p:cNvSpPr txBox="1"/>
          <p:nvPr/>
        </p:nvSpPr>
        <p:spPr>
          <a:xfrm>
            <a:off x="7225" y="540000"/>
            <a:ext cx="86307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As demonstrated in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previous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session , program the FPGA with the bitstream / mcs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using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Vivado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Refer the “</a:t>
            </a: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Bitstream/MCS Generation and FPGA Target Configuration”</a:t>
            </a: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manual in GCSDK/Docs 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15" name="Google Shape;215;p33"/>
          <p:cNvPicPr preferRelativeResize="0"/>
          <p:nvPr/>
        </p:nvPicPr>
        <p:blipFill rotWithShape="1">
          <a:blip r:embed="rId3">
            <a:alphaModFix/>
          </a:blip>
          <a:srcRect b="59927" l="5730" r="52531" t="10922"/>
          <a:stretch/>
        </p:blipFill>
        <p:spPr>
          <a:xfrm>
            <a:off x="2777463" y="2248153"/>
            <a:ext cx="3589074" cy="187992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33"/>
          <p:cNvSpPr txBox="1"/>
          <p:nvPr/>
        </p:nvSpPr>
        <p:spPr>
          <a:xfrm>
            <a:off x="3144239" y="1737025"/>
            <a:ext cx="26436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Programming the board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Compile the Application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223" name="Google Shape;223;p34"/>
          <p:cNvSpPr txBox="1"/>
          <p:nvPr/>
        </p:nvSpPr>
        <p:spPr>
          <a:xfrm>
            <a:off x="7225" y="540000"/>
            <a:ext cx="8630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Make sure the working directory is /GCSDK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Execute the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following command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&lt;target_soc&gt; can either be ‘ganga’ or ‘yamuna’.</a:t>
            </a:r>
            <a:b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*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lease note &lt;target_soc&gt; is case sensitive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Refer the “Shakti SDK ” user manual in GCSDK/Docs 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aphicFrame>
        <p:nvGraphicFramePr>
          <p:cNvPr id="224" name="Google Shape;224;p34"/>
          <p:cNvGraphicFramePr/>
          <p:nvPr/>
        </p:nvGraphicFramePr>
        <p:xfrm>
          <a:off x="952500" y="1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r>
                        <a:rPr b="1" lang="en"/>
                        <a:t>ake software PROGRAM=hello TARGET=&lt;target_soc&gt;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563" y="1213775"/>
            <a:ext cx="8404874" cy="7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99" y="2138253"/>
            <a:ext cx="8839201" cy="1504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Connecting Openocd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237" name="Google Shape;237;p36"/>
          <p:cNvSpPr txBox="1"/>
          <p:nvPr/>
        </p:nvSpPr>
        <p:spPr>
          <a:xfrm>
            <a:off x="7225" y="540000"/>
            <a:ext cx="8630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Make sure the working directory is /GCSDK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Execute the following command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5143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&lt;target_soc&gt; can either be ‘ganga’ or ‘yamuna’.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5143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*please note &lt;target_soc&gt; is case sensitive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Refer the “Shakti SDK ” user manual in GCSDK/Docs 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aphicFrame>
        <p:nvGraphicFramePr>
          <p:cNvPr id="238" name="Google Shape;238;p36"/>
          <p:cNvGraphicFramePr/>
          <p:nvPr/>
        </p:nvGraphicFramePr>
        <p:xfrm>
          <a:off x="952500" y="1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7239000"/>
              </a:tblGrid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cd bsp/third_party/&lt;Target_SoC&gt;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sudo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./openocd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 -f ftdi.cfg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813" y="152400"/>
            <a:ext cx="784437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Connecting Debugger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250" name="Google Shape;250;p38"/>
          <p:cNvSpPr txBox="1"/>
          <p:nvPr/>
        </p:nvSpPr>
        <p:spPr>
          <a:xfrm>
            <a:off x="7225" y="540000"/>
            <a:ext cx="86166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Make sure the working directory is /GCSDK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Execute the following command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*please note XLEN depends on the toolchain you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have installed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RV64 : XLEN = 64 ; RV32 : XLEN = 32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Refer the “Shakti SDK ” user manual in GCSDK/Docs 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aphicFrame>
        <p:nvGraphicFramePr>
          <p:cNvPr id="251" name="Google Shape;251;p38"/>
          <p:cNvGraphicFramePr/>
          <p:nvPr/>
        </p:nvGraphicFramePr>
        <p:xfrm>
          <a:off x="952500" y="1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riscv(XLEN)-unknown-elf-gdb -x </a:t>
                      </a:r>
                      <a:r>
                        <a:rPr b="1" lang="en"/>
                        <a:t>gdb.script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775" y="152400"/>
            <a:ext cx="558445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Viewing the Output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2" name="Google Shape;262;p40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263" name="Google Shape;263;p40"/>
          <p:cNvSpPr txBox="1"/>
          <p:nvPr/>
        </p:nvSpPr>
        <p:spPr>
          <a:xfrm>
            <a:off x="7225" y="540000"/>
            <a:ext cx="86166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Make sure the working directory is /GCSDK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Execute the following command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Refer the “Shakti SDK ” user manual in GCSDK/Docs </a:t>
            </a:r>
            <a:endParaRPr sz="19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aphicFrame>
        <p:nvGraphicFramePr>
          <p:cNvPr id="264" name="Google Shape;264;p40"/>
          <p:cNvGraphicFramePr/>
          <p:nvPr/>
        </p:nvGraphicFramePr>
        <p:xfrm>
          <a:off x="952500" y="1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</a:t>
                      </a:r>
                      <a:r>
                        <a:rPr b="1" lang="en"/>
                        <a:t>udo gtkterm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404" y="152400"/>
            <a:ext cx="63171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Application to GCSDK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Makefile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b="1" lang="en" sz="2700"/>
              <a:t>To compile programs more efficiently the GNU’s MAKE utility is used. </a:t>
            </a:r>
            <a:endParaRPr b="1"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b="1" lang="en" sz="2700"/>
              <a:t>The make utility uses the Makefile to compile programs from source code. </a:t>
            </a:r>
            <a:endParaRPr b="1" sz="2700"/>
          </a:p>
          <a:p>
            <a:pPr indent="-4000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b="1" lang="en" sz="2700"/>
              <a:t>The output generated by the MAKE utility is in ELF format (with extension as “shakti”).</a:t>
            </a:r>
            <a:endParaRPr b="1" sz="2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Steps to add a new Application to GCSDK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" sz="2500"/>
              <a:t>Create a </a:t>
            </a:r>
            <a:r>
              <a:rPr b="1" lang="en" sz="2500"/>
              <a:t>folder</a:t>
            </a:r>
            <a:r>
              <a:rPr b="1" lang="en" sz="2500"/>
              <a:t> inside the target application</a:t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e</a:t>
            </a:r>
            <a:r>
              <a:rPr b="1" lang="en" sz="2500"/>
              <a:t>xample : new application - my_first_code , (it is a uart based application)</a:t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Note*: Do not add any spaces in between the file name.</a:t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877" y="152400"/>
            <a:ext cx="730624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Steps to add a new Application to GCSDK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7" name="Google Shape;297;p46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" sz="2500"/>
              <a:t>Create a file with the same name of folder inside the   newly created folder.</a:t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example : my_first_code.c</a:t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1509713"/>
            <a:ext cx="6457950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Steps to add a new Application to GCSDK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8" name="Google Shape;308;p48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" sz="2500"/>
              <a:t>Add a makefile to the newly created folder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Re-use existing Makefile file from another folder within the same application</a:t>
            </a:r>
            <a:endParaRPr b="1"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Write your own </a:t>
            </a:r>
            <a:r>
              <a:rPr b="1" lang="en" sz="2500"/>
              <a:t>custom</a:t>
            </a:r>
            <a:r>
              <a:rPr b="1" lang="en" sz="2500"/>
              <a:t> Makefile.</a:t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545092"/>
            <a:ext cx="8839203" cy="2053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Steps to add a new Application to GCSDK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9" name="Google Shape;319;p50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n" sz="2500"/>
              <a:t>Open the Makefile in the ‘examples’ directory. 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Add an new ‘ifeq’ block</a:t>
            </a:r>
            <a:endParaRPr b="1"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Provide path and file name </a:t>
            </a:r>
            <a:endParaRPr b="1"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Add and ‘endif’ block to close the ‘ifeq’ block</a:t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1895475"/>
            <a:ext cx="521017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Steps to add a new Application to GCSDK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Make sure the working directory is /GCSDK 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Execute the following command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The &lt;target_soc&gt; can either be ‘Ganga’ or ‘Yamuna’.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*please note &lt;target_soc&gt; is case sensitive</a:t>
            </a:r>
            <a:endParaRPr b="1" sz="2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graphicFrame>
        <p:nvGraphicFramePr>
          <p:cNvPr id="331" name="Google Shape;331;p52"/>
          <p:cNvGraphicFramePr/>
          <p:nvPr/>
        </p:nvGraphicFramePr>
        <p:xfrm>
          <a:off x="952500" y="191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{40AFF340-68F6-4691-A15D-6B147D21FFE5}</a:tableStyleId>
              </a:tblPr>
              <a:tblGrid>
                <a:gridCol w="723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r>
                        <a:rPr b="1" lang="en"/>
                        <a:t>ake software PROGRAM=my_first_code TARGET=&lt;target_soc&gt;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0274"/>
            <a:ext cx="8839198" cy="1502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Peripheral to GCSDK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5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Adding New Peripheral Details 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47" name="Google Shape;347;p55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348" name="Google Shape;348;p55"/>
          <p:cNvSpPr txBox="1"/>
          <p:nvPr/>
        </p:nvSpPr>
        <p:spPr>
          <a:xfrm>
            <a:off x="4405300" y="679550"/>
            <a:ext cx="46233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the </a:t>
            </a: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directory /bsp/third_party/&lt;target_SoC&gt; modify “Platform.h” to :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Add new peripheral base address.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Peripheral offset.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Peripheral count.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Adding New Peripheral Registers Details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54" name="Google Shape;354;p56"/>
          <p:cNvSpPr txBox="1"/>
          <p:nvPr/>
        </p:nvSpPr>
        <p:spPr>
          <a:xfrm>
            <a:off x="4397625" y="747750"/>
            <a:ext cx="46233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the directory /bsp/include add “&lt;new_peripheral&gt;.h” to :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Add new peripheral registers in structures.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Be careful in adding variable length registers.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All registers are uniformly placed with 32 bit offset.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Initializing New Peripheral Address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  <p:sp>
        <p:nvSpPr>
          <p:cNvPr id="361" name="Google Shape;361;p57"/>
          <p:cNvSpPr txBox="1"/>
          <p:nvPr/>
        </p:nvSpPr>
        <p:spPr>
          <a:xfrm>
            <a:off x="330150" y="679550"/>
            <a:ext cx="84837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Inside /bsp/driver/ , create new folder &lt;new_peripheral&gt;  for the newly added peripheral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Inside the newly created folder , create &lt;new_driver&gt;.c file.  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Initialises the base address for a particular set of peripheral.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00"/>
              <a:buFont typeface="Titillium Web"/>
              <a:buChar char="●"/>
            </a:pPr>
            <a:r>
              <a:rPr lang="en" sz="25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Peripheral instance with array index can be used to point to the registers of the peripheral.</a:t>
            </a:r>
            <a:endParaRPr sz="25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9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Add New Driver to Makefile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71" name="Google Shape;371;p59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In /examples ‘Makefile’ add the path to the new driver under appropriate TARGET in ‘compile’ section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Add the path to the object file to new driver under appropriate TARGET in ‘build’ section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and Compiling New Project to GCSDK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1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Add New Project 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82" name="Google Shape;382;p61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Compiling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Newly added Project 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88" name="Google Shape;388;p62"/>
          <p:cNvSpPr txBox="1"/>
          <p:nvPr>
            <p:ph idx="1" type="body"/>
          </p:nvPr>
        </p:nvSpPr>
        <p:spPr>
          <a:xfrm>
            <a:off x="161275" y="679550"/>
            <a:ext cx="8322600" cy="3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i="1" lang="en"/>
              <a:t> </a:t>
            </a:r>
            <a:endParaRPr i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>
            <p:ph type="title"/>
          </p:nvPr>
        </p:nvSpPr>
        <p:spPr>
          <a:xfrm>
            <a:off x="0" y="0"/>
            <a:ext cx="9144000" cy="5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References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94" name="Google Shape;394;p63"/>
          <p:cNvSpPr txBox="1"/>
          <p:nvPr>
            <p:ph idx="1" type="body"/>
          </p:nvPr>
        </p:nvSpPr>
        <p:spPr>
          <a:xfrm>
            <a:off x="325625" y="836500"/>
            <a:ext cx="8714700" cy="4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Documentation: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 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3"/>
              </a:rPr>
              <a:t>https://shakti.org.in/documentation.html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Blogs: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 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4"/>
              </a:rPr>
              <a:t>https://blogshakti.org.in/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FPGA files:</a:t>
            </a:r>
            <a:r>
              <a:rPr lang="en" sz="1500" u="sng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5"/>
              </a:rPr>
              <a:t>https://gitlab.com/shaktiproject/sp2020</a:t>
            </a:r>
            <a:endParaRPr sz="1500" u="sng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SDK: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6"/>
              </a:rPr>
              <a:t>https://gitlab.com/shaktiproject/software/shakti-sdk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on Arduino: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7"/>
              </a:rPr>
              <a:t>https://blogshakti.org.in/how-to-print-hello-world-on-shakti-using-arduino-ide/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Linux on Shakti: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8"/>
              </a:rPr>
              <a:t>https://gitlab.com/shaktiproject/software/linux-on-shakti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Platform IO: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9"/>
              </a:rPr>
              <a:t>https://registry.platformio.org/platforms/platformio/shakti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cores:</a:t>
            </a:r>
            <a:r>
              <a:rPr lang="en" sz="1500">
                <a:latin typeface="Dosis Medium"/>
                <a:ea typeface="Dosis Medium"/>
                <a:cs typeface="Dosis Medium"/>
                <a:sym typeface="Dosis Medium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10"/>
              </a:rPr>
              <a:t>https://gitlab.com/shaktiproject/cores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peripherals: </a:t>
            </a:r>
            <a:r>
              <a:rPr lang="en" sz="1500" u="sng">
                <a:solidFill>
                  <a:schemeClr val="hlink"/>
                </a:solidFill>
                <a:latin typeface="Dosis Medium"/>
                <a:ea typeface="Dosis Medium"/>
                <a:cs typeface="Dosis Medium"/>
                <a:sym typeface="Dosis Medium"/>
                <a:hlinkClick r:id="rId11"/>
              </a:rPr>
              <a:t>https://gitlab.com/shaktiproject/uncore/devices</a:t>
            </a:r>
            <a:endParaRPr sz="15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4"/>
          <p:cNvSpPr txBox="1"/>
          <p:nvPr/>
        </p:nvSpPr>
        <p:spPr>
          <a:xfrm>
            <a:off x="311708" y="363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3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rPr>
              <a:t>Thank you</a:t>
            </a:r>
            <a:endParaRPr b="1" sz="8300">
              <a:solidFill>
                <a:srgbClr val="07376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AKTI-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