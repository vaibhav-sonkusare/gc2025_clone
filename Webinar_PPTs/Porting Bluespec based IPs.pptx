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Dosis"/>
      <p:regular r:id="rId34"/>
      <p:bold r:id="rId35"/>
    </p:embeddedFont>
    <p:embeddedFont>
      <p:font typeface="Dosis Medium"/>
      <p:regular r:id="rId36"/>
      <p:bold r:id="rId37"/>
    </p:embeddedFont>
    <p:embeddedFont>
      <p:font typeface="Dosis SemiBol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A8625FC-8F9E-468F-81FC-098174F88942}">
  <a:tblStyle styleId="{6A8625FC-8F9E-468F-81FC-098174F8894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Dosis-bold.fntdata"/><Relationship Id="rId12" Type="http://schemas.openxmlformats.org/officeDocument/2006/relationships/slide" Target="slides/slide6.xml"/><Relationship Id="rId34" Type="http://schemas.openxmlformats.org/officeDocument/2006/relationships/font" Target="fonts/Dosis-regular.fntdata"/><Relationship Id="rId15" Type="http://schemas.openxmlformats.org/officeDocument/2006/relationships/slide" Target="slides/slide9.xml"/><Relationship Id="rId37" Type="http://schemas.openxmlformats.org/officeDocument/2006/relationships/font" Target="fonts/DosisMedium-bold.fntdata"/><Relationship Id="rId14" Type="http://schemas.openxmlformats.org/officeDocument/2006/relationships/slide" Target="slides/slide8.xml"/><Relationship Id="rId36" Type="http://schemas.openxmlformats.org/officeDocument/2006/relationships/font" Target="fonts/DosisMedium-regular.fntdata"/><Relationship Id="rId17" Type="http://schemas.openxmlformats.org/officeDocument/2006/relationships/slide" Target="slides/slide11.xml"/><Relationship Id="rId39" Type="http://schemas.openxmlformats.org/officeDocument/2006/relationships/font" Target="fonts/DosisSemiBold-bold.fntdata"/><Relationship Id="rId16" Type="http://schemas.openxmlformats.org/officeDocument/2006/relationships/slide" Target="slides/slide10.xml"/><Relationship Id="rId38" Type="http://schemas.openxmlformats.org/officeDocument/2006/relationships/font" Target="fonts/DosisSemiBold-regular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d32402926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d32402926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97c9dc84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97c9dc84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d32402926_0_1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d32402926_0_1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9cb70a36b6_0_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9cb70a36b6_0_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9d0123a34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9d0123a3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cb70a36b6_0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cb70a36b6_0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cb70a36b6_0_6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cb70a36b6_0_6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cb70a36b6_0_6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cb70a36b6_0_6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cb70a36b6_0_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cb70a36b6_0_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cb70a36b6_0_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cb70a36b6_0_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9cb70a36b6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9cb70a36b6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9cb70a36b6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9cb70a36b6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9d02f34c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9d02f34c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d02f34c85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d02f34c85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d02f34c85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d02f34c85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9d02f34c85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9d02f34c85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9d02f34c85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9d02f34c85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9d02f34c85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9d02f34c85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d02f34c85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d02f34c85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9cb70a36b6_0_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9cb70a36b6_0_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9cb70a36b6_0_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9cb70a36b6_0_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9d02f34c8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9d02f34c8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cb70a36b6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cb70a36b6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9cb70a36b6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9cb70a36b6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9cb70a36b6_0_6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9cb70a36b6_0_6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9cb70a36b6_0_6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9cb70a36b6_0_6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4" name="Google Shape;14;p2" title="shaktilogo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769771" y="106361"/>
            <a:ext cx="1604449" cy="1604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  <a:solidFill>
            <a:srgbClr val="073763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500"/>
              <a:buFont typeface="Dosis"/>
              <a:buNone/>
              <a:defRPr b="1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" name="Google Shape;19;p3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0" name="Google Shape;20;p3"/>
          <p:cNvSpPr txBox="1"/>
          <p:nvPr/>
        </p:nvSpPr>
        <p:spPr>
          <a:xfrm>
            <a:off x="8252629" y="4682896"/>
            <a:ext cx="3000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21" name="Google Shape;21;p3"/>
          <p:cNvSpPr txBox="1"/>
          <p:nvPr/>
        </p:nvSpPr>
        <p:spPr>
          <a:xfrm>
            <a:off x="8121673" y="4682900"/>
            <a:ext cx="4311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akti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" name="Google Shape;52;p11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8044597" y="4682900"/>
            <a:ext cx="507900" cy="39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‹#›</a:t>
            </a:fld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 title="shaktilogo.png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2925" y="4590775"/>
            <a:ext cx="527700" cy="5066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6.png"/><Relationship Id="rId5" Type="http://schemas.openxmlformats.org/officeDocument/2006/relationships/image" Target="../media/image16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Relationship Id="rId4" Type="http://schemas.openxmlformats.org/officeDocument/2006/relationships/image" Target="../media/image28.png"/><Relationship Id="rId5" Type="http://schemas.openxmlformats.org/officeDocument/2006/relationships/image" Target="../media/image13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4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Relationship Id="rId4" Type="http://schemas.openxmlformats.org/officeDocument/2006/relationships/image" Target="../media/image21.png"/><Relationship Id="rId5" Type="http://schemas.openxmlformats.org/officeDocument/2006/relationships/image" Target="../media/image26.png"/><Relationship Id="rId6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Relationship Id="rId4" Type="http://schemas.openxmlformats.org/officeDocument/2006/relationships/image" Target="../media/image2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5.png"/><Relationship Id="rId4" Type="http://schemas.openxmlformats.org/officeDocument/2006/relationships/image" Target="../media/image2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3.png"/><Relationship Id="rId4" Type="http://schemas.openxmlformats.org/officeDocument/2006/relationships/image" Target="../media/image3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0.png"/><Relationship Id="rId4" Type="http://schemas.openxmlformats.org/officeDocument/2006/relationships/image" Target="../media/image38.png"/><Relationship Id="rId5" Type="http://schemas.openxmlformats.org/officeDocument/2006/relationships/image" Target="../media/image34.png"/><Relationship Id="rId6" Type="http://schemas.openxmlformats.org/officeDocument/2006/relationships/image" Target="../media/image39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12"/>
          <p:cNvCxnSpPr/>
          <p:nvPr/>
        </p:nvCxnSpPr>
        <p:spPr>
          <a:xfrm>
            <a:off x="381000" y="2743200"/>
            <a:ext cx="8382000" cy="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2"/>
          <p:cNvSpPr txBox="1"/>
          <p:nvPr/>
        </p:nvSpPr>
        <p:spPr>
          <a:xfrm>
            <a:off x="381000" y="2019900"/>
            <a:ext cx="83820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5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Porting Bluespec based IPs</a:t>
            </a:r>
            <a:endParaRPr b="1" sz="35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0" name="Google Shape;60;p12"/>
          <p:cNvSpPr txBox="1"/>
          <p:nvPr/>
        </p:nvSpPr>
        <p:spPr>
          <a:xfrm>
            <a:off x="910975" y="2815800"/>
            <a:ext cx="7322700" cy="11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SHAKTI Group | CSE Dept | PS-CDISHA - RISE LAB 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0B5394"/>
                </a:solidFill>
                <a:latin typeface="Dosis Medium"/>
                <a:ea typeface="Dosis Medium"/>
                <a:cs typeface="Dosis Medium"/>
                <a:sym typeface="Dosis Medium"/>
              </a:rPr>
              <a:t>IIT Madras</a:t>
            </a:r>
            <a:endParaRPr sz="2500">
              <a:solidFill>
                <a:srgbClr val="0B5394"/>
              </a:solidFill>
              <a:latin typeface="Dosis Medium"/>
              <a:ea typeface="Dosis Medium"/>
              <a:cs typeface="Dosis Medium"/>
              <a:sym typeface="Dosis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 sz="2800"/>
          </a:p>
        </p:txBody>
      </p:sp>
      <p:sp>
        <p:nvSpPr>
          <p:cNvPr id="66" name="Google Shape;66;p13"/>
          <p:cNvSpPr txBox="1"/>
          <p:nvPr/>
        </p:nvSpPr>
        <p:spPr>
          <a:xfrm>
            <a:off x="4167000" y="4746950"/>
            <a:ext cx="816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B5394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shakti.org.in</a:t>
            </a:r>
            <a:endParaRPr sz="1000">
              <a:solidFill>
                <a:srgbClr val="0B5394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graphicFrame>
        <p:nvGraphicFramePr>
          <p:cNvPr id="67" name="Google Shape;67;p13"/>
          <p:cNvGraphicFramePr/>
          <p:nvPr/>
        </p:nvGraphicFramePr>
        <p:xfrm>
          <a:off x="1269075" y="1342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{6A8625FC-8F9E-468F-81FC-098174F88942}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1.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Introduction</a:t>
                      </a:r>
                      <a:endParaRPr sz="1800">
                        <a:solidFill>
                          <a:srgbClr val="0B5394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8" name="Google Shape;68;p13"/>
          <p:cNvGraphicFramePr/>
          <p:nvPr/>
        </p:nvGraphicFramePr>
        <p:xfrm>
          <a:off x="1269075" y="18427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{6A8625FC-8F9E-468F-81FC-098174F88942}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2.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Existing peripherals</a:t>
                      </a: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&amp; Adding New peripherals to SOC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69" name="Google Shape;69;p13"/>
          <p:cNvGraphicFramePr/>
          <p:nvPr/>
        </p:nvGraphicFramePr>
        <p:xfrm>
          <a:off x="1269075" y="23431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{6A8625FC-8F9E-468F-81FC-098174F88942}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3.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Classification of  peripherals in Ganga &amp; Yamuna SO</a:t>
                      </a: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C</a:t>
                      </a:r>
                      <a:endParaRPr sz="1800">
                        <a:solidFill>
                          <a:srgbClr val="0B5394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0" name="Google Shape;70;p13"/>
          <p:cNvGraphicFramePr/>
          <p:nvPr/>
        </p:nvGraphicFramePr>
        <p:xfrm>
          <a:off x="1269075" y="28435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{6A8625FC-8F9E-468F-81FC-098174F88942}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4.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Flow of adding new peripheral into current project SO</a:t>
                      </a: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C</a:t>
                      </a:r>
                      <a:endParaRPr sz="1800">
                        <a:solidFill>
                          <a:srgbClr val="0B5394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Google Shape;71;p13"/>
          <p:cNvGraphicFramePr/>
          <p:nvPr/>
        </p:nvGraphicFramePr>
        <p:xfrm>
          <a:off x="1269075" y="33439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{6A8625FC-8F9E-468F-81FC-098174F88942}</a:tableStyleId>
              </a:tblPr>
              <a:tblGrid>
                <a:gridCol w="493750"/>
                <a:gridCol w="61120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73763"/>
                          </a:solidFill>
                          <a:latin typeface="Dosis SemiBold"/>
                          <a:ea typeface="Dosis SemiBold"/>
                          <a:cs typeface="Dosis SemiBold"/>
                          <a:sym typeface="Dosis SemiBold"/>
                        </a:rPr>
                        <a:t>5.</a:t>
                      </a:r>
                      <a:endParaRPr>
                        <a:solidFill>
                          <a:srgbClr val="073763"/>
                        </a:solidFill>
                        <a:latin typeface="Dosis SemiBold"/>
                        <a:ea typeface="Dosis SemiBold"/>
                        <a:cs typeface="Dosis SemiBold"/>
                        <a:sym typeface="Dosis SemiBold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just">
                        <a:spcBef>
                          <a:spcPts val="3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Adding new</a:t>
                      </a: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(UART)</a:t>
                      </a:r>
                      <a:r>
                        <a:rPr lang="en" sz="1800">
                          <a:solidFill>
                            <a:srgbClr val="0B5394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peripheral into current project SOC</a:t>
                      </a:r>
                      <a:endParaRPr sz="1800">
                        <a:solidFill>
                          <a:srgbClr val="0B5394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7376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80400" y="575550"/>
            <a:ext cx="8983200" cy="357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Flow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of adding new or removing existing peripherals from &lt;TARGET SOC&gt;, 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based on end application needs for a better utilization of LUT’s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Example (Adding UART peripheral) procedure can be followed for the other peripherals to add or remove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All the changes should done according to the below mentioned path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5"/>
              </a:buClr>
              <a:buSzPts val="1400"/>
              <a:buFont typeface="Dosis"/>
              <a:buChar char="○"/>
            </a:pP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cd gc2025/hw/boards/  “ &lt; arty_a7_ganga&gt;  or  &lt;arty_a7_yamuna&gt; ”</a:t>
            </a:r>
            <a:endParaRPr>
              <a:solidFill>
                <a:schemeClr val="accent5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Peripherals in both Ganga &amp; Yamuna SOC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891225" y="1678300"/>
            <a:ext cx="4008600" cy="2838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256 MB of DDR and 8 KB of Boot ROM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32 x GPIOs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6 x PWMs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4 x GPTs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 x SPIs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3 x UARTs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 x I2Cs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 x PLIC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 x CLINT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 x On board XADC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Onboard FTDI based Debugger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Ethernet Lite IP from Xilinx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4" name="Google Shape;84;p15"/>
          <p:cNvSpPr txBox="1"/>
          <p:nvPr>
            <p:ph idx="1" type="body"/>
          </p:nvPr>
        </p:nvSpPr>
        <p:spPr>
          <a:xfrm>
            <a:off x="1430700" y="816400"/>
            <a:ext cx="2274000" cy="861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Ganga SOC</a:t>
            </a:r>
            <a:endParaRPr/>
          </a:p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5758525" y="816400"/>
            <a:ext cx="2274000" cy="8619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Yamuna SOC</a:t>
            </a:r>
            <a:endParaRPr/>
          </a:p>
        </p:txBody>
      </p:sp>
      <p:sp>
        <p:nvSpPr>
          <p:cNvPr id="86" name="Google Shape;86;p15"/>
          <p:cNvSpPr txBox="1"/>
          <p:nvPr>
            <p:ph idx="1" type="body"/>
          </p:nvPr>
        </p:nvSpPr>
        <p:spPr>
          <a:xfrm>
            <a:off x="563400" y="1678300"/>
            <a:ext cx="4008600" cy="28380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256 MB of DDR and 8 KB of Boot ROM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16 GPIOs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 x GPTs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 x SPIs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 x UARTs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 x I2C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 x PLIC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 x CLINT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Onboard FTDI based Debugger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Ethernet Lite IP from Xilinx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Reconfigurable Peripherals in both Ganga &amp; Yamuna SOC</a:t>
            </a:r>
            <a:endParaRPr/>
          </a:p>
        </p:txBody>
      </p:sp>
      <p:sp>
        <p:nvSpPr>
          <p:cNvPr id="92" name="Google Shape;92;p16"/>
          <p:cNvSpPr txBox="1"/>
          <p:nvPr>
            <p:ph idx="1" type="body"/>
          </p:nvPr>
        </p:nvSpPr>
        <p:spPr>
          <a:xfrm>
            <a:off x="80400" y="595650"/>
            <a:ext cx="8983200" cy="149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In the both SOC’s all the peripherals can be configured based on end application.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Either these peripherals can be added or removed  with the existing peripherals to the SOC.</a:t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1590650" y="2094075"/>
            <a:ext cx="2391300" cy="238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GPIO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GPT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UART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I2C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984325" y="2039175"/>
            <a:ext cx="2391300" cy="24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1" marL="914400" rtl="0" algn="just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PINMUX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SPI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PWM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1" marL="914400" rtl="0" algn="just"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○"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PLIC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7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Classification of  peripherals in Yamuna SOC</a:t>
            </a:r>
            <a:endParaRPr/>
          </a:p>
        </p:txBody>
      </p:sp>
      <p:pic>
        <p:nvPicPr>
          <p:cNvPr id="100" name="Google Shape;100;p17" title="GC2025-YAMUNA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83400"/>
            <a:ext cx="8800125" cy="383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8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of adding new peripheral into current project SOC</a:t>
            </a:r>
            <a:endParaRPr/>
          </a:p>
        </p:txBody>
      </p:sp>
      <p:sp>
        <p:nvSpPr>
          <p:cNvPr id="106" name="Google Shape;106;p18"/>
          <p:cNvSpPr txBox="1"/>
          <p:nvPr>
            <p:ph idx="1" type="body"/>
          </p:nvPr>
        </p:nvSpPr>
        <p:spPr>
          <a:xfrm>
            <a:off x="80400" y="575550"/>
            <a:ext cx="8983200" cy="246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soc.defines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&lt;target&gt;_cluster.bsv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Incrementing PLIC signals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fpga_top.v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onstraints.xdc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12" name="Google Shape;112;p19"/>
          <p:cNvSpPr txBox="1"/>
          <p:nvPr>
            <p:ph idx="1" type="body"/>
          </p:nvPr>
        </p:nvSpPr>
        <p:spPr>
          <a:xfrm>
            <a:off x="80400" y="575550"/>
            <a:ext cx="8983200" cy="1021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Soc.defines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AutoNum type="arabicPeriod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Add Cluster Base and End address for the UART.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13" name="Google Shape;113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20825" y="1840000"/>
            <a:ext cx="3519000" cy="7788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80400" y="2738000"/>
            <a:ext cx="89832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   Increment UART Cluster Slave Number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15" name="Google Shape;11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0825" y="3413350"/>
            <a:ext cx="3519000" cy="8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9" title="1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8201" y="1928038"/>
            <a:ext cx="4020400" cy="60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9" title="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8200" y="3444025"/>
            <a:ext cx="4020400" cy="753103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9"/>
          <p:cNvSpPr/>
          <p:nvPr/>
        </p:nvSpPr>
        <p:spPr>
          <a:xfrm>
            <a:off x="4538550" y="2061250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9" name="Google Shape;119;p19"/>
          <p:cNvSpPr/>
          <p:nvPr/>
        </p:nvSpPr>
        <p:spPr>
          <a:xfrm>
            <a:off x="4538563" y="3652425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0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80400" y="2321825"/>
            <a:ext cx="89832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4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    Defining new  UART3 Base address and  End address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26" name="Google Shape;126;p20" title="3.png"/>
          <p:cNvPicPr preferRelativeResize="0"/>
          <p:nvPr/>
        </p:nvPicPr>
        <p:blipFill rotWithShape="1">
          <a:blip r:embed="rId3">
            <a:alphaModFix/>
          </a:blip>
          <a:srcRect b="3849" l="0" r="0" t="7858"/>
          <a:stretch/>
        </p:blipFill>
        <p:spPr>
          <a:xfrm>
            <a:off x="308200" y="1328949"/>
            <a:ext cx="4020400" cy="94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0" title="4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8200" y="2918138"/>
            <a:ext cx="4020400" cy="154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/>
          <p:nvPr/>
        </p:nvSpPr>
        <p:spPr>
          <a:xfrm>
            <a:off x="4538575" y="1634113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9" name="Google Shape;129;p20"/>
          <p:cNvSpPr/>
          <p:nvPr/>
        </p:nvSpPr>
        <p:spPr>
          <a:xfrm>
            <a:off x="4538563" y="3523150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30" name="Google Shape;130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5876" y="1328960"/>
            <a:ext cx="2928874" cy="946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80400" y="726250"/>
            <a:ext cx="89832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3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   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Defining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 new UART3_slave_num as shown in below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32" name="Google Shape;132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75338" y="2924513"/>
            <a:ext cx="3409950" cy="153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1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80400" y="568550"/>
            <a:ext cx="8983200" cy="89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uart_cluster.bsv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AutoNum type="arabicPeriod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Adding new UART3 Base and End address for decoding logic in uart_cluster.bsv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39" name="Google Shape;139;p21"/>
          <p:cNvSpPr txBox="1"/>
          <p:nvPr>
            <p:ph idx="1" type="body"/>
          </p:nvPr>
        </p:nvSpPr>
        <p:spPr>
          <a:xfrm>
            <a:off x="80400" y="2866400"/>
            <a:ext cx="89832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   Declaring new RS232 uart3_io interface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40" name="Google Shape;140;p21" title="5.png"/>
          <p:cNvPicPr preferRelativeResize="0"/>
          <p:nvPr/>
        </p:nvPicPr>
        <p:blipFill rotWithShape="1">
          <a:blip r:embed="rId3">
            <a:alphaModFix/>
          </a:blip>
          <a:srcRect b="700" l="0" r="0" t="690"/>
          <a:stretch/>
        </p:blipFill>
        <p:spPr>
          <a:xfrm>
            <a:off x="504825" y="1461250"/>
            <a:ext cx="3627150" cy="143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1" title="6.png"/>
          <p:cNvPicPr preferRelativeResize="0"/>
          <p:nvPr/>
        </p:nvPicPr>
        <p:blipFill rotWithShape="1">
          <a:blip r:embed="rId4">
            <a:alphaModFix/>
          </a:blip>
          <a:srcRect b="2998" l="0" r="0" t="2998"/>
          <a:stretch/>
        </p:blipFill>
        <p:spPr>
          <a:xfrm>
            <a:off x="504825" y="3396123"/>
            <a:ext cx="3627150" cy="1022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/>
          <p:nvPr/>
        </p:nvSpPr>
        <p:spPr>
          <a:xfrm>
            <a:off x="4402475" y="1995725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3" name="Google Shape;143;p21"/>
          <p:cNvSpPr/>
          <p:nvPr/>
        </p:nvSpPr>
        <p:spPr>
          <a:xfrm>
            <a:off x="4402475" y="3739050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275" y="1395712"/>
            <a:ext cx="3670075" cy="153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45275" y="3340701"/>
            <a:ext cx="3670075" cy="1132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80400" y="2503925"/>
            <a:ext cx="89832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4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    Declaring the interface RS232 of  uart3_io with uart3.io inside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“mkuart_cluster”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module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52" name="Google Shape;152;p22" title="7.png"/>
          <p:cNvPicPr preferRelativeResize="0"/>
          <p:nvPr/>
        </p:nvPicPr>
        <p:blipFill rotWithShape="1">
          <a:blip r:embed="rId3">
            <a:alphaModFix/>
          </a:blip>
          <a:srcRect b="3288" l="0" r="0" t="3279"/>
          <a:stretch/>
        </p:blipFill>
        <p:spPr>
          <a:xfrm>
            <a:off x="453719" y="1363237"/>
            <a:ext cx="3729368" cy="878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2" title="8.png"/>
          <p:cNvPicPr preferRelativeResize="0"/>
          <p:nvPr/>
        </p:nvPicPr>
        <p:blipFill rotWithShape="1">
          <a:blip r:embed="rId4">
            <a:alphaModFix/>
          </a:blip>
          <a:srcRect b="4113" l="0" r="0" t="0"/>
          <a:stretch/>
        </p:blipFill>
        <p:spPr>
          <a:xfrm>
            <a:off x="453726" y="3301784"/>
            <a:ext cx="3729350" cy="77901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22"/>
          <p:cNvSpPr/>
          <p:nvPr/>
        </p:nvSpPr>
        <p:spPr>
          <a:xfrm>
            <a:off x="4538575" y="1634113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22"/>
          <p:cNvSpPr/>
          <p:nvPr/>
        </p:nvSpPr>
        <p:spPr>
          <a:xfrm>
            <a:off x="4538563" y="3523150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6" name="Google Shape;156;p22"/>
          <p:cNvSpPr txBox="1"/>
          <p:nvPr>
            <p:ph idx="1" type="body"/>
          </p:nvPr>
        </p:nvSpPr>
        <p:spPr>
          <a:xfrm>
            <a:off x="80400" y="628625"/>
            <a:ext cx="89832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3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    Instantiating another new uart3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inside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“mkuart_cluster”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module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57" name="Google Shape;157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32525" y="1397463"/>
            <a:ext cx="2695575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608688" y="3305525"/>
            <a:ext cx="3143250" cy="771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3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64" name="Google Shape;164;p23"/>
          <p:cNvSpPr/>
          <p:nvPr/>
        </p:nvSpPr>
        <p:spPr>
          <a:xfrm rot="5400000">
            <a:off x="4235850" y="2831738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80400" y="726675"/>
            <a:ext cx="8983200" cy="80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5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    Connecting new UART3 from AXI4_lite slave to AXI4_lite Master using mkconnection inside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“mkuart_cluster”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module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66" name="Google Shape;16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3560900"/>
            <a:ext cx="5734050" cy="7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3" title="9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4975" y="1847853"/>
            <a:ext cx="5734050" cy="591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4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AutoNum type="arabicPeriod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Declaring new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interface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uart3_io RS232”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inside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“Ifc_chip_io”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interface to take the new uart3 signals to out (on board)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80400" y="3005550"/>
            <a:ext cx="89832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   Declaring the uart3_io interface instance which is declared in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“mkuart_cluster”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module to connect the new UART3 peripheral from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uart_cluster.bsv to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“Soc.bsv”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75" name="Google Shape;175;p24"/>
          <p:cNvSpPr/>
          <p:nvPr/>
        </p:nvSpPr>
        <p:spPr>
          <a:xfrm>
            <a:off x="4429875" y="2110575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6" name="Google Shape;176;p24"/>
          <p:cNvSpPr/>
          <p:nvPr/>
        </p:nvSpPr>
        <p:spPr>
          <a:xfrm>
            <a:off x="4429875" y="3998775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77" name="Google Shape;177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1525" y="1626250"/>
            <a:ext cx="3457575" cy="130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4" title="1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275" y="1726275"/>
            <a:ext cx="3524250" cy="1104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45275" y="3851214"/>
            <a:ext cx="3670075" cy="631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4" title="11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03809" y="3942347"/>
            <a:ext cx="3829194" cy="44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5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86" name="Google Shape;186;p25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uart_cluster.bsv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AutoNum type="arabicPeriod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Incrementing uart_interrupt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signals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after adding a new UART3 peripheral, in method declaratio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n, to pass new peripheral to PLIC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87" name="Google Shape;187;p25"/>
          <p:cNvSpPr/>
          <p:nvPr/>
        </p:nvSpPr>
        <p:spPr>
          <a:xfrm rot="5398466">
            <a:off x="4235851" y="3340088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88" name="Google Shape;18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057" y="1736261"/>
            <a:ext cx="4497918" cy="121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7269" y="4062851"/>
            <a:ext cx="4909460" cy="5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195" name="Google Shape;195;p26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uart_cluster.bsv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 Incrementing uart_interrupt signals in method declaration, inside mkuart_cluster declaration, to pass new peripheral to PLIC 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96" name="Google Shape;196;p26"/>
          <p:cNvSpPr/>
          <p:nvPr/>
        </p:nvSpPr>
        <p:spPr>
          <a:xfrm rot="5398466">
            <a:off x="4235851" y="3340088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97" name="Google Shape;19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1138" y="3949567"/>
            <a:ext cx="5261725" cy="8128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2774" y="1706274"/>
            <a:ext cx="6358500" cy="136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mixed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1.  Incrementing interrupt signals in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“Ifc_mixed_cluster”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interface declaration, in mixed_cluster.bsv to pass new peripheral to PLIC (UART is declared as external interrupt)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05" name="Google Shape;205;p27"/>
          <p:cNvSpPr/>
          <p:nvPr/>
        </p:nvSpPr>
        <p:spPr>
          <a:xfrm rot="5398466">
            <a:off x="4235851" y="2739738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06" name="Google Shape;20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9937" y="3466550"/>
            <a:ext cx="5040900" cy="1140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7238" y="1968238"/>
            <a:ext cx="44862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13" name="Google Shape;213;p28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mixed_cluster.bsv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 Incrementing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external_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interrupt signals in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“mkmixed_cluster”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module, inside mixed_cluster.bsv to pass new peripheral to PLIC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(UART is declared as external interrupt)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14" name="Google Shape;214;p28"/>
          <p:cNvSpPr/>
          <p:nvPr/>
        </p:nvSpPr>
        <p:spPr>
          <a:xfrm rot="5398466">
            <a:off x="4235864" y="3237113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15" name="Google Shape;21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4113" y="3973625"/>
            <a:ext cx="7935776" cy="67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2330" y="2231625"/>
            <a:ext cx="6919395" cy="60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9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22" name="Google Shape;222;p29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mixed_cluster..bsv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3.  Incrementing external_interrupt signals in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method declaration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, inside mixed_cluster.bsv to pass new peripheral to PLIC (UART is declared as external interrupt)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3" name="Google Shape;223;p29"/>
          <p:cNvSpPr/>
          <p:nvPr/>
        </p:nvSpPr>
        <p:spPr>
          <a:xfrm rot="5398466">
            <a:off x="4235864" y="3237113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9363" y="3973625"/>
            <a:ext cx="4105275" cy="59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34738" y="2305925"/>
            <a:ext cx="4274526" cy="53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31" name="Google Shape;231;p30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mixed_cluster.bsv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4.  Incrementing PLIC signals in mkplic 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module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, inside mixed_cluster.bsv to pass new peripheral to PLIC (UART is declared as external interrupt)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2" name="Google Shape;232;p30"/>
          <p:cNvSpPr/>
          <p:nvPr/>
        </p:nvSpPr>
        <p:spPr>
          <a:xfrm rot="5398466">
            <a:off x="4235864" y="3091551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33" name="Google Shape;23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2762" y="3683600"/>
            <a:ext cx="5158525" cy="106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9323" y="1823488"/>
            <a:ext cx="4685401" cy="10123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1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40" name="Google Shape;240;p31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mixed_cluster.bsv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2286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5.  Incrementing PLIC signals in rule  declaration of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rl_connect_plic_connections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, inside mixed_cluster.bsv to pass new peripheral to PLIC (UART is declared as external interrupt)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41" name="Google Shape;241;p31"/>
          <p:cNvSpPr/>
          <p:nvPr/>
        </p:nvSpPr>
        <p:spPr>
          <a:xfrm rot="5398466">
            <a:off x="4235839" y="2807526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42" name="Google Shape;242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187" y="2038750"/>
            <a:ext cx="8547676" cy="347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5000" y="3533150"/>
            <a:ext cx="5734050" cy="117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49" name="Google Shape;249;p32"/>
          <p:cNvSpPr txBox="1"/>
          <p:nvPr>
            <p:ph idx="1" type="body"/>
          </p:nvPr>
        </p:nvSpPr>
        <p:spPr>
          <a:xfrm>
            <a:off x="80400" y="568550"/>
            <a:ext cx="8983200" cy="121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fpga_top.v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AutoNum type="arabicPeriod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Declaring new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“uart3_SIN &amp; uart3_SOUT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IO ports in fpga_top.v to take the signals out onto the board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0" name="Google Shape;250;p32"/>
          <p:cNvSpPr txBox="1"/>
          <p:nvPr>
            <p:ph idx="1" type="body"/>
          </p:nvPr>
        </p:nvSpPr>
        <p:spPr>
          <a:xfrm>
            <a:off x="80400" y="2677175"/>
            <a:ext cx="8983200" cy="874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9144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2.    Connecting the declared new uart3 ports to the UART module in SHAKTI &lt;TARGET&gt;SOC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51" name="Google Shape;251;p32"/>
          <p:cNvSpPr/>
          <p:nvPr/>
        </p:nvSpPr>
        <p:spPr>
          <a:xfrm>
            <a:off x="4429875" y="1940325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4429875" y="3858725"/>
            <a:ext cx="672300" cy="3363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253" name="Google Shape;253;p32" title="1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7275" y="1930425"/>
            <a:ext cx="2362253" cy="3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1050" y="1460763"/>
            <a:ext cx="32385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27700" y="3545850"/>
            <a:ext cx="3505200" cy="962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2" title="13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0113" y="3741113"/>
            <a:ext cx="3076575" cy="57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3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Adding new UART peripheral into current project SOC</a:t>
            </a:r>
            <a:endParaRPr/>
          </a:p>
        </p:txBody>
      </p:sp>
      <p:sp>
        <p:nvSpPr>
          <p:cNvPr id="262" name="Google Shape;262;p33"/>
          <p:cNvSpPr txBox="1"/>
          <p:nvPr>
            <p:ph idx="1" type="body"/>
          </p:nvPr>
        </p:nvSpPr>
        <p:spPr>
          <a:xfrm>
            <a:off x="80400" y="568550"/>
            <a:ext cx="8983200" cy="146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constraints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.xdc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AutoNum type="arabicPeriod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Mapping new </a:t>
            </a:r>
            <a:r>
              <a:rPr lang="en">
                <a:solidFill>
                  <a:schemeClr val="accent5"/>
                </a:solidFill>
                <a:latin typeface="Dosis"/>
                <a:ea typeface="Dosis"/>
                <a:cs typeface="Dosis"/>
                <a:sym typeface="Dosis"/>
              </a:rPr>
              <a:t>“uart3_SIN &amp; uart3_SOUT”</a:t>
            </a: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 IO ports in constraints.xdc in the available ports, if there is no available ports then find the original constraints for Arty A7 100t and connect the new uart3 ports.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263" name="Google Shape;2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4975" y="2316525"/>
            <a:ext cx="5734050" cy="103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4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TCL-based Bitstream &amp; MCS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4"/>
          <p:cNvSpPr txBox="1"/>
          <p:nvPr/>
        </p:nvSpPr>
        <p:spPr>
          <a:xfrm>
            <a:off x="234700" y="902325"/>
            <a:ext cx="38427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Dosis"/>
              <a:buChar char="➔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For Ganga SoC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2385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500"/>
              <a:buFont typeface="Dosis"/>
              <a:buChar char="●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build BOARD=arty_a7_ganga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70" name="Google Shape;270;p34"/>
          <p:cNvSpPr txBox="1"/>
          <p:nvPr/>
        </p:nvSpPr>
        <p:spPr>
          <a:xfrm>
            <a:off x="234700" y="1846000"/>
            <a:ext cx="4890600" cy="7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500"/>
              <a:buFont typeface="Dosis"/>
              <a:buChar char="➔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For Yamuna SoC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23850" lvl="2" marL="914400" rtl="0" algn="just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500"/>
              <a:buFont typeface="Dosis"/>
              <a:buChar char="●"/>
            </a:pPr>
            <a:r>
              <a:rPr lang="en" sz="15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make build BOARD=arty_a7_yamuna XLEN_build=32</a:t>
            </a:r>
            <a:endParaRPr sz="15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5" name="Google Shape;275;p35"/>
          <p:cNvCxnSpPr/>
          <p:nvPr/>
        </p:nvCxnSpPr>
        <p:spPr>
          <a:xfrm>
            <a:off x="3659300" y="2712500"/>
            <a:ext cx="1865100" cy="8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" name="Google Shape;276;p35"/>
          <p:cNvSpPr txBox="1"/>
          <p:nvPr/>
        </p:nvSpPr>
        <p:spPr>
          <a:xfrm>
            <a:off x="3286400" y="2151500"/>
            <a:ext cx="261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Queries ?</a:t>
            </a:r>
            <a:endParaRPr b="1" sz="25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1" name="Google Shape;281;p36"/>
          <p:cNvCxnSpPr/>
          <p:nvPr/>
        </p:nvCxnSpPr>
        <p:spPr>
          <a:xfrm>
            <a:off x="3659300" y="2712500"/>
            <a:ext cx="1865100" cy="8400"/>
          </a:xfrm>
          <a:prstGeom prst="straightConnector1">
            <a:avLst/>
          </a:prstGeom>
          <a:noFill/>
          <a:ln cap="flat" cmpd="sng" w="9525">
            <a:solidFill>
              <a:srgbClr val="FF99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2" name="Google Shape;282;p36"/>
          <p:cNvSpPr txBox="1"/>
          <p:nvPr/>
        </p:nvSpPr>
        <p:spPr>
          <a:xfrm>
            <a:off x="3286400" y="2151500"/>
            <a:ext cx="2610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rgbClr val="073763"/>
                </a:solidFill>
                <a:latin typeface="Dosis"/>
                <a:ea typeface="Dosis"/>
                <a:cs typeface="Dosis"/>
                <a:sym typeface="Dosis"/>
              </a:rPr>
              <a:t>Thank You !</a:t>
            </a:r>
            <a:endParaRPr b="1" sz="2500">
              <a:solidFill>
                <a:srgbClr val="073763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 of adding new peripheral into current project SOC</a:t>
            </a:r>
            <a:endParaRPr/>
          </a:p>
        </p:txBody>
      </p:sp>
      <p:sp>
        <p:nvSpPr>
          <p:cNvPr id="288" name="Google Shape;288;p37"/>
          <p:cNvSpPr txBox="1"/>
          <p:nvPr>
            <p:ph idx="1" type="body"/>
          </p:nvPr>
        </p:nvSpPr>
        <p:spPr>
          <a:xfrm>
            <a:off x="80400" y="575550"/>
            <a:ext cx="8983200" cy="223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Soc.defines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&lt;target&gt;_cluster.bsv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Soc.bsv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fpga_top.v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B5394"/>
              </a:buClr>
              <a:buSzPts val="1800"/>
              <a:buFont typeface="Dosis"/>
              <a:buChar char="●"/>
            </a:pPr>
            <a:r>
              <a:rPr lang="en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constraints.xdc</a:t>
            </a:r>
            <a:endParaRPr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"/>
          <p:cNvSpPr txBox="1"/>
          <p:nvPr>
            <p:ph type="title"/>
          </p:nvPr>
        </p:nvSpPr>
        <p:spPr>
          <a:xfrm>
            <a:off x="0" y="0"/>
            <a:ext cx="9144000" cy="5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Classification of  peripherals in Ganga &amp; Yamuna SOC</a:t>
            </a:r>
            <a:endParaRPr/>
          </a:p>
        </p:txBody>
      </p:sp>
      <p:sp>
        <p:nvSpPr>
          <p:cNvPr id="294" name="Google Shape;294;p38"/>
          <p:cNvSpPr/>
          <p:nvPr/>
        </p:nvSpPr>
        <p:spPr>
          <a:xfrm>
            <a:off x="4020300" y="685150"/>
            <a:ext cx="1103400" cy="3609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SOC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" name="Google Shape;295;p38"/>
          <p:cNvSpPr/>
          <p:nvPr/>
        </p:nvSpPr>
        <p:spPr>
          <a:xfrm>
            <a:off x="2289000" y="1497825"/>
            <a:ext cx="17313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Fast Peripheral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6" name="Google Shape;296;p38"/>
          <p:cNvSpPr/>
          <p:nvPr/>
        </p:nvSpPr>
        <p:spPr>
          <a:xfrm>
            <a:off x="5123700" y="1497825"/>
            <a:ext cx="18006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Slow Peripheral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97" name="Google Shape;297;p38"/>
          <p:cNvCxnSpPr>
            <a:stCxn id="295" idx="0"/>
            <a:endCxn id="294" idx="2"/>
          </p:cNvCxnSpPr>
          <p:nvPr/>
        </p:nvCxnSpPr>
        <p:spPr>
          <a:xfrm rot="-5400000">
            <a:off x="3637500" y="563175"/>
            <a:ext cx="451800" cy="14175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298" name="Google Shape;298;p38"/>
          <p:cNvCxnSpPr>
            <a:stCxn id="296" idx="0"/>
            <a:endCxn id="294" idx="2"/>
          </p:cNvCxnSpPr>
          <p:nvPr/>
        </p:nvCxnSpPr>
        <p:spPr>
          <a:xfrm flipH="1" rot="5400000">
            <a:off x="5072100" y="545925"/>
            <a:ext cx="451800" cy="1452000"/>
          </a:xfrm>
          <a:prstGeom prst="bentConnector3">
            <a:avLst>
              <a:gd fmla="val 49997" name="adj1"/>
            </a:avLst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299" name="Google Shape;299;p38"/>
          <p:cNvSpPr/>
          <p:nvPr/>
        </p:nvSpPr>
        <p:spPr>
          <a:xfrm>
            <a:off x="6286625" y="2430700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GPT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0" name="Google Shape;300;p38"/>
          <p:cNvSpPr/>
          <p:nvPr/>
        </p:nvSpPr>
        <p:spPr>
          <a:xfrm>
            <a:off x="6286625" y="2015163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GPIO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1" name="Google Shape;301;p38"/>
          <p:cNvSpPr/>
          <p:nvPr/>
        </p:nvSpPr>
        <p:spPr>
          <a:xfrm>
            <a:off x="6286625" y="2846225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I2C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2" name="Google Shape;302;p38"/>
          <p:cNvSpPr/>
          <p:nvPr/>
        </p:nvSpPr>
        <p:spPr>
          <a:xfrm>
            <a:off x="6286625" y="3677275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UART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03" name="Google Shape;303;p38"/>
          <p:cNvCxnSpPr>
            <a:stCxn id="300" idx="1"/>
            <a:endCxn id="296" idx="2"/>
          </p:cNvCxnSpPr>
          <p:nvPr/>
        </p:nvCxnSpPr>
        <p:spPr>
          <a:xfrm rot="10800000">
            <a:off x="6024125" y="1821963"/>
            <a:ext cx="262500" cy="3552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4" name="Google Shape;304;p38"/>
          <p:cNvCxnSpPr>
            <a:stCxn id="299" idx="1"/>
            <a:endCxn id="296" idx="2"/>
          </p:cNvCxnSpPr>
          <p:nvPr/>
        </p:nvCxnSpPr>
        <p:spPr>
          <a:xfrm rot="10800000">
            <a:off x="6024125" y="1821700"/>
            <a:ext cx="262500" cy="7710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5" name="Google Shape;305;p38"/>
          <p:cNvCxnSpPr>
            <a:stCxn id="306" idx="1"/>
            <a:endCxn id="296" idx="2"/>
          </p:cNvCxnSpPr>
          <p:nvPr/>
        </p:nvCxnSpPr>
        <p:spPr>
          <a:xfrm rot="10800000">
            <a:off x="6024125" y="1821750"/>
            <a:ext cx="262500" cy="16020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7" name="Google Shape;307;p38"/>
          <p:cNvCxnSpPr>
            <a:stCxn id="302" idx="1"/>
            <a:endCxn id="296" idx="2"/>
          </p:cNvCxnSpPr>
          <p:nvPr/>
        </p:nvCxnSpPr>
        <p:spPr>
          <a:xfrm rot="10800000">
            <a:off x="6024125" y="1821775"/>
            <a:ext cx="262500" cy="20175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08" name="Google Shape;308;p38"/>
          <p:cNvCxnSpPr>
            <a:stCxn id="301" idx="1"/>
            <a:endCxn id="296" idx="2"/>
          </p:cNvCxnSpPr>
          <p:nvPr/>
        </p:nvCxnSpPr>
        <p:spPr>
          <a:xfrm rot="10800000">
            <a:off x="6024125" y="1821725"/>
            <a:ext cx="262500" cy="11865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06" name="Google Shape;306;p38"/>
          <p:cNvSpPr/>
          <p:nvPr/>
        </p:nvSpPr>
        <p:spPr>
          <a:xfrm>
            <a:off x="6286625" y="3261750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PLIC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9" name="Google Shape;309;p38"/>
          <p:cNvSpPr/>
          <p:nvPr/>
        </p:nvSpPr>
        <p:spPr>
          <a:xfrm>
            <a:off x="1603950" y="2430700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PWM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0" name="Google Shape;310;p38"/>
          <p:cNvSpPr/>
          <p:nvPr/>
        </p:nvSpPr>
        <p:spPr>
          <a:xfrm>
            <a:off x="1603950" y="2015163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SPI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1" name="Google Shape;311;p38"/>
          <p:cNvSpPr/>
          <p:nvPr/>
        </p:nvSpPr>
        <p:spPr>
          <a:xfrm>
            <a:off x="1603950" y="2846225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XADC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2" name="Google Shape;312;p38"/>
          <p:cNvSpPr/>
          <p:nvPr/>
        </p:nvSpPr>
        <p:spPr>
          <a:xfrm>
            <a:off x="1603950" y="3677275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AES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13" name="Google Shape;313;p38"/>
          <p:cNvCxnSpPr>
            <a:stCxn id="310" idx="3"/>
            <a:endCxn id="295" idx="2"/>
          </p:cNvCxnSpPr>
          <p:nvPr/>
        </p:nvCxnSpPr>
        <p:spPr>
          <a:xfrm flipH="1" rot="10800000">
            <a:off x="2815350" y="1821963"/>
            <a:ext cx="339300" cy="3552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4" name="Google Shape;314;p38"/>
          <p:cNvCxnSpPr>
            <a:stCxn id="309" idx="3"/>
            <a:endCxn id="295" idx="2"/>
          </p:cNvCxnSpPr>
          <p:nvPr/>
        </p:nvCxnSpPr>
        <p:spPr>
          <a:xfrm flipH="1" rot="10800000">
            <a:off x="2815350" y="1821700"/>
            <a:ext cx="339300" cy="7710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5" name="Google Shape;315;p38"/>
          <p:cNvCxnSpPr>
            <a:stCxn id="316" idx="3"/>
            <a:endCxn id="295" idx="2"/>
          </p:cNvCxnSpPr>
          <p:nvPr/>
        </p:nvCxnSpPr>
        <p:spPr>
          <a:xfrm flipH="1" rot="10800000">
            <a:off x="2815350" y="1821750"/>
            <a:ext cx="339300" cy="16020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7" name="Google Shape;317;p38"/>
          <p:cNvCxnSpPr>
            <a:stCxn id="312" idx="3"/>
            <a:endCxn id="295" idx="2"/>
          </p:cNvCxnSpPr>
          <p:nvPr/>
        </p:nvCxnSpPr>
        <p:spPr>
          <a:xfrm flipH="1" rot="10800000">
            <a:off x="2815350" y="1821775"/>
            <a:ext cx="339300" cy="20175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18" name="Google Shape;318;p38"/>
          <p:cNvCxnSpPr>
            <a:stCxn id="311" idx="3"/>
            <a:endCxn id="295" idx="2"/>
          </p:cNvCxnSpPr>
          <p:nvPr/>
        </p:nvCxnSpPr>
        <p:spPr>
          <a:xfrm flipH="1" rot="10800000">
            <a:off x="2815350" y="1821725"/>
            <a:ext cx="339300" cy="11865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sp>
        <p:nvSpPr>
          <p:cNvPr id="316" name="Google Shape;316;p38"/>
          <p:cNvSpPr/>
          <p:nvPr/>
        </p:nvSpPr>
        <p:spPr>
          <a:xfrm>
            <a:off x="1603950" y="3261750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ETHERNET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6286625" y="4092800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PINMUX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0" name="Google Shape;320;p38"/>
          <p:cNvSpPr/>
          <p:nvPr/>
        </p:nvSpPr>
        <p:spPr>
          <a:xfrm>
            <a:off x="1603950" y="4092800"/>
            <a:ext cx="1211400" cy="324000"/>
          </a:xfrm>
          <a:prstGeom prst="rect">
            <a:avLst/>
          </a:prstGeom>
          <a:noFill/>
          <a:ln cap="flat" cmpd="sng" w="9525">
            <a:solidFill>
              <a:srgbClr val="0737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B5394"/>
                </a:solidFill>
                <a:latin typeface="Dosis"/>
                <a:ea typeface="Dosis"/>
                <a:cs typeface="Dosis"/>
                <a:sym typeface="Dosis"/>
              </a:rPr>
              <a:t>SHA</a:t>
            </a:r>
            <a:endParaRPr sz="1800">
              <a:solidFill>
                <a:srgbClr val="0B5394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21" name="Google Shape;321;p38"/>
          <p:cNvCxnSpPr>
            <a:stCxn id="320" idx="3"/>
            <a:endCxn id="295" idx="2"/>
          </p:cNvCxnSpPr>
          <p:nvPr/>
        </p:nvCxnSpPr>
        <p:spPr>
          <a:xfrm flipH="1" rot="10800000">
            <a:off x="2815350" y="1821800"/>
            <a:ext cx="339300" cy="24330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  <p:cxnSp>
        <p:nvCxnSpPr>
          <p:cNvPr id="322" name="Google Shape;322;p38"/>
          <p:cNvCxnSpPr>
            <a:stCxn id="319" idx="1"/>
            <a:endCxn id="296" idx="2"/>
          </p:cNvCxnSpPr>
          <p:nvPr/>
        </p:nvCxnSpPr>
        <p:spPr>
          <a:xfrm rot="10800000">
            <a:off x="6024125" y="1821800"/>
            <a:ext cx="262500" cy="2433000"/>
          </a:xfrm>
          <a:prstGeom prst="bentConnector2">
            <a:avLst/>
          </a:prstGeom>
          <a:noFill/>
          <a:ln cap="flat" cmpd="sng" w="9525">
            <a:solidFill>
              <a:srgbClr val="0B5394"/>
            </a:solidFill>
            <a:prstDash val="solid"/>
            <a:round/>
            <a:headEnd len="med" w="med" type="stealth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