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Dosis"/>
      <p:regular r:id="rId55"/>
      <p:bold r:id="rId56"/>
    </p:embeddedFont>
    <p:embeddedFont>
      <p:font typeface="Ubuntu"/>
      <p:regular r:id="rId57"/>
      <p:bold r:id="rId58"/>
      <p:italic r:id="rId59"/>
      <p:boldItalic r:id="rId60"/>
    </p:embeddedFont>
    <p:embeddedFont>
      <p:font typeface="Ubuntu Condensed"/>
      <p:regular r:id="rId61"/>
    </p:embeddedFont>
    <p:embeddedFont>
      <p:font typeface="Titillium Web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585815-B6E9-43A1-93F4-1BE6FB6A1FC4}">
  <a:tblStyle styleId="{80585815-B6E9-43A1-93F4-1BE6FB6A1F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TitilliumWeb-regular.fntdata"/><Relationship Id="rId61" Type="http://schemas.openxmlformats.org/officeDocument/2006/relationships/font" Target="fonts/UbuntuCondensed-regular.fntdata"/><Relationship Id="rId20" Type="http://schemas.openxmlformats.org/officeDocument/2006/relationships/slide" Target="slides/slide14.xml"/><Relationship Id="rId64" Type="http://schemas.openxmlformats.org/officeDocument/2006/relationships/font" Target="fonts/TitilliumWeb-italic.fntdata"/><Relationship Id="rId63" Type="http://schemas.openxmlformats.org/officeDocument/2006/relationships/font" Target="fonts/TitilliumWeb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TitilliumWeb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Ubuntu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Dosis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Ubuntu-regular.fntdata"/><Relationship Id="rId12" Type="http://schemas.openxmlformats.org/officeDocument/2006/relationships/slide" Target="slides/slide6.xml"/><Relationship Id="rId56" Type="http://schemas.openxmlformats.org/officeDocument/2006/relationships/font" Target="fonts/Dosis-bold.fntdata"/><Relationship Id="rId15" Type="http://schemas.openxmlformats.org/officeDocument/2006/relationships/slide" Target="slides/slide9.xml"/><Relationship Id="rId59" Type="http://schemas.openxmlformats.org/officeDocument/2006/relationships/font" Target="fonts/Ubuntu-italic.fntdata"/><Relationship Id="rId14" Type="http://schemas.openxmlformats.org/officeDocument/2006/relationships/slide" Target="slides/slide8.xml"/><Relationship Id="rId58" Type="http://schemas.openxmlformats.org/officeDocument/2006/relationships/font" Target="fonts/Ubuntu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6a0c3a6c6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6a0c3a6c6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eac61c1a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8eac61c1a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a0c3a6c6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a0c3a6c6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eac61c1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eac61c1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Processors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▫ E-Class : 3 stage micro-controller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▫ C-Class : 5 stage micro-processor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▫ I-Class : 12 stage OoO processor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IP blocks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▫ Single and Double IEEE 754 FPU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▫ Parameterized Branch Predictors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▫ Parameterized Caches.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eac61c1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eac61c1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0c3a6c6e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0c3a6c6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a0c3a6c6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a0c3a6c6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a0c3a6c6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a0c3a6c6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7ae2e2377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7ae2e2377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c51d8159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c51d8159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c51d8159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c51d8159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c51d8159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c51d8159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9851f9ff4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9851f9ff4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8f41aa53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8f41aa53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8f41aa53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8f41aa53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abt default uart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Uart baud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suppor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tApplications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c51d8159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c51d8159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abt default uart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Uart baud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suppor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tApplications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8f41aa53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8f41aa53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8f41aa53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8f41aa53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8f41aa53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a8f41aa5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Clint - scheduler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Plic - interrupt cotroller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a94a602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a94a602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8f41aa53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a8f41aa53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a8f41aa53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a8f41aa53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94a602ac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94a602a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94a602ac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94a602ac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abt default uart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Uart baud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suppor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tApplications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94a602ac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a94a602ac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eac61c1a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eac61c1a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eac61c1a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8eac61c1a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eac61c1a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8eac61c1a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eac61c1a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8eac61c1a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eac61c1a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8eac61c1a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eac61c1a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eac61c1a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eac61c1a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eac61c1a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eac61c1a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8eac61c1a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Center this slide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eac61c1a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8eac61c1a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eac61c1a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8eac61c1a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eac61c1a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8eac61c1a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eac61c1a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8eac61c1a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eac61c1a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8eac61c1a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eac61c1a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8eac61c1a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a94a602ac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a94a602ac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a94a602ac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a94a602ac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97d3744084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97d3744084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97d3744084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97d3744084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97d3744084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97d3744084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97d3744084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97d3744084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c51d815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6c51d815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6c51d8159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6c51d8159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97d3744084_8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97d3744084_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875025" y="3484300"/>
            <a:ext cx="7269000" cy="763200"/>
          </a:xfrm>
          <a:prstGeom prst="rect">
            <a:avLst/>
          </a:prstGeom>
          <a:noFill/>
        </p:spPr>
        <p:txBody>
          <a:bodyPr anchorCtr="0" anchor="b" bIns="91425" lIns="18287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Dosis"/>
              <a:buNone/>
              <a:defRPr sz="42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cxnSp>
        <p:nvCxnSpPr>
          <p:cNvPr id="14" name="Google Shape;14;p2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787" y="3300400"/>
            <a:ext cx="1600274" cy="160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</p:spPr>
        <p:txBody>
          <a:bodyPr anchorCtr="0" anchor="ctr" bIns="91425" lIns="18287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cxnSp>
        <p:nvCxnSpPr>
          <p:cNvPr id="19" name="Google Shape;19;p3"/>
          <p:cNvCxnSpPr>
            <a:endCxn id="18" idx="2"/>
          </p:cNvCxnSpPr>
          <p:nvPr/>
        </p:nvCxnSpPr>
        <p:spPr>
          <a:xfrm>
            <a:off x="461100" y="2978550"/>
            <a:ext cx="4110900" cy="14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itillium Web"/>
              <a:buNone/>
              <a:defRPr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23" name="Google Shape;23;p4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70350" y="739475"/>
            <a:ext cx="4041300" cy="3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itillium Web"/>
              <a:buChar char="●"/>
              <a:defRPr sz="14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1275" y="739475"/>
            <a:ext cx="4140900" cy="3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itillium Web"/>
              <a:buChar char="●"/>
              <a:defRPr sz="14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238625" y="4892100"/>
            <a:ext cx="3378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ctrTitle"/>
          </p:nvPr>
        </p:nvSpPr>
        <p:spPr>
          <a:xfrm>
            <a:off x="311700" y="1862025"/>
            <a:ext cx="8520600" cy="763200"/>
          </a:xfrm>
          <a:prstGeom prst="rect">
            <a:avLst/>
          </a:prstGeom>
          <a:noFill/>
        </p:spPr>
        <p:txBody>
          <a:bodyPr anchorCtr="0" anchor="b" bIns="91425" lIns="18287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None/>
              <a:defRPr b="0" sz="4200">
                <a:solidFill>
                  <a:srgbClr val="07376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" name="Google Shape;37;p7"/>
          <p:cNvSpPr txBox="1"/>
          <p:nvPr>
            <p:ph idx="1" type="subTitle"/>
          </p:nvPr>
        </p:nvSpPr>
        <p:spPr>
          <a:xfrm>
            <a:off x="311688" y="2673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71862" y="52850"/>
            <a:ext cx="1600274" cy="16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00" y="701700"/>
            <a:ext cx="88224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  <a:defRPr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39775" y="4926600"/>
            <a:ext cx="75183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975" y="4815975"/>
            <a:ext cx="7587600" cy="25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11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/>
            </a:lvl1pPr>
            <a:lvl2pPr lvl="1" rtl="0">
              <a:buNone/>
              <a:defRPr sz="1100"/>
            </a:lvl2pPr>
            <a:lvl3pPr lvl="2" rtl="0">
              <a:buNone/>
              <a:defRPr sz="1100"/>
            </a:lvl3pPr>
            <a:lvl4pPr lvl="3" rtl="0">
              <a:buNone/>
              <a:defRPr sz="1100"/>
            </a:lvl4pPr>
            <a:lvl5pPr lvl="4" rtl="0">
              <a:buNone/>
              <a:defRPr sz="1100"/>
            </a:lvl5pPr>
            <a:lvl6pPr lvl="5" rtl="0">
              <a:buNone/>
              <a:defRPr sz="1100"/>
            </a:lvl6pPr>
            <a:lvl7pPr lvl="6" rtl="0">
              <a:buNone/>
              <a:defRPr sz="1100"/>
            </a:lvl7pPr>
            <a:lvl8pPr lvl="7" rtl="0">
              <a:buNone/>
              <a:defRPr sz="1100"/>
            </a:lvl8pPr>
            <a:lvl9pPr lvl="8" rtl="0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8176" y="4615201"/>
            <a:ext cx="540001" cy="5399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hyperlink" Target="https://www.amd.com/en/products/adaptive-socs-and-fpgas/fpga.html" TargetMode="External"/><Relationship Id="rId5" Type="http://schemas.openxmlformats.org/officeDocument/2006/relationships/hyperlink" Target="https://www.intel.com/content/www/us/en/products/details/fpga/arria.html" TargetMode="External"/><Relationship Id="rId6" Type="http://schemas.openxmlformats.org/officeDocument/2006/relationships/hyperlink" Target="https://www.microchip.com/en-us/products/fpgas-and-plds/fpgas" TargetMode="External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shakti.org.in/documentation.html" TargetMode="External"/><Relationship Id="rId4" Type="http://schemas.openxmlformats.org/officeDocument/2006/relationships/hyperlink" Target="https://blogshakti.org.in/" TargetMode="External"/><Relationship Id="rId9" Type="http://schemas.openxmlformats.org/officeDocument/2006/relationships/hyperlink" Target="https://gitlab.com/shaktiproject/cores" TargetMode="External"/><Relationship Id="rId5" Type="http://schemas.openxmlformats.org/officeDocument/2006/relationships/hyperlink" Target="https://gitlab.com/shaktiproject/sp2020" TargetMode="External"/><Relationship Id="rId6" Type="http://schemas.openxmlformats.org/officeDocument/2006/relationships/hyperlink" Target="https://gitlab.com/shaktiproject/software/shakti-sdk" TargetMode="External"/><Relationship Id="rId7" Type="http://schemas.openxmlformats.org/officeDocument/2006/relationships/hyperlink" Target="https://gitlab.com/shaktiproject/software/linux-on-shakti" TargetMode="External"/><Relationship Id="rId8" Type="http://schemas.openxmlformats.org/officeDocument/2006/relationships/hyperlink" Target="https://registry.platformio.org/platforms/platformio/shakti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221775" y="1908475"/>
            <a:ext cx="8520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Arial"/>
              <a:buNone/>
            </a:pPr>
            <a:r>
              <a:rPr lang="en"/>
              <a:t>Shakti overview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257563" y="27754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"/>
              <a:t>RISE Lab</a:t>
            </a:r>
            <a:endParaRPr/>
          </a:p>
          <a:p>
            <a:pPr indent="-34290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"/>
              <a:t>IITM</a:t>
            </a:r>
            <a:endParaRPr/>
          </a:p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742363" y="4816475"/>
            <a:ext cx="4017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Webinar Schedule</a:t>
            </a:r>
            <a:endParaRPr/>
          </a:p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190825" y="701700"/>
            <a:ext cx="85371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25" y="701700"/>
            <a:ext cx="7140749" cy="419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Genesis of SHAKTI</a:t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75600" y="7212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B5394"/>
              </a:solidFill>
            </a:endParaRPr>
          </a:p>
          <a:p>
            <a:pPr indent="-342900" lvl="0" marL="457200" rtl="0" algn="just"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 Light"/>
              <a:buChar char="▪"/>
            </a:pPr>
            <a:r>
              <a:rPr b="1" lang="en">
                <a:solidFill>
                  <a:srgbClr val="0B5394"/>
                </a:solidFill>
              </a:rPr>
              <a:t>SHAKT</a:t>
            </a:r>
            <a:r>
              <a:rPr b="1" lang="en">
                <a:solidFill>
                  <a:srgbClr val="0B5394"/>
                </a:solidFill>
              </a:rPr>
              <a:t>I</a:t>
            </a:r>
            <a:r>
              <a:rPr b="1" lang="en">
                <a:solidFill>
                  <a:srgbClr val="0B5394"/>
                </a:solidFill>
              </a:rPr>
              <a:t> -</a:t>
            </a:r>
            <a:r>
              <a:rPr lang="en"/>
              <a:t> </a:t>
            </a:r>
            <a:r>
              <a:rPr lang="en">
                <a:solidFill>
                  <a:srgbClr val="0B5394"/>
                </a:solidFill>
              </a:rPr>
              <a:t>family of open source </a:t>
            </a:r>
            <a:r>
              <a:rPr lang="en"/>
              <a:t>RISC-V processors </a:t>
            </a:r>
            <a:r>
              <a:rPr lang="en">
                <a:solidFill>
                  <a:srgbClr val="0B5394"/>
                </a:solidFill>
              </a:rPr>
              <a:t>ranging from simple </a:t>
            </a:r>
            <a:r>
              <a:rPr lang="en"/>
              <a:t>single core processors</a:t>
            </a:r>
            <a:r>
              <a:rPr lang="en">
                <a:solidFill>
                  <a:srgbClr val="0B5394"/>
                </a:solidFill>
              </a:rPr>
              <a:t> to server-grade multi-core processors.</a:t>
            </a:r>
            <a:endParaRPr>
              <a:solidFill>
                <a:srgbClr val="0B5394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394"/>
              </a:solidFill>
            </a:endParaRPr>
          </a:p>
          <a:p>
            <a:pPr indent="-342900" lvl="0" marL="457200" rtl="0" algn="just"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 Light"/>
              <a:buChar char="▪"/>
            </a:pPr>
            <a:r>
              <a:rPr lang="en">
                <a:solidFill>
                  <a:srgbClr val="0B5394"/>
                </a:solidFill>
              </a:rPr>
              <a:t>Today the </a:t>
            </a:r>
            <a:r>
              <a:rPr b="1" lang="en">
                <a:solidFill>
                  <a:srgbClr val="0B5394"/>
                </a:solidFill>
              </a:rPr>
              <a:t>SHAKTI</a:t>
            </a:r>
            <a:r>
              <a:rPr lang="en">
                <a:solidFill>
                  <a:srgbClr val="0B5394"/>
                </a:solidFill>
              </a:rPr>
              <a:t> initiative has grown </a:t>
            </a:r>
            <a:r>
              <a:rPr lang="en"/>
              <a:t>into </a:t>
            </a:r>
            <a:r>
              <a:rPr lang="en">
                <a:solidFill>
                  <a:srgbClr val="0B5394"/>
                </a:solidFill>
              </a:rPr>
              <a:t>a comprehensive ecosystem that will provide industry-grade open source processors, AI/ML accelerators, communication fabrics, interconnects, peripherals and storage controllers.</a:t>
            </a:r>
            <a:endParaRPr>
              <a:solidFill>
                <a:srgbClr val="0B5394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 Light"/>
              <a:buChar char="▪"/>
            </a:pPr>
            <a:r>
              <a:rPr lang="en"/>
              <a:t>This initiative has resulted in 7 startups so far.</a:t>
            </a:r>
            <a:endParaRPr/>
          </a:p>
          <a:p>
            <a:pPr indent="0" lvl="0" marL="45720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B5394"/>
              </a:solidFill>
            </a:endParaRPr>
          </a:p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Ecosystem</a:t>
            </a:r>
            <a:endParaRPr/>
          </a:p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1"/>
          <p:cNvSpPr txBox="1"/>
          <p:nvPr/>
        </p:nvSpPr>
        <p:spPr>
          <a:xfrm>
            <a:off x="2366688" y="4603500"/>
            <a:ext cx="4410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B55"/>
                </a:solidFill>
                <a:latin typeface="Dosis"/>
                <a:ea typeface="Dosis"/>
                <a:cs typeface="Dosis"/>
                <a:sym typeface="Dosis"/>
              </a:rPr>
              <a:t> SHAKTI Design Portfolio </a:t>
            </a:r>
            <a:endParaRPr baseline="30000" sz="200">
              <a:solidFill>
                <a:srgbClr val="003B55"/>
              </a:solidFill>
            </a:endParaRPr>
          </a:p>
        </p:txBody>
      </p:sp>
      <p:pic>
        <p:nvPicPr>
          <p:cNvPr id="69" name="Google Shape;69;p11"/>
          <p:cNvPicPr preferRelativeResize="0"/>
          <p:nvPr/>
        </p:nvPicPr>
        <p:blipFill rotWithShape="1">
          <a:blip r:embed="rId3">
            <a:alphaModFix/>
          </a:blip>
          <a:srcRect b="14937" l="1641" r="2380" t="0"/>
          <a:stretch/>
        </p:blipFill>
        <p:spPr>
          <a:xfrm>
            <a:off x="519850" y="547288"/>
            <a:ext cx="8095650" cy="41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Class vs C Class vs I Class</a:t>
            </a:r>
            <a:endParaRPr/>
          </a:p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1851875" y="505025"/>
            <a:ext cx="6738900" cy="44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Operating frequency: Upto 400 MHz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Positioned against ARM’s Cortex Mx class cores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Target: IoT devices, Edge Devices, Robotic Control, Smart cards</a:t>
            </a:r>
            <a:endParaRPr sz="16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Operating frequency: &gt; 1+ GHz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Positioned against ARM’s Cortex A35/A55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Target: Reliable Computing, Secure Computing, IoT &amp; Edge Computing hubs, Auto/Aerospace/Industrial Controls</a:t>
            </a:r>
            <a:endParaRPr sz="1600"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Operating frequency: 1-2 GHz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Positioned against ARM’s Cortex A76 (Work in Progress)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❖"/>
            </a:pPr>
            <a:r>
              <a:rPr lang="en" sz="1600"/>
              <a:t>Target: High Performance Compute, Mobile, Storage and Networking segments</a:t>
            </a:r>
            <a:endParaRPr sz="1600"/>
          </a:p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148775" y="823525"/>
            <a:ext cx="1617600" cy="735900"/>
          </a:xfrm>
          <a:prstGeom prst="chevron">
            <a:avLst>
              <a:gd fmla="val 50000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tillium Web"/>
                <a:ea typeface="Titillium Web"/>
                <a:cs typeface="Titillium Web"/>
                <a:sym typeface="Titillium Web"/>
              </a:rPr>
              <a:t>E-Class</a:t>
            </a:r>
            <a:endParaRPr b="1" sz="15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148775" y="2311025"/>
            <a:ext cx="1617600" cy="735900"/>
          </a:xfrm>
          <a:prstGeom prst="chevron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tillium Web"/>
                <a:ea typeface="Titillium Web"/>
                <a:cs typeface="Titillium Web"/>
                <a:sym typeface="Titillium Web"/>
              </a:rPr>
              <a:t>C-Class</a:t>
            </a:r>
            <a:endParaRPr b="1" sz="15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148775" y="3798525"/>
            <a:ext cx="1617600" cy="735900"/>
          </a:xfrm>
          <a:prstGeom prst="chevron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tillium Web"/>
                <a:ea typeface="Titillium Web"/>
                <a:cs typeface="Titillium Web"/>
                <a:sym typeface="Titillium Web"/>
              </a:rPr>
              <a:t>I-Class</a:t>
            </a:r>
            <a:endParaRPr b="1" sz="15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GC2025 Shakti Based Configurable Systems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Yamuna</a:t>
            </a:r>
            <a:endParaRPr/>
          </a:p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124425" y="707150"/>
            <a:ext cx="3655800" cy="4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32</a:t>
            </a: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bit C class core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6 stage Pipeline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order core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RV32IMAC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16kB $I &amp; 16kB$D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256MB DDR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8kB boot ROM.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32 x GPIOs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4 x General Purpose Timers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 x SPI controller.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3 x UART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6 x PWM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077425" y="707150"/>
            <a:ext cx="3655800" cy="4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</a:t>
            </a: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x I2C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 x PLIC 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 x CLINT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</a:t>
            </a: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inmux support.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On board xADC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Arduino compatible pins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FTDI based debugging.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Ethernet Lite IP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RTOS Booted.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Ganga</a:t>
            </a:r>
            <a:endParaRPr/>
          </a:p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24425" y="707150"/>
            <a:ext cx="3655800" cy="4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64</a:t>
            </a: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bit C class core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6 stage Pipeline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order core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RV64IMAC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16kB $I &amp; 16kB$D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256MB DDR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8kB boot ROM.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16 GPIOs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2x General Purpose Timers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 x SPI controller.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 x UART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077425" y="707150"/>
            <a:ext cx="3655800" cy="4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 x I2C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 x PLIC 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 x CLINT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Pinmux support.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Arduino compatible pins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FTDI based debugging.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Ethernet Lite IP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Linux Booted.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Yamuna Applications</a:t>
            </a:r>
            <a:endParaRPr/>
          </a:p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124425" y="707150"/>
            <a:ext cx="8554800" cy="4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Cater to Low power and low speed applications.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Wireless sensor networks.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Smart card reader.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RFID tags.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Home automation.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Agriculture equipments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Robotic Control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Edge Devices.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Simple Data Acquisition Systems.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Personal tracking systems.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Vehicle Tracking systems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Motor control applications.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Light control systems.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Ganga Applications</a:t>
            </a:r>
            <a:endParaRPr/>
          </a:p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124425" y="707150"/>
            <a:ext cx="8554800" cy="4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Cater to Low/Medium power, high performance and higher speed applications.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Industrial Automation</a:t>
            </a: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Reliable computing 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Edge computing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Secure computing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Automobile control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Aerospace applications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Critical Monitoring </a:t>
            </a: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systems</a:t>
            </a: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IoT Gateways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Image/Video  processing.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Unmanned vehicle systems.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○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Speech Processing Systems.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Based SoC Templates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Board Support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190825" y="701700"/>
            <a:ext cx="3925200" cy="44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based SoCs are supported on Multiple Boards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Nexys Video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AC701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VCU118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Aldec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proFPGA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ZC702.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Arty 100T &amp; Arty 35T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Genesys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VC707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 rotWithShape="1">
          <a:blip r:embed="rId3">
            <a:alphaModFix/>
          </a:blip>
          <a:srcRect b="19671" l="2762" r="2297" t="13643"/>
          <a:stretch/>
        </p:blipFill>
        <p:spPr>
          <a:xfrm>
            <a:off x="4168150" y="1043825"/>
            <a:ext cx="4883201" cy="34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Peripherals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SHAKTI PERIPHERALS</a:t>
            </a:r>
            <a:endParaRPr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407650" y="755350"/>
            <a:ext cx="3725100" cy="4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UART</a:t>
            </a:r>
            <a:endParaRPr sz="19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Configurable Baud rate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Upto 3Mbps.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Complete UART support with RTS, CTS, DTR, DSR, CD,RI.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Programmable character size.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Programmable stop bits, parity bits.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16 byte FIFO.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Read / Write options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Polling based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Interrupt based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Integrated  with ESP chip, 4G Modem, Lora &amp; Zigbee.</a:t>
            </a:r>
            <a:endParaRPr sz="11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4751050" y="831550"/>
            <a:ext cx="37251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I2C</a:t>
            </a:r>
            <a:endParaRPr sz="38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Supports Standard (100kHz) and Fast mode I2C (400kHz).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Master Mode support.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Configurable clock speed.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7 bit addressing.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Supports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○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Polling based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○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Interrupt based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FIFO based implementation as well available (32 Byte)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SHAKTI PERIPHERALS</a:t>
            </a:r>
            <a:endParaRPr/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4719025" y="755350"/>
            <a:ext cx="3569400" cy="3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PWM</a:t>
            </a:r>
            <a:endParaRPr sz="39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FPGA board Clock speed - 50MHz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Configurable PWM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Clock divisor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Period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Duty Cycle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Tested upto 7.5 MHz.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Complementary Output support.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Timer mode support.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Programmable interrupts.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688800" y="730200"/>
            <a:ext cx="3569400" cy="3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SPI</a:t>
            </a:r>
            <a:endParaRPr sz="40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Standard SPI.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Configurable clock speed (Tested upto 12.5MHz).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Master and  Slave mode support.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Multi slave support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Supports both 3 wire and 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4 wire interface.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Programmable clock polarity(CPOL) and phase (CPHA)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32 Byte FIFO depth.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Programmable set up time and hold time.</a:t>
            </a:r>
            <a:endParaRPr sz="16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SHAKTI PERIPHERALS</a:t>
            </a:r>
            <a:endParaRPr/>
          </a:p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407650" y="755350"/>
            <a:ext cx="37251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GPTimer</a:t>
            </a:r>
            <a:endParaRPr sz="39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32 bit General Purpose Timer.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Supports Up/Down/Up-down Counters.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Also supports PWM.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Captures the input.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Continuous Counter mode.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External  reference </a:t>
            </a: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clock </a:t>
            </a: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can be used.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Underflow/Overflow interrupts can be configured.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4380475" y="755350"/>
            <a:ext cx="41550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Watchdog Timer</a:t>
            </a:r>
            <a:endParaRPr sz="38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32 bit Watchdog timer.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Prevents the core from Stalling during code execution.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Supports hard reset as well as interrupt mode.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When the active bit is not triggered, the SoC will get reset on timeout.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Watchdog timeout and external reset period can be configured in software.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PERIPHERALS</a:t>
            </a:r>
            <a:endParaRPr/>
          </a:p>
        </p:txBody>
      </p:sp>
      <p:sp>
        <p:nvSpPr>
          <p:cNvPr id="167" name="Google Shape;167;p25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407650" y="755350"/>
            <a:ext cx="79620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GPIO</a:t>
            </a:r>
            <a:endParaRPr sz="43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General Purpose Input / Output.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No of ports can be configurable (customizable).</a:t>
            </a: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Separate SET, CLEAR &amp; TOGGLE registers can be used to configure the individual port values.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DATA register can be used to read the GPIO port values.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DIRECTION register can be used to configure the GPIO port as input or output.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Few GPIO pins can be configured for external interrupt.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Interrupts can be configured either as active high or active low.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Manys sensors verified and examples present in SDK.</a:t>
            </a:r>
            <a:endParaRPr sz="12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SHAKTI PERIPHERALS</a:t>
            </a:r>
            <a:endParaRPr/>
          </a:p>
        </p:txBody>
      </p:sp>
      <p:sp>
        <p:nvSpPr>
          <p:cNvPr id="174" name="Google Shape;174;p26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407650" y="755350"/>
            <a:ext cx="37251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PLIC</a:t>
            </a:r>
            <a:endParaRPr sz="41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RISC-V compatible interrupt controller.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Registers editable at bit level.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Default and vector interrupts supported.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Priority can be configured.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Complete driver support with examples</a:t>
            </a:r>
            <a:endParaRPr sz="13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651200" y="806400"/>
            <a:ext cx="3569400" cy="3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CLINT</a:t>
            </a:r>
            <a:endParaRPr sz="41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Core Local Interrupt Timer.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Machine Mode timer.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Configure timer at tick level.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MTIME &amp; MTIMECMP registers.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Interrupt mode supported.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Font typeface="Titillium Web"/>
              <a:buChar char="●"/>
            </a:pPr>
            <a:r>
              <a:rPr lang="en" sz="20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Complete driver support with examples.</a:t>
            </a:r>
            <a:endParaRPr sz="20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PERIPHERALS</a:t>
            </a:r>
            <a:endParaRPr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407650" y="755350"/>
            <a:ext cx="79620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u="sng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PMP</a:t>
            </a:r>
            <a:endParaRPr sz="4300" u="sng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Allows physical memory access privileges to specified for each physical memory region.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Can specify up to 64 regions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Granularity can be as small as 4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PMP checks by default applied to S and U memory/instruction access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Titillium Web"/>
              <a:buChar char="●"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PMP checks may apply to M mode, if the regions are locked at reset, preventing even M mode SW to change it.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PinMux</a:t>
            </a:r>
            <a:endParaRPr/>
          </a:p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8"/>
          <p:cNvSpPr txBox="1"/>
          <p:nvPr/>
        </p:nvSpPr>
        <p:spPr>
          <a:xfrm>
            <a:off x="171700" y="614000"/>
            <a:ext cx="8513100" cy="4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Used to configure and select the hardware pin configured for multiple functions based on the configured value.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Pin mux register has to be configured to enable a peripheral function on a pin.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Pin mux register is 32 bits.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By default all pins are configured as GPIO.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Different values can be configured in pin mux register to assign different functions to each and every pin.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GPIO pins can be assigned to different peripheral devices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Pinmux configuration c</a:t>
            </a: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an be increased for adding more functionality to each pin.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PinMux USED IN SP2020</a:t>
            </a:r>
            <a:endParaRPr/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7" name="Google Shape;197;p29"/>
          <p:cNvGraphicFramePr/>
          <p:nvPr/>
        </p:nvGraphicFramePr>
        <p:xfrm>
          <a:off x="273150" y="115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{80585815-B6E9-43A1-93F4-1BE6FB6A1FC4}</a:tableStyleId>
              </a:tblPr>
              <a:tblGrid>
                <a:gridCol w="855950"/>
                <a:gridCol w="382850"/>
                <a:gridCol w="521900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  <a:gridCol w="452375"/>
              </a:tblGrid>
              <a:tr h="279400">
                <a:tc gridSpan="2"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PinMux Config Value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rowSpan="2" hMerge="1"/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Bit Position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794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15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14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13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12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11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10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9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8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7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6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5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4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3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A86E8"/>
                          </a:solidFill>
                        </a:rPr>
                        <a:t>0</a:t>
                      </a:r>
                      <a:endParaRPr b="1" sz="1200">
                        <a:solidFill>
                          <a:srgbClr val="4A86E8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2841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00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GP10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GP9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GP6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GP5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GP3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GP2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GP1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GP0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01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S2_CS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U2TX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U2RX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U1TX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U1RX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10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PWM4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PWM3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PWM2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PWM1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PWM0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198" name="Google Shape;198;p29"/>
          <p:cNvGraphicFramePr/>
          <p:nvPr/>
        </p:nvGraphicFramePr>
        <p:xfrm>
          <a:off x="349350" y="291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{80585815-B6E9-43A1-93F4-1BE6FB6A1FC4}</a:tableStyleId>
              </a:tblPr>
              <a:tblGrid>
                <a:gridCol w="665000"/>
                <a:gridCol w="573800"/>
                <a:gridCol w="366350"/>
                <a:gridCol w="460850"/>
                <a:gridCol w="454775"/>
                <a:gridCol w="466925"/>
                <a:gridCol w="382850"/>
                <a:gridCol w="460850"/>
                <a:gridCol w="460850"/>
                <a:gridCol w="460850"/>
                <a:gridCol w="460850"/>
                <a:gridCol w="460850"/>
                <a:gridCol w="460850"/>
                <a:gridCol w="460850"/>
                <a:gridCol w="460850"/>
                <a:gridCol w="460850"/>
                <a:gridCol w="460850"/>
                <a:gridCol w="460850"/>
              </a:tblGrid>
              <a:tr h="200">
                <a:tc gridSpan="2"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PinMux Config Value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rowSpan="2" hMerge="1"/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Bit Position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46525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31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30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29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28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27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26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25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24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23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22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21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20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19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18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17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16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00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GP13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GP12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GP11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01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S2CK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S2SO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S2SI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B5394"/>
                          </a:solidFill>
                        </a:rPr>
                        <a:t>10</a:t>
                      </a:r>
                      <a:endParaRPr b="1"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-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B5394"/>
                          </a:solidFill>
                        </a:rPr>
                        <a:t>PWM5</a:t>
                      </a:r>
                      <a:endParaRPr sz="1200">
                        <a:solidFill>
                          <a:srgbClr val="0B5394"/>
                        </a:solidFill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Cryptographic Accelerators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AES</a:t>
            </a:r>
            <a:endParaRPr/>
          </a:p>
        </p:txBody>
      </p:sp>
      <p:sp>
        <p:nvSpPr>
          <p:cNvPr id="209" name="Google Shape;209;p31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31"/>
          <p:cNvSpPr txBox="1"/>
          <p:nvPr/>
        </p:nvSpPr>
        <p:spPr>
          <a:xfrm>
            <a:off x="407650" y="755350"/>
            <a:ext cx="8012400" cy="4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Symmetric key  encryption standard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 for multiple key lengths: 128b, 192b or 256b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 for various modes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ECB: Electronic Code Book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CBC: Cipher Block Chaining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CFB: Cipher FeedBack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OFB: Output FeedBack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CTR: Counter</a:t>
            </a:r>
            <a:endParaRPr>
              <a:solidFill>
                <a:srgbClr val="073763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AES-256 Design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16 unified SBoxes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AXI-4 slave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Buffers of depth 4 at input and output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Supports DMA with automatic flow control</a:t>
            </a:r>
            <a:endParaRPr sz="11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</a:t>
            </a:r>
            <a:endParaRPr/>
          </a:p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407650" y="755350"/>
            <a:ext cx="8012400" cy="4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One-way function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Typically used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To verify integrity of data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For digital signatures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Various digest sizes - 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256 and 512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 small change in input results in significant change in output.</a:t>
            </a:r>
            <a:endParaRPr sz="1800">
              <a:solidFill>
                <a:srgbClr val="073763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●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Engine Variants (SHA256) - 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Sequential (64 clock cycles)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Sequential Unrolled (32 clock cycles)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Ubuntu Condensed"/>
              <a:buChar char="○"/>
            </a:pPr>
            <a:r>
              <a:rPr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Pipelined (64 stages)</a:t>
            </a:r>
            <a:endParaRPr>
              <a:solidFill>
                <a:srgbClr val="073763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- Field Programmable Gate Arrays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latin typeface="Dosis"/>
                <a:ea typeface="Dosis"/>
                <a:cs typeface="Dosis"/>
                <a:sym typeface="Dosis"/>
              </a:rPr>
              <a:t>What is </a:t>
            </a:r>
            <a:r>
              <a:rPr lang="en" sz="3200">
                <a:latin typeface="Dosis"/>
                <a:ea typeface="Dosis"/>
                <a:cs typeface="Dosis"/>
                <a:sym typeface="Dosis"/>
              </a:rPr>
              <a:t>an FPGA?</a:t>
            </a:r>
            <a:endParaRPr sz="1800"/>
          </a:p>
        </p:txBody>
      </p:sp>
      <p:sp>
        <p:nvSpPr>
          <p:cNvPr id="228" name="Google Shape;228;p34"/>
          <p:cNvSpPr txBox="1"/>
          <p:nvPr/>
        </p:nvSpPr>
        <p:spPr>
          <a:xfrm>
            <a:off x="293100" y="522250"/>
            <a:ext cx="85578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7376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Titillium Web"/>
              <a:buChar char="●"/>
            </a:pP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Field Programmable Gate Array (FPGA)</a:t>
            </a:r>
            <a:endParaRPr b="1" i="0" sz="1800" u="none" cap="none" strike="noStrike">
              <a:solidFill>
                <a:srgbClr val="07376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Titillium Web"/>
              <a:buChar char="●"/>
            </a:pPr>
            <a:r>
              <a:rPr b="1" i="0" lang="en" sz="1800" u="none" cap="none" strike="noStrike">
                <a:solidFill>
                  <a:srgbClr val="003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Reconfigurable Hardware</a:t>
            </a:r>
            <a:r>
              <a:rPr b="0" i="0" lang="en" sz="1800" u="none" cap="none" strike="noStrike">
                <a:solidFill>
                  <a:srgbClr val="003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 – FPGAs enable dynamic hardware customization.</a:t>
            </a:r>
            <a:endParaRPr b="0" i="0" sz="1800" u="none" cap="none" strike="noStrike">
              <a:solidFill>
                <a:srgbClr val="003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Titillium Web"/>
              <a:buChar char="●"/>
            </a:pPr>
            <a:r>
              <a:rPr b="1" i="0" lang="en" sz="1800" u="none" cap="none" strike="noStrike">
                <a:solidFill>
                  <a:srgbClr val="003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HDL Programmability</a:t>
            </a:r>
            <a:r>
              <a:rPr b="0" i="0" lang="en" sz="1800" u="none" cap="none" strike="noStrike">
                <a:solidFill>
                  <a:srgbClr val="003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 – Designed using HDLs to model chip behavior.</a:t>
            </a:r>
            <a:endParaRPr b="0" i="0" sz="1800" u="none" cap="none" strike="noStrike">
              <a:solidFill>
                <a:srgbClr val="003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800"/>
              <a:buFont typeface="Titillium Web"/>
              <a:buChar char="●"/>
            </a:pPr>
            <a:r>
              <a:rPr b="1" i="0" lang="en" sz="1800" u="none" cap="none" strike="noStrike">
                <a:solidFill>
                  <a:srgbClr val="003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Post-Deployment Adaptability</a:t>
            </a:r>
            <a:r>
              <a:rPr b="0" i="0" lang="en" sz="1800" u="none" cap="none" strike="noStrike">
                <a:solidFill>
                  <a:srgbClr val="003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 – Modify functionality even after deployment.</a:t>
            </a:r>
            <a:endParaRPr b="0" i="0" sz="1800" u="none" cap="none" strike="noStrike">
              <a:solidFill>
                <a:srgbClr val="003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7376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7376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FPGA Technology Giants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545925" y="261650"/>
            <a:ext cx="2097000" cy="2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AMD (Xilinx)</a:t>
            </a:r>
            <a:r>
              <a:rPr b="1" lang="en" sz="800"/>
              <a:t>[1]</a:t>
            </a:r>
            <a:endParaRPr i="1" sz="800"/>
          </a:p>
        </p:txBody>
      </p:sp>
      <p:pic>
        <p:nvPicPr>
          <p:cNvPr id="235" name="Google Shape;2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072" y="1313775"/>
            <a:ext cx="2337975" cy="23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5921275" y="261650"/>
            <a:ext cx="2953500" cy="2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Microchip (Microsemi)</a:t>
            </a:r>
            <a:r>
              <a:rPr b="1" lang="en" sz="800"/>
              <a:t>[3]</a:t>
            </a:r>
            <a:endParaRPr i="1" sz="800"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3233600" y="261650"/>
            <a:ext cx="2097000" cy="2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Intel (Altera)</a:t>
            </a:r>
            <a:r>
              <a:rPr b="1" lang="en" sz="800"/>
              <a:t>[2]</a:t>
            </a:r>
            <a:endParaRPr i="1" sz="800"/>
          </a:p>
        </p:txBody>
      </p:sp>
      <p:sp>
        <p:nvSpPr>
          <p:cNvPr id="238" name="Google Shape;238;p35"/>
          <p:cNvSpPr txBox="1"/>
          <p:nvPr/>
        </p:nvSpPr>
        <p:spPr>
          <a:xfrm>
            <a:off x="315300" y="3965175"/>
            <a:ext cx="65295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[1] </a:t>
            </a:r>
            <a:r>
              <a:rPr b="0" i="0" lang="en" sz="12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https://www.amd.com/en/products/adaptive-socs-and-fpgas/fpga.html</a:t>
            </a:r>
            <a:endParaRPr b="0" i="0" sz="1200" u="none" cap="none" strike="noStrike">
              <a:solidFill>
                <a:srgbClr val="07376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[2] </a:t>
            </a:r>
            <a:r>
              <a:rPr b="0" i="0" lang="en" sz="12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5"/>
              </a:rPr>
              <a:t>https://www.intel.com/content/www/us/en/products/details/fpga/arria.html</a:t>
            </a:r>
            <a:endParaRPr b="0" i="0" sz="1200" u="none" cap="none" strike="noStrike">
              <a:solidFill>
                <a:srgbClr val="07376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[3] </a:t>
            </a:r>
            <a:r>
              <a:rPr b="0" i="0" lang="en" sz="12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6"/>
              </a:rPr>
              <a:t>https://www.microchip.com/en-us/products/fpgas-and-plds/fpgas</a:t>
            </a:r>
            <a:endParaRPr b="0" i="0" sz="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39" name="Google Shape;239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76176" y="1313775"/>
            <a:ext cx="2337975" cy="236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025" y="1246075"/>
            <a:ext cx="2521150" cy="24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FPGA</a:t>
            </a:r>
            <a:endParaRPr/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ASIC - Application specific Integrated Circuit i.e. IC designed for a specific application.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ASIC fabrication is a tapeout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costly process which involves millions of Dollars i.e. huge cost investment.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Verification process is a must.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Simulation &amp; FPGA verification.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Simulation - Will not guarantee on timing.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FPGA - will provide both timing &amp; functional validation i.e. at low frequencies.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FPGA Design Flow</a:t>
            </a:r>
            <a:endParaRPr/>
          </a:p>
        </p:txBody>
      </p:sp>
      <p:sp>
        <p:nvSpPr>
          <p:cNvPr id="252" name="Google Shape;252;p37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pic>
        <p:nvPicPr>
          <p:cNvPr id="253" name="Google Shape;2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163" y="863900"/>
            <a:ext cx="1943275" cy="4048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/>
              <a:t>FPGA Design Flow</a:t>
            </a:r>
            <a:endParaRPr/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 sz="2100"/>
              <a:t>S</a:t>
            </a:r>
            <a:r>
              <a:rPr b="1" lang="en" sz="2000"/>
              <a:t>pecification &amp; Design Entry:</a:t>
            </a:r>
            <a:r>
              <a:rPr lang="en" sz="2000"/>
              <a:t> Getting the requirements/specifications &amp; low/high level design.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Behavioral Simulation:</a:t>
            </a:r>
            <a:r>
              <a:rPr lang="en" sz="2000"/>
              <a:t> Writing the code (verilog, vhdl, system verilog &amp; BSV).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Synthesis:</a:t>
            </a:r>
            <a:r>
              <a:rPr lang="en" sz="2000"/>
              <a:t> Converting the hdl to a netlist i.e. list of logic elements with connections along with optimization.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Simulation: </a:t>
            </a:r>
            <a:r>
              <a:rPr lang="en" sz="2000"/>
              <a:t>verification of the specification with simple test benches.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/>
              <a:t>FPGA Design Flow</a:t>
            </a:r>
            <a:endParaRPr/>
          </a:p>
        </p:txBody>
      </p:sp>
      <p:sp>
        <p:nvSpPr>
          <p:cNvPr id="265" name="Google Shape;265;p39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Implementation:</a:t>
            </a:r>
            <a:r>
              <a:rPr lang="en" sz="1700"/>
              <a:t> Process of converting the netlists to FPGA specific pattern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" sz="1700"/>
              <a:t>Translate</a:t>
            </a:r>
            <a:r>
              <a:rPr lang="en" sz="1700"/>
              <a:t> - collects and merge netlists into a single net list &amp; verify the constraints.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" sz="1700"/>
              <a:t>Map:</a:t>
            </a:r>
            <a:r>
              <a:rPr lang="en" sz="1700"/>
              <a:t> Mapping the resources with net lists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" sz="1700"/>
              <a:t>Place &amp; Route:</a:t>
            </a:r>
            <a:r>
              <a:rPr lang="en" sz="1700"/>
              <a:t> physical placement of the netlist to the FPGA physical resources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Bitstream generation</a:t>
            </a:r>
            <a:r>
              <a:rPr b="1" lang="en" sz="1700"/>
              <a:t>:</a:t>
            </a:r>
            <a:r>
              <a:rPr lang="en" sz="1700"/>
              <a:t> converting the implementation design into a FPGA understandable format.</a:t>
            </a:r>
            <a:endParaRPr sz="1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Step-by-Step Walkthrough in Nexys Video</a:t>
            </a:r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410700" y="798925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1. Design Entry - HDL Coding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       (Verilog or VHDL or System Verilog)</a:t>
            </a:r>
            <a:endParaRPr b="1"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5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half_add</a:t>
            </a: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b="1" lang="en" sz="14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a,b,</a:t>
            </a:r>
            <a:endParaRPr b="1" sz="145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b="1" lang="en" sz="14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sum,carry</a:t>
            </a:r>
            <a:endParaRPr b="1" sz="145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assign</a:t>
            </a: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sum = a ^ b;</a:t>
            </a:r>
            <a:endParaRPr b="1" sz="14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assign</a:t>
            </a:r>
            <a:r>
              <a:rPr b="1" lang="en" sz="14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carry = a &amp; b;</a:t>
            </a:r>
            <a:endParaRPr b="1" sz="14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endmodule</a:t>
            </a:r>
            <a:endParaRPr b="1" sz="145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2004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		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pic>
        <p:nvPicPr>
          <p:cNvPr id="272" name="Google Shape;27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9800" y="1702950"/>
            <a:ext cx="5340300" cy="2111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Step-by-Step Walkthrough in Nexys Video</a:t>
            </a:r>
            <a:endParaRPr/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457800" y="701700"/>
            <a:ext cx="84663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2. Behavioral Simulation</a:t>
            </a:r>
            <a:endParaRPr/>
          </a:p>
        </p:txBody>
      </p:sp>
      <p:pic>
        <p:nvPicPr>
          <p:cNvPr id="279" name="Google Shape;27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1400" y="1717075"/>
            <a:ext cx="6698399" cy="22357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Step-by-Step Walkthrough in Nexys Video</a:t>
            </a:r>
            <a:endParaRPr/>
          </a:p>
        </p:txBody>
      </p:sp>
      <p:sp>
        <p:nvSpPr>
          <p:cNvPr id="285" name="Google Shape;285;p42"/>
          <p:cNvSpPr txBox="1"/>
          <p:nvPr>
            <p:ph idx="1" type="body"/>
          </p:nvPr>
        </p:nvSpPr>
        <p:spPr>
          <a:xfrm>
            <a:off x="190825" y="701700"/>
            <a:ext cx="8706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3. Project Device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  (Board Selection)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pic>
        <p:nvPicPr>
          <p:cNvPr id="286" name="Google Shape;2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450" y="1759250"/>
            <a:ext cx="6473325" cy="20135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Step-by-Step Walkthrough in Nexys Video</a:t>
            </a:r>
            <a:endParaRPr/>
          </a:p>
        </p:txBody>
      </p:sp>
      <p:sp>
        <p:nvSpPr>
          <p:cNvPr id="292" name="Google Shape;292;p43"/>
          <p:cNvSpPr txBox="1"/>
          <p:nvPr>
            <p:ph idx="1" type="body"/>
          </p:nvPr>
        </p:nvSpPr>
        <p:spPr>
          <a:xfrm>
            <a:off x="190825" y="701700"/>
            <a:ext cx="8706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4. Constraints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(Xilinx Design Constraints)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## Switches</a:t>
            </a:r>
            <a:endParaRPr b="1" sz="12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25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set_property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-dict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PACKAGE_PIN E22  IOSTANDARD LVCMOS12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get_ports</a:t>
            </a:r>
            <a:r>
              <a:rPr b="1" lang="en" sz="12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}];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#sw[0]</a:t>
            </a:r>
            <a:endParaRPr b="1" sz="12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25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set_property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-dict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PACKAGE_PIN F21  IOSTANDARD LVCMOS12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get_ports</a:t>
            </a:r>
            <a:r>
              <a:rPr b="1" lang="en" sz="12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}];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#sw[1]</a:t>
            </a:r>
            <a:endParaRPr b="1" sz="12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5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## LEDs</a:t>
            </a:r>
            <a:endParaRPr b="1" sz="12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25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set_property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-dict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PACKAGE_PIN T14   IOSTANDARD LVCMOS25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[</a:t>
            </a:r>
            <a:r>
              <a:rPr b="1" lang="en" sz="125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get_ports</a:t>
            </a:r>
            <a:r>
              <a:rPr b="1" lang="en" sz="12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sum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}];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#led[0]</a:t>
            </a:r>
            <a:endParaRPr b="1" sz="12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25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set_property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-dict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PACKAGE_PIN T15   IOSTANDARD LVCMOS25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[</a:t>
            </a:r>
            <a:r>
              <a:rPr b="1" lang="en" sz="125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get_ports</a:t>
            </a:r>
            <a:r>
              <a:rPr b="1" lang="en" sz="12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20212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2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carry </a:t>
            </a:r>
            <a:r>
              <a:rPr b="1" lang="en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}];</a:t>
            </a:r>
            <a:r>
              <a:rPr b="1" lang="en" sz="12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#led[1]</a:t>
            </a:r>
            <a:endParaRPr b="1" sz="12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293" name="Google Shape;293;p43"/>
          <p:cNvSpPr txBox="1"/>
          <p:nvPr/>
        </p:nvSpPr>
        <p:spPr>
          <a:xfrm>
            <a:off x="733425" y="3765725"/>
            <a:ext cx="781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Inputs</a:t>
            </a: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 are mapped to </a:t>
            </a: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switches</a:t>
            </a: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 &amp; </a:t>
            </a: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Outputs</a:t>
            </a: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 are mapped to </a:t>
            </a: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LEDs</a:t>
            </a: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Step-by-Step Walkthrough in Nexys Video</a:t>
            </a:r>
            <a:endParaRPr/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190825" y="701700"/>
            <a:ext cx="8706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5. Synthesis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  (Translation)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pic>
        <p:nvPicPr>
          <p:cNvPr id="300" name="Google Shape;30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175" y="1545400"/>
            <a:ext cx="6181250" cy="26427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Step-by-Step Walkthrough in Nexys Video</a:t>
            </a:r>
            <a:endParaRPr/>
          </a:p>
        </p:txBody>
      </p:sp>
      <p:sp>
        <p:nvSpPr>
          <p:cNvPr id="306" name="Google Shape;306;p45"/>
          <p:cNvSpPr txBox="1"/>
          <p:nvPr>
            <p:ph idx="1" type="body"/>
          </p:nvPr>
        </p:nvSpPr>
        <p:spPr>
          <a:xfrm>
            <a:off x="190825" y="701700"/>
            <a:ext cx="8706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6. Place &amp; Route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(Implementation)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307" name="Google Shape;307;p45"/>
          <p:cNvSpPr txBox="1"/>
          <p:nvPr/>
        </p:nvSpPr>
        <p:spPr>
          <a:xfrm>
            <a:off x="1948775" y="3846950"/>
            <a:ext cx="55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 Each </a:t>
            </a: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LUT</a:t>
            </a: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 will have </a:t>
            </a: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6 inputs </a:t>
            </a: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in</a:t>
            </a:r>
            <a:r>
              <a:rPr b="1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 Nexys Video</a:t>
            </a:r>
            <a:r>
              <a:rPr b="0" i="0" lang="en" sz="1800" u="none" cap="none" strike="noStrike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08" name="Google Shape;30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600" y="1804399"/>
            <a:ext cx="7682866" cy="20425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Step-by-Step Walkthrough in Nexys Video</a:t>
            </a:r>
            <a:endParaRPr/>
          </a:p>
        </p:txBody>
      </p:sp>
      <p:sp>
        <p:nvSpPr>
          <p:cNvPr id="314" name="Google Shape;314;p46"/>
          <p:cNvSpPr txBox="1"/>
          <p:nvPr>
            <p:ph idx="1" type="body"/>
          </p:nvPr>
        </p:nvSpPr>
        <p:spPr>
          <a:xfrm>
            <a:off x="190825" y="701700"/>
            <a:ext cx="8706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LUT Utilization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pic>
        <p:nvPicPr>
          <p:cNvPr id="315" name="Google Shape;31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200" y="1789000"/>
            <a:ext cx="8372525" cy="2066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SDK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326" name="Google Shape;326;p48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48"/>
          <p:cNvSpPr txBox="1"/>
          <p:nvPr/>
        </p:nvSpPr>
        <p:spPr>
          <a:xfrm>
            <a:off x="403675" y="963600"/>
            <a:ext cx="81123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Shakti SDK Features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Shakti SDK Architecture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Shakti Tools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Drivers for Peripherals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Pinmux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Manuals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SDK Features</a:t>
            </a:r>
            <a:endParaRPr/>
          </a:p>
        </p:txBody>
      </p:sp>
      <p:sp>
        <p:nvSpPr>
          <p:cNvPr id="333" name="Google Shape;333;p49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9"/>
          <p:cNvSpPr txBox="1"/>
          <p:nvPr/>
        </p:nvSpPr>
        <p:spPr>
          <a:xfrm>
            <a:off x="403675" y="963600"/>
            <a:ext cx="81123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Open-source software development platform for SHAKTI.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Clean separation between boot, drivers, core and application layers.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Driver support for PWM, QSPI, SPI, PLIC, CLINT, UART, I2C, GPIO, RTC, Watchdog, GPTimer and XADC.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Multiple sensors connected and proven with SHAKTI-SDK.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Titillium Web"/>
              <a:buChar char="●"/>
            </a:pPr>
            <a:r>
              <a:rPr lang="en" sz="24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Standalone and Debug mode supported.</a:t>
            </a:r>
            <a:endParaRPr sz="24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Shakti SDK Features</a:t>
            </a:r>
            <a:endParaRPr/>
          </a:p>
        </p:txBody>
      </p:sp>
      <p:sp>
        <p:nvSpPr>
          <p:cNvPr id="340" name="Google Shape;340;p50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50"/>
          <p:cNvSpPr txBox="1"/>
          <p:nvPr/>
        </p:nvSpPr>
        <p:spPr>
          <a:xfrm>
            <a:off x="403675" y="963600"/>
            <a:ext cx="81123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Multilevel logging, Flash programming &amp; Dynamic memory management supported.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Single place for bare-metal application development, projects and benchmarks.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SDK extendable for any FPGA board.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SDK can be adapted to RTOS.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Visual Studio Code IDE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Using Platform IO Extension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</a:t>
            </a:r>
            <a:endParaRPr/>
          </a:p>
        </p:txBody>
      </p:sp>
      <p:sp>
        <p:nvSpPr>
          <p:cNvPr id="347" name="Google Shape;347;p51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51"/>
          <p:cNvSpPr txBox="1"/>
          <p:nvPr/>
        </p:nvSpPr>
        <p:spPr>
          <a:xfrm>
            <a:off x="575500" y="744150"/>
            <a:ext cx="73974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RTOS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○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Free RTOS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○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Zephyr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○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Nuttx.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Linux OS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Debian Linux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Manuals</a:t>
            </a:r>
            <a:endParaRPr/>
          </a:p>
        </p:txBody>
      </p: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5" name="Google Shape;35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75" y="540000"/>
            <a:ext cx="7848249" cy="427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361" name="Google Shape;361;p53"/>
          <p:cNvSpPr txBox="1"/>
          <p:nvPr>
            <p:ph idx="1" type="body"/>
          </p:nvPr>
        </p:nvSpPr>
        <p:spPr>
          <a:xfrm>
            <a:off x="190825" y="701700"/>
            <a:ext cx="8714700" cy="4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Documentation:  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https://shakti.org.in/documentation.html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Blogs:  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https://blogshakti.org.in/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FPGA files: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https://gitlab.com/shaktiproject/sp2020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SDK: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https://gitlab.com/shaktiproject/software/shakti-sdk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on Arduino:  https://blogshakti.org.in/how-to-print-hello-world-on-shakti-using-arduino-ide/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Linux on Shakti: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https://gitlab.com/shaktiproject/software/linux-on-shakti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Platform IO: </a:t>
            </a:r>
            <a:r>
              <a:rPr lang="en" u="sng">
                <a:solidFill>
                  <a:schemeClr val="hlink"/>
                </a:solidFill>
                <a:hlinkClick r:id="rId8"/>
              </a:rPr>
              <a:t>https://registry.platformio.org/platforms/platformio/shakti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cores: </a:t>
            </a:r>
            <a:r>
              <a:rPr lang="en" u="sng">
                <a:solidFill>
                  <a:schemeClr val="hlink"/>
                </a:solidFill>
                <a:hlinkClick r:id="rId9"/>
              </a:rPr>
              <a:t>https://gitlab.com/shaktiproject/cores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Shakti peripherals: https://gitlab.com/shaktiproject/uncore/devices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AKTI-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