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Dosis"/>
      <p:regular r:id="rId32"/>
      <p:bold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Titillium Web"/>
      <p:regular r:id="rId38"/>
      <p:bold r:id="rId39"/>
      <p:italic r:id="rId40"/>
      <p:boldItalic r:id="rId41"/>
    </p:embeddedFont>
    <p:embeddedFont>
      <p:font typeface="Dosis Medium"/>
      <p:regular r:id="rId42"/>
      <p:bold r:id="rId43"/>
    </p:embeddedFont>
    <p:embeddedFont>
      <p:font typeface="Dosis SemiBold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86E332-EC86-44EF-BC9F-183079B004A6}">
  <a:tblStyle styleId="{4786E332-EC86-44EF-BC9F-183079B004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itilliumWeb-italic.fntdata"/><Relationship Id="rId20" Type="http://schemas.openxmlformats.org/officeDocument/2006/relationships/slide" Target="slides/slide15.xml"/><Relationship Id="rId42" Type="http://schemas.openxmlformats.org/officeDocument/2006/relationships/font" Target="fonts/DosisMedium-regular.fntdata"/><Relationship Id="rId41" Type="http://schemas.openxmlformats.org/officeDocument/2006/relationships/font" Target="fonts/TitilliumWeb-boldItalic.fntdata"/><Relationship Id="rId22" Type="http://schemas.openxmlformats.org/officeDocument/2006/relationships/slide" Target="slides/slide17.xml"/><Relationship Id="rId44" Type="http://schemas.openxmlformats.org/officeDocument/2006/relationships/font" Target="fonts/DosisSemiBold-regular.fntdata"/><Relationship Id="rId21" Type="http://schemas.openxmlformats.org/officeDocument/2006/relationships/slide" Target="slides/slide16.xml"/><Relationship Id="rId43" Type="http://schemas.openxmlformats.org/officeDocument/2006/relationships/font" Target="fonts/DosisMedium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Dosis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Dosis-bold.fntdata"/><Relationship Id="rId10" Type="http://schemas.openxmlformats.org/officeDocument/2006/relationships/slide" Target="slides/slide5.xml"/><Relationship Id="rId32" Type="http://schemas.openxmlformats.org/officeDocument/2006/relationships/font" Target="fonts/Dosis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TitilliumWeb-bold.fntdata"/><Relationship Id="rId16" Type="http://schemas.openxmlformats.org/officeDocument/2006/relationships/slide" Target="slides/slide11.xml"/><Relationship Id="rId38" Type="http://schemas.openxmlformats.org/officeDocument/2006/relationships/font" Target="fonts/TitilliumWeb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1d82d62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1d82d62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ee3f2ba6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ee3f2ba6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FPGAs are reconfigurable integrated circuits enabling flexible hardware design.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This ability to reprogram and implement multiple SoC architectures on the same FPGA highlights its unique reconfigurable nature.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FPGA configuration requires binary files that describe the hardware setup.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91d82d62c_2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91d82d62c_2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ee3f2ba6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ee3f2ba6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ee3f2ba6e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ee3f2ba6e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ee3f2ba6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ee3f2ba6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ee3f2ba6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ee3f2ba6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ee3f2ba6e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ee3f2ba6e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99d17478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99d17478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99d17478f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99d17478f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ee3f2ba6e_0_2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ee3f2ba6e_0_2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91d82d62c_2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91d82d62c_2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ee3f2ba6e_0_2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ee3f2ba6e_0_2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ee3f2ba6e_0_2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ee3f2ba6e_0_2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ee3f2ba6e_0_2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ee3f2ba6e_0_2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ee3f2ba6e_0_2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ee3f2ba6e_0_2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99d17478f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899d17478f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ee3f2ba6e_0_2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8ee3f2ba6e_0_2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ee3f2ba6e_0_2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ee3f2ba6e_0_2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ee3f2ba6e_0_2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ee3f2ba6e_0_2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ee3f2ba6e_0_2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8ee3f2ba6e_0_2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ee3f2ba6e_0_2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8ee3f2ba6e_0_2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8ee3f2ba6e_0_2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8ee3f2ba6e_0_2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891d82d62c_2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891d82d62c_2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891d82d62c_2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891d82d62c_2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shakti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9771" y="106361"/>
            <a:ext cx="1604449" cy="160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osis"/>
              <a:buNone/>
              <a:defRPr b="1" sz="25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kti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shaktilog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2925" y="4590775"/>
            <a:ext cx="527700" cy="5066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dwbbQbf9H--P9opo9ArKJ7NBsOmpdUDau0dfWsbLa5w/edit?tab=t.0#heading=h.mncry84lhzz9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lab.com/shaktiproject/gc2025.gi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2"/>
          <p:cNvCxnSpPr/>
          <p:nvPr/>
        </p:nvCxnSpPr>
        <p:spPr>
          <a:xfrm>
            <a:off x="381000" y="274320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12"/>
          <p:cNvSpPr txBox="1"/>
          <p:nvPr/>
        </p:nvSpPr>
        <p:spPr>
          <a:xfrm>
            <a:off x="381000" y="2019900"/>
            <a:ext cx="8382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rPr>
              <a:t>Bitstream Generation &amp; FPGA Configuration</a:t>
            </a:r>
            <a:endParaRPr b="1" sz="3500">
              <a:solidFill>
                <a:srgbClr val="073763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910975" y="2815800"/>
            <a:ext cx="73227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Group | CSE Dept | PS-CDISHA - RISE LAB 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IIT Madras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Webinar Schedule</a:t>
            </a:r>
            <a:endParaRPr sz="28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graphicFrame>
        <p:nvGraphicFramePr>
          <p:cNvPr id="62" name="Google Shape;62;p13"/>
          <p:cNvGraphicFramePr/>
          <p:nvPr/>
        </p:nvGraphicFramePr>
        <p:xfrm>
          <a:off x="1269088" y="82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{4786E332-EC86-44EF-BC9F-183079B004A6}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1.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Introduction</a:t>
                      </a:r>
                      <a:endParaRPr sz="1800">
                        <a:solidFill>
                          <a:srgbClr val="0B5394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Google Shape;63;p13"/>
          <p:cNvGraphicFramePr/>
          <p:nvPr/>
        </p:nvGraphicFramePr>
        <p:xfrm>
          <a:off x="1269088" y="1323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{4786E332-EC86-44EF-BC9F-183079B004A6}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2</a:t>
                      </a: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Recap of Tool Setup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4" name="Google Shape;64;p13"/>
          <p:cNvGraphicFramePr/>
          <p:nvPr/>
        </p:nvGraphicFramePr>
        <p:xfrm>
          <a:off x="1269088" y="182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{4786E332-EC86-44EF-BC9F-183079B004A6}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3</a:t>
                      </a: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Flow of Bitstream/MCS Generation and Board Configuration</a:t>
                      </a:r>
                      <a:endParaRPr>
                        <a:solidFill>
                          <a:srgbClr val="0B5394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Google Shape;65;p13"/>
          <p:cNvGraphicFramePr/>
          <p:nvPr/>
        </p:nvGraphicFramePr>
        <p:xfrm>
          <a:off x="1269088" y="232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{4786E332-EC86-44EF-BC9F-183079B004A6}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4</a:t>
                      </a: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TCL-based Bitstream &amp; MCS Generation and Configuration</a:t>
                      </a:r>
                      <a:endParaRPr>
                        <a:solidFill>
                          <a:srgbClr val="0B5394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" name="Google Shape;66;p13"/>
          <p:cNvGraphicFramePr/>
          <p:nvPr/>
        </p:nvGraphicFramePr>
        <p:xfrm>
          <a:off x="1269088" y="2824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{4786E332-EC86-44EF-BC9F-183079B004A6}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5</a:t>
                      </a: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FPGA Configuration: Pre-built Bitstream and MCS Files</a:t>
                      </a:r>
                      <a:endParaRPr sz="1800">
                        <a:solidFill>
                          <a:srgbClr val="0B5394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" name="Google Shape;67;p13"/>
          <p:cNvGraphicFramePr/>
          <p:nvPr/>
        </p:nvGraphicFramePr>
        <p:xfrm>
          <a:off x="1269088" y="334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{4786E332-EC86-44EF-BC9F-183079B004A6}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6.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FPGA Configuration: Bitstream &amp; MCS via Vivado GUI</a:t>
                      </a:r>
                      <a:endParaRPr sz="1800"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" name="Google Shape;68;p13"/>
          <p:cNvGraphicFramePr/>
          <p:nvPr/>
        </p:nvGraphicFramePr>
        <p:xfrm>
          <a:off x="1269088" y="3863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{4786E332-EC86-44EF-BC9F-183079B004A6}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7</a:t>
                      </a: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uFill>
                            <a:noFill/>
                          </a:uFill>
                          <a:latin typeface="Dosis"/>
                          <a:ea typeface="Dosis"/>
                          <a:cs typeface="Dosis"/>
                          <a:sym typeface="Dosi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FPGA Configuration: Status Check</a:t>
                      </a:r>
                      <a:endParaRPr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9" name="Google Shape;69;p13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3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Introduction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0" y="745950"/>
            <a:ext cx="5140800" cy="3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Reconfigurable IC’s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Bitstream File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Volatile, Reset, Program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Approx ~6 seconds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MCS File (Memory Configuration Storage)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Non-Volatile 128Mb QSPI Flash Memory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Approx 4 - 5 Minutes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Generating Bitstream &amp; MCS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Bitstream  &amp;MCS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Ensuring the tool setup is complete is essential before generating these binary files.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78" name="Google Shape;78;p14" title="arty_a7_100t_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2050" y="1059175"/>
            <a:ext cx="3841549" cy="3025150"/>
          </a:xfrm>
          <a:prstGeom prst="rect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4"/>
          <p:cNvSpPr txBox="1"/>
          <p:nvPr/>
        </p:nvSpPr>
        <p:spPr>
          <a:xfrm>
            <a:off x="5511975" y="4117050"/>
            <a:ext cx="31017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ARTY_A7_100T FPGA Board</a:t>
            </a:r>
            <a:endParaRPr sz="18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98125" y="4345461"/>
            <a:ext cx="2729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https://digilent.com/reference/programmable-logic/arty-a7/start</a:t>
            </a:r>
            <a:endParaRPr sz="400"/>
          </a:p>
        </p:txBody>
      </p:sp>
      <p:cxnSp>
        <p:nvCxnSpPr>
          <p:cNvPr id="81" name="Google Shape;81;p14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4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5163080" y="1618725"/>
            <a:ext cx="300000" cy="48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 rot="-5400000">
            <a:off x="5282243" y="1063740"/>
            <a:ext cx="367200" cy="392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 rot="-5400000">
            <a:off x="8572230" y="1063750"/>
            <a:ext cx="367200" cy="392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Bitstream &amp; MCS 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92" name="Google Shape;92;p15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5"/>
          <p:cNvSpPr txBox="1"/>
          <p:nvPr/>
        </p:nvSpPr>
        <p:spPr>
          <a:xfrm>
            <a:off x="95250" y="559600"/>
            <a:ext cx="4283400" cy="4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Bitstream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Volatile, Reset, Program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Approx ~6 seconds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MCS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Non-Volatile 128Mb Serial Flash Memory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X4 SPI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Approx 4 - 5 Minutes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</a:t>
            </a: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ARTY A7 100T FPGA Board either in two ways: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JTAG Configuration (J10 USB - JTAG)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Quad-SPI Configuration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94" name="Google Shape;94;p15" title="arty-a7-callo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657" y="571375"/>
            <a:ext cx="4614468" cy="40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5465938" y="4596000"/>
            <a:ext cx="24399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reference:programmable-logic:arty-a7:arty-a7-callout.png</a:t>
            </a:r>
            <a:endParaRPr sz="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Recap of Tool</a:t>
            </a: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Setup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35650" y="639075"/>
            <a:ext cx="86727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sure all the hardware and software dependencies should installed (Tool Setup Manual) before bitstream and mcs generation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Clone the gc2025 repo from the shakti gitlab by using the following link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 u="sng">
                <a:solidFill>
                  <a:schemeClr val="hlink"/>
                </a:solidFill>
                <a:latin typeface="Dosis"/>
                <a:ea typeface="Dosis"/>
                <a:cs typeface="Dosis"/>
                <a:sym typeface="Dosis"/>
                <a:hlinkClick r:id="rId3"/>
              </a:rPr>
              <a:t>https://gitlab.com/shaktiproject/gc2025.git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04" name="Google Shape;104;p16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6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Flow of Bitstream/MCS Generation and Board Configuration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112" name="Google Shape;112;p17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3" name="Google Shape;113;p17"/>
          <p:cNvGrpSpPr/>
          <p:nvPr/>
        </p:nvGrpSpPr>
        <p:grpSpPr>
          <a:xfrm>
            <a:off x="2192548" y="531509"/>
            <a:ext cx="4758904" cy="4332761"/>
            <a:chOff x="2230172" y="613276"/>
            <a:chExt cx="4940723" cy="4498299"/>
          </a:xfrm>
        </p:grpSpPr>
        <p:cxnSp>
          <p:nvCxnSpPr>
            <p:cNvPr id="114" name="Google Shape;114;p17"/>
            <p:cNvCxnSpPr>
              <a:stCxn id="115" idx="2"/>
              <a:endCxn id="116" idx="0"/>
            </p:cNvCxnSpPr>
            <p:nvPr/>
          </p:nvCxnSpPr>
          <p:spPr>
            <a:xfrm flipH="1" rot="-5400000">
              <a:off x="5272418" y="2023676"/>
              <a:ext cx="538200" cy="1689600"/>
            </a:xfrm>
            <a:prstGeom prst="bentConnector3">
              <a:avLst>
                <a:gd fmla="val 50013" name="adj1"/>
              </a:avLst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17" name="Google Shape;117;p17"/>
            <p:cNvCxnSpPr>
              <a:stCxn id="118" idx="0"/>
              <a:endCxn id="115" idx="2"/>
            </p:cNvCxnSpPr>
            <p:nvPr/>
          </p:nvCxnSpPr>
          <p:spPr>
            <a:xfrm rot="-5400000">
              <a:off x="3582872" y="2031060"/>
              <a:ext cx="545700" cy="1682100"/>
            </a:xfrm>
            <a:prstGeom prst="bentConnector3">
              <a:avLst>
                <a:gd fmla="val 50003" name="adj1"/>
              </a:avLst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sp>
          <p:nvSpPr>
            <p:cNvPr id="118" name="Google Shape;118;p17"/>
            <p:cNvSpPr txBox="1"/>
            <p:nvPr/>
          </p:nvSpPr>
          <p:spPr>
            <a:xfrm>
              <a:off x="2230172" y="3144960"/>
              <a:ext cx="15690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Pre-Build</a:t>
              </a:r>
              <a:r>
                <a:rPr lang="en" sz="977">
                  <a:solidFill>
                    <a:srgbClr val="0B5394"/>
                  </a:solidFill>
                  <a:latin typeface="Dosis"/>
                  <a:ea typeface="Dosis"/>
                  <a:cs typeface="Dosis"/>
                  <a:sym typeface="Dosis"/>
                </a:rPr>
                <a:t> </a:t>
              </a:r>
              <a:endParaRPr sz="373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5601889" y="3137563"/>
              <a:ext cx="15690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TCL Script</a:t>
              </a:r>
              <a:endParaRPr sz="373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9" name="Google Shape;119;p17"/>
            <p:cNvCxnSpPr>
              <a:stCxn id="120" idx="2"/>
              <a:endCxn id="121" idx="0"/>
            </p:cNvCxnSpPr>
            <p:nvPr/>
          </p:nvCxnSpPr>
          <p:spPr>
            <a:xfrm flipH="1" rot="-5400000">
              <a:off x="5330947" y="3550936"/>
              <a:ext cx="425100" cy="1685700"/>
            </a:xfrm>
            <a:prstGeom prst="bentConnector3">
              <a:avLst>
                <a:gd fmla="val 50012" name="adj1"/>
              </a:avLst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22" name="Google Shape;122;p17"/>
            <p:cNvCxnSpPr>
              <a:stCxn id="123" idx="0"/>
              <a:endCxn id="120" idx="2"/>
            </p:cNvCxnSpPr>
            <p:nvPr/>
          </p:nvCxnSpPr>
          <p:spPr>
            <a:xfrm rot="-5400000">
              <a:off x="3645128" y="3550824"/>
              <a:ext cx="425100" cy="1686000"/>
            </a:xfrm>
            <a:prstGeom prst="bentConnector3">
              <a:avLst>
                <a:gd fmla="val 50012" name="adj1"/>
              </a:avLst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sp>
          <p:nvSpPr>
            <p:cNvPr id="120" name="Google Shape;120;p17"/>
            <p:cNvSpPr txBox="1"/>
            <p:nvPr/>
          </p:nvSpPr>
          <p:spPr>
            <a:xfrm>
              <a:off x="3444547" y="3830836"/>
              <a:ext cx="25122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Configuring Bitstream &amp; MCS</a:t>
              </a:r>
              <a:endParaRPr sz="977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ARTY A7 100T FPGA Board</a:t>
              </a:r>
              <a:endParaRPr sz="977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2230178" y="4606374"/>
              <a:ext cx="15690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Vivado GUI</a:t>
              </a:r>
              <a:endParaRPr sz="373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5601895" y="4606374"/>
              <a:ext cx="1569000" cy="5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Makefile / Terminal Commands</a:t>
              </a:r>
              <a:endParaRPr sz="373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4" name="Google Shape;124;p17"/>
            <p:cNvCxnSpPr>
              <a:stCxn id="120" idx="1"/>
              <a:endCxn id="118" idx="2"/>
            </p:cNvCxnSpPr>
            <p:nvPr/>
          </p:nvCxnSpPr>
          <p:spPr>
            <a:xfrm rot="10800000">
              <a:off x="3014647" y="3635536"/>
              <a:ext cx="429900" cy="370500"/>
            </a:xfrm>
            <a:prstGeom prst="bentConnector2">
              <a:avLst/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25" name="Google Shape;125;p17"/>
            <p:cNvCxnSpPr>
              <a:stCxn id="120" idx="3"/>
              <a:endCxn id="116" idx="2"/>
            </p:cNvCxnSpPr>
            <p:nvPr/>
          </p:nvCxnSpPr>
          <p:spPr>
            <a:xfrm flipH="1" rot="10800000">
              <a:off x="5956747" y="3642736"/>
              <a:ext cx="429600" cy="363300"/>
            </a:xfrm>
            <a:prstGeom prst="bentConnector2">
              <a:avLst/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sp>
          <p:nvSpPr>
            <p:cNvPr id="126" name="Google Shape;126;p17"/>
            <p:cNvSpPr txBox="1"/>
            <p:nvPr/>
          </p:nvSpPr>
          <p:spPr>
            <a:xfrm>
              <a:off x="2230172" y="1515974"/>
              <a:ext cx="15690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Ganga Soc</a:t>
              </a:r>
              <a:endParaRPr sz="373">
                <a:solidFill>
                  <a:srgbClr val="701C7F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5601889" y="1515974"/>
              <a:ext cx="15690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Yamuna</a:t>
              </a:r>
              <a:r>
                <a:rPr lang="en" sz="977">
                  <a:solidFill>
                    <a:srgbClr val="0B5394"/>
                  </a:solidFill>
                  <a:latin typeface="Dosis"/>
                  <a:ea typeface="Dosis"/>
                  <a:cs typeface="Dosis"/>
                  <a:sym typeface="Dosis"/>
                </a:rPr>
                <a:t> </a:t>
              </a: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Soc</a:t>
              </a:r>
              <a:endParaRPr sz="373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8" name="Google Shape;128;p17"/>
            <p:cNvCxnSpPr>
              <a:stCxn id="115" idx="1"/>
              <a:endCxn id="126" idx="2"/>
            </p:cNvCxnSpPr>
            <p:nvPr/>
          </p:nvCxnSpPr>
          <p:spPr>
            <a:xfrm rot="10800000">
              <a:off x="3014618" y="2006576"/>
              <a:ext cx="426000" cy="417600"/>
            </a:xfrm>
            <a:prstGeom prst="bentConnector2">
              <a:avLst/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sp>
          <p:nvSpPr>
            <p:cNvPr id="115" name="Google Shape;115;p17"/>
            <p:cNvSpPr txBox="1"/>
            <p:nvPr/>
          </p:nvSpPr>
          <p:spPr>
            <a:xfrm>
              <a:off x="3440618" y="2248976"/>
              <a:ext cx="25122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Generating Bitstream &amp; MCS </a:t>
              </a:r>
              <a:endParaRPr sz="977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ARTY A7 100T FPGA Board</a:t>
              </a:r>
              <a:endParaRPr sz="977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cxnSp>
          <p:nvCxnSpPr>
            <p:cNvPr id="129" name="Google Shape;129;p17"/>
            <p:cNvCxnSpPr>
              <a:stCxn id="115" idx="3"/>
              <a:endCxn id="127" idx="2"/>
            </p:cNvCxnSpPr>
            <p:nvPr/>
          </p:nvCxnSpPr>
          <p:spPr>
            <a:xfrm flipH="1" rot="10800000">
              <a:off x="5952818" y="2006576"/>
              <a:ext cx="433500" cy="417600"/>
            </a:xfrm>
            <a:prstGeom prst="bentConnector2">
              <a:avLst/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sp>
          <p:nvSpPr>
            <p:cNvPr id="130" name="Google Shape;130;p17"/>
            <p:cNvSpPr txBox="1"/>
            <p:nvPr/>
          </p:nvSpPr>
          <p:spPr>
            <a:xfrm>
              <a:off x="3440631" y="613276"/>
              <a:ext cx="25122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125" lIns="34125" spcFirstLastPara="1" rIns="34125" wrap="square" tIns="34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7">
                  <a:solidFill>
                    <a:srgbClr val="0B5394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GC2025</a:t>
              </a:r>
              <a:endParaRPr sz="977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  <p:cxnSp>
          <p:nvCxnSpPr>
            <p:cNvPr id="131" name="Google Shape;131;p17"/>
            <p:cNvCxnSpPr>
              <a:stCxn id="126" idx="0"/>
              <a:endCxn id="130" idx="2"/>
            </p:cNvCxnSpPr>
            <p:nvPr/>
          </p:nvCxnSpPr>
          <p:spPr>
            <a:xfrm rot="-5400000">
              <a:off x="3579572" y="398774"/>
              <a:ext cx="552300" cy="1682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32" name="Google Shape;132;p17"/>
            <p:cNvCxnSpPr>
              <a:stCxn id="130" idx="2"/>
              <a:endCxn id="127" idx="0"/>
            </p:cNvCxnSpPr>
            <p:nvPr/>
          </p:nvCxnSpPr>
          <p:spPr>
            <a:xfrm flipH="1" rot="-5400000">
              <a:off x="5265381" y="395026"/>
              <a:ext cx="552300" cy="1689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0B539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</p:grpSp>
      <p:sp>
        <p:nvSpPr>
          <p:cNvPr id="133" name="Google Shape;133;p17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TCL-based Bitstream &amp; MCS Generation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46000" y="669275"/>
            <a:ext cx="8652000" cy="2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SHAKTI uses Makefile and TCL scripts to generate bitstream and MCS files for target FPGA boards.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Follow the steps to generate bitstream and mcs for the target fpga board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Open the Ubuntu terminal and navigate to the gc2025/hw directory.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Refer to the </a:t>
            </a:r>
            <a:r>
              <a:rPr lang="en" sz="1800" u="sng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README.md</a:t>
            </a: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file in the hw folder or the document “</a:t>
            </a:r>
            <a:r>
              <a:rPr lang="en" sz="1800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Bitstream/MCS Generation and FPGA Target Configuration.doc</a:t>
            </a: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” </a:t>
            </a: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for exact commands to build bitstream and MCS files.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41" name="Google Shape;141;p18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8"/>
          <p:cNvSpPr txBox="1"/>
          <p:nvPr/>
        </p:nvSpPr>
        <p:spPr>
          <a:xfrm>
            <a:off x="476325" y="3279950"/>
            <a:ext cx="38427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Dosis"/>
              <a:buChar char="➔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For Ganga SoC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2385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500"/>
              <a:buFont typeface="Dosis"/>
              <a:buChar char="●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build BOARD=arty_a7_ganga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007400" y="3277450"/>
            <a:ext cx="48906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Dosis"/>
              <a:buChar char="➔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For Yamuna SoC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2385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500"/>
              <a:buFont typeface="Dosis"/>
              <a:buChar char="●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build BOARD=arty_a7_yamuna XLEN_build=32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TCL-based Bitstream &amp; MCS Generation</a:t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10989" y="3995056"/>
            <a:ext cx="83220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After successfully generating the bitstream and MCS files, the terminal displays a success message confirming the creation of both files.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52" name="Google Shape;152;p19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" name="Google Shape;153;p19" title="mcs_bitstream_done.png"/>
          <p:cNvPicPr preferRelativeResize="0"/>
          <p:nvPr/>
        </p:nvPicPr>
        <p:blipFill rotWithShape="1">
          <a:blip r:embed="rId3">
            <a:alphaModFix/>
          </a:blip>
          <a:srcRect b="-1440" l="-864" r="-874" t="-1440"/>
          <a:stretch/>
        </p:blipFill>
        <p:spPr>
          <a:xfrm>
            <a:off x="166875" y="640725"/>
            <a:ext cx="8810223" cy="33885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19"/>
          <p:cNvSpPr/>
          <p:nvPr/>
        </p:nvSpPr>
        <p:spPr>
          <a:xfrm>
            <a:off x="205410" y="1973525"/>
            <a:ext cx="5239500" cy="89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180890" y="3749975"/>
            <a:ext cx="3309000" cy="17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TCL-based Bitstream &amp; MCS Configuration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246000" y="669275"/>
            <a:ext cx="8652000" cy="17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➔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Follow the TCL-based steps to load/configure bitstream (or) mcs for the target fpga board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Open the Ubuntu terminal and navigate to the gc2025/hw directory.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2" marL="914400" rtl="0" algn="just"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Refer to the </a:t>
            </a:r>
            <a:r>
              <a:rPr lang="en" sz="1800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README.md</a:t>
            </a: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file in the hw folder or the document </a:t>
            </a:r>
            <a:r>
              <a:rPr lang="en" sz="1800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“Bitstream/MCS Generation and FPGA Target Configuration.doc”</a:t>
            </a: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for the correct makefile or terminal commands.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246000" y="2582350"/>
            <a:ext cx="41835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MCS f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or Ganga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program_mcs BOARD=arty_a7_ganga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429500" y="2574850"/>
            <a:ext cx="4591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Bitstream for Ganga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program_bitstream BOARD=arty_a7_ganga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46000" y="3431550"/>
            <a:ext cx="41835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MCS for Yamuna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program_mcs BOARD=arty_a7_yamuna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429500" y="3424050"/>
            <a:ext cx="4591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Bitstream for Yamuna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program_bitstream BOARD=arty_a7_yamuna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TCL-based Bitstream Configuration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176" name="Google Shape;176;p21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1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pic>
        <p:nvPicPr>
          <p:cNvPr id="178" name="Google Shape;178;p21" title="program_bitstre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935" y="664125"/>
            <a:ext cx="4281915" cy="389465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1"/>
          <p:cNvSpPr/>
          <p:nvPr/>
        </p:nvSpPr>
        <p:spPr>
          <a:xfrm>
            <a:off x="4739935" y="4253557"/>
            <a:ext cx="1611600" cy="126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7850" y="2396775"/>
            <a:ext cx="4591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Bitstream for Yamuna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program_bitstream BOARD=arty_a7_yamuna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77850" y="1608975"/>
            <a:ext cx="4591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Bitstream for Ganga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program_bitstream BOARD=arty_a7_ganga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TCL-based MCS Configuration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188" name="Google Shape;188;p22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2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pic>
        <p:nvPicPr>
          <p:cNvPr id="190" name="Google Shape;190;p22" title="program_m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963150"/>
            <a:ext cx="8839200" cy="2535612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22"/>
          <p:cNvSpPr/>
          <p:nvPr/>
        </p:nvSpPr>
        <p:spPr>
          <a:xfrm>
            <a:off x="155839" y="3398625"/>
            <a:ext cx="3365400" cy="126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155850" y="857675"/>
            <a:ext cx="41835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MCS for Ganga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program_mcs BOARD=arty_a7_ganga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4811550" y="853925"/>
            <a:ext cx="41835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Dosis"/>
              <a:buChar char="➔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Configuring MCS for Yamuna 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4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program_mcs BOARD=arty_a7_yamuna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Pre-built Bitstream and MCS Files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200" name="Google Shape;200;p23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3"/>
          <p:cNvCxnSpPr>
            <a:stCxn id="202" idx="6"/>
            <a:endCxn id="203" idx="2"/>
          </p:cNvCxnSpPr>
          <p:nvPr/>
        </p:nvCxnSpPr>
        <p:spPr>
          <a:xfrm>
            <a:off x="2026391" y="2023637"/>
            <a:ext cx="6825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23"/>
          <p:cNvCxnSpPr>
            <a:stCxn id="202" idx="6"/>
            <a:endCxn id="205" idx="2"/>
          </p:cNvCxnSpPr>
          <p:nvPr/>
        </p:nvCxnSpPr>
        <p:spPr>
          <a:xfrm flipH="1" rot="10800000">
            <a:off x="2026391" y="1003337"/>
            <a:ext cx="682500" cy="10203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23"/>
          <p:cNvCxnSpPr>
            <a:stCxn id="207" idx="6"/>
            <a:endCxn id="208" idx="2"/>
          </p:cNvCxnSpPr>
          <p:nvPr/>
        </p:nvCxnSpPr>
        <p:spPr>
          <a:xfrm flipH="1" rot="10800000">
            <a:off x="4184616" y="2371612"/>
            <a:ext cx="984900" cy="6723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23"/>
          <p:cNvCxnSpPr>
            <a:stCxn id="207" idx="6"/>
            <a:endCxn id="210" idx="2"/>
          </p:cNvCxnSpPr>
          <p:nvPr/>
        </p:nvCxnSpPr>
        <p:spPr>
          <a:xfrm>
            <a:off x="4184616" y="3043912"/>
            <a:ext cx="984900" cy="8964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3"/>
          <p:cNvSpPr/>
          <p:nvPr/>
        </p:nvSpPr>
        <p:spPr>
          <a:xfrm>
            <a:off x="5338642" y="2197515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Ganga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169529" y="2276659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2877921" y="829175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GCSDK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708808" y="908319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702287" y="1849543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gc2025</a:t>
            </a:r>
            <a:endParaRPr sz="15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1857191" y="1928687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877921" y="1849543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hw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2708808" y="1928687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338642" y="3782301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Yamuna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169529" y="3845420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cxnSp>
        <p:nvCxnSpPr>
          <p:cNvPr id="216" name="Google Shape;216;p23"/>
          <p:cNvCxnSpPr>
            <a:stCxn id="202" idx="6"/>
            <a:endCxn id="217" idx="2"/>
          </p:cNvCxnSpPr>
          <p:nvPr/>
        </p:nvCxnSpPr>
        <p:spPr>
          <a:xfrm>
            <a:off x="2026391" y="2023637"/>
            <a:ext cx="682500" cy="10203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3"/>
          <p:cNvSpPr/>
          <p:nvPr/>
        </p:nvSpPr>
        <p:spPr>
          <a:xfrm>
            <a:off x="2877921" y="2869911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mcs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2708808" y="2949055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cxnSp>
        <p:nvCxnSpPr>
          <p:cNvPr id="219" name="Google Shape;219;p23"/>
          <p:cNvCxnSpPr>
            <a:stCxn id="220" idx="6"/>
            <a:endCxn id="221" idx="2"/>
          </p:cNvCxnSpPr>
          <p:nvPr/>
        </p:nvCxnSpPr>
        <p:spPr>
          <a:xfrm flipH="1" rot="10800000">
            <a:off x="6685866" y="2023837"/>
            <a:ext cx="409200" cy="347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3"/>
          <p:cNvCxnSpPr>
            <a:stCxn id="220" idx="6"/>
            <a:endCxn id="223" idx="2"/>
          </p:cNvCxnSpPr>
          <p:nvPr/>
        </p:nvCxnSpPr>
        <p:spPr>
          <a:xfrm>
            <a:off x="6685866" y="2371537"/>
            <a:ext cx="409200" cy="320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3"/>
          <p:cNvSpPr/>
          <p:nvPr/>
        </p:nvSpPr>
        <p:spPr>
          <a:xfrm>
            <a:off x="7264178" y="1849870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fpga_top.bit</a:t>
            </a:r>
            <a:endParaRPr sz="1069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7095064" y="1929014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7264175" y="2533725"/>
            <a:ext cx="12399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fpga_top.mcs</a:t>
            </a:r>
            <a:endParaRPr sz="1069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095064" y="2596832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cxnSp>
        <p:nvCxnSpPr>
          <p:cNvPr id="226" name="Google Shape;226;p23"/>
          <p:cNvCxnSpPr>
            <a:stCxn id="227" idx="6"/>
            <a:endCxn id="228" idx="2"/>
          </p:cNvCxnSpPr>
          <p:nvPr/>
        </p:nvCxnSpPr>
        <p:spPr>
          <a:xfrm flipH="1" rot="10800000">
            <a:off x="6685866" y="3623887"/>
            <a:ext cx="437400" cy="3165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23"/>
          <p:cNvCxnSpPr>
            <a:stCxn id="227" idx="6"/>
            <a:endCxn id="230" idx="2"/>
          </p:cNvCxnSpPr>
          <p:nvPr/>
        </p:nvCxnSpPr>
        <p:spPr>
          <a:xfrm>
            <a:off x="6685866" y="3940387"/>
            <a:ext cx="437400" cy="3513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3"/>
          <p:cNvSpPr/>
          <p:nvPr/>
        </p:nvSpPr>
        <p:spPr>
          <a:xfrm>
            <a:off x="7292412" y="3449728"/>
            <a:ext cx="11493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fpga_top.bit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7123298" y="3528872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292399" y="4133575"/>
            <a:ext cx="1211700" cy="34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fpga_top.mcs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7123298" y="4196690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015416" y="2948962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6516666" y="2276587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516666" y="3845437"/>
            <a:ext cx="169200" cy="1899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88850" lIns="88850" spcFirstLastPara="1" rIns="88850" wrap="square" tIns="8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Recap of FPGA Design Flow and Step by Step Walkthrough the Target FPGA Board.</a:t>
            </a:r>
            <a:endParaRPr sz="20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195750" y="602550"/>
            <a:ext cx="2468100" cy="23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1. Design Entry - HDL Coding </a:t>
            </a:r>
            <a:endParaRPr sz="12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(Verilog or VHDL or System Verilog)</a:t>
            </a:r>
            <a:endParaRPr sz="1200">
              <a:solidFill>
                <a:srgbClr val="569CD6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module</a:t>
            </a: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1200">
                <a:solidFill>
                  <a:srgbClr val="38761D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half_add</a:t>
            </a: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12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(</a:t>
            </a:r>
            <a:endParaRPr sz="1200">
              <a:solidFill>
                <a:srgbClr val="00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  	</a:t>
            </a:r>
            <a:r>
              <a:rPr lang="en" sz="12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input</a:t>
            </a: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1200">
                <a:solidFill>
                  <a:srgbClr val="FF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a,b,</a:t>
            </a:r>
            <a:endParaRPr sz="1200">
              <a:solidFill>
                <a:srgbClr val="FF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  	</a:t>
            </a:r>
            <a:r>
              <a:rPr lang="en" sz="12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output</a:t>
            </a: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1200">
                <a:solidFill>
                  <a:srgbClr val="FF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sum,carry</a:t>
            </a:r>
            <a:endParaRPr sz="1200">
              <a:solidFill>
                <a:srgbClr val="FF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);</a:t>
            </a:r>
            <a:endParaRPr sz="1200">
              <a:solidFill>
                <a:srgbClr val="00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assign</a:t>
            </a: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1200">
                <a:solidFill>
                  <a:srgbClr val="9900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sum = a ^ b;</a:t>
            </a:r>
            <a:endParaRPr sz="1200">
              <a:solidFill>
                <a:srgbClr val="9900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assign</a:t>
            </a:r>
            <a:r>
              <a:rPr lang="en" sz="12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1200">
                <a:solidFill>
                  <a:srgbClr val="9900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carry = a &amp; b;</a:t>
            </a:r>
            <a:endParaRPr sz="1200">
              <a:solidFill>
                <a:srgbClr val="9900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endmodule</a:t>
            </a:r>
            <a:endParaRPr i="1" sz="12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pic>
        <p:nvPicPr>
          <p:cNvPr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750" y="1395275"/>
            <a:ext cx="1668201" cy="1005650"/>
          </a:xfrm>
          <a:prstGeom prst="rect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24"/>
          <p:cNvSpPr/>
          <p:nvPr/>
        </p:nvSpPr>
        <p:spPr>
          <a:xfrm>
            <a:off x="220625" y="617850"/>
            <a:ext cx="3412500" cy="2276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000" y="3466108"/>
            <a:ext cx="3211750" cy="1147675"/>
          </a:xfrm>
          <a:prstGeom prst="rect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4"/>
          <p:cNvSpPr txBox="1"/>
          <p:nvPr/>
        </p:nvSpPr>
        <p:spPr>
          <a:xfrm>
            <a:off x="321000" y="3132156"/>
            <a:ext cx="1719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2.</a:t>
            </a:r>
            <a:r>
              <a:rPr b="1" lang="en" sz="1800">
                <a:solidFill>
                  <a:srgbClr val="0B5394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" sz="12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Behavioral Simulation</a:t>
            </a:r>
            <a:endParaRPr sz="1800">
              <a:solidFill>
                <a:srgbClr val="0B539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220625" y="3180450"/>
            <a:ext cx="3412500" cy="1604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9687" y="1228799"/>
            <a:ext cx="2752425" cy="856175"/>
          </a:xfrm>
          <a:prstGeom prst="rect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p24"/>
          <p:cNvSpPr txBox="1"/>
          <p:nvPr/>
        </p:nvSpPr>
        <p:spPr>
          <a:xfrm>
            <a:off x="4511688" y="674707"/>
            <a:ext cx="144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3. Project Device </a:t>
            </a:r>
            <a:endParaRPr sz="12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 (Board Selection)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3760350" y="602538"/>
            <a:ext cx="2951100" cy="156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760350" y="2170950"/>
            <a:ext cx="2951100" cy="21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4. Constraints  (Xilinx Design Constraints)</a:t>
            </a:r>
            <a:endParaRPr sz="9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9955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## Switches</a:t>
            </a:r>
            <a:endParaRPr sz="900">
              <a:solidFill>
                <a:srgbClr val="6A9955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913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set_property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-dict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PACKAGE_PIN E22  IOSTANDARD LVCMOS12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[</a:t>
            </a:r>
            <a:r>
              <a:rPr lang="en" sz="900">
                <a:solidFill>
                  <a:srgbClr val="0000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get_ports</a:t>
            </a:r>
            <a:r>
              <a:rPr lang="en" sz="900">
                <a:solidFill>
                  <a:srgbClr val="D4D4D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 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a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}];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6A9955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#sw[0]</a:t>
            </a:r>
            <a:endParaRPr sz="900">
              <a:solidFill>
                <a:srgbClr val="6A9955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913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set_property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-dict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PACKAGE_PIN F21  IOSTANDARD LVCMOS12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[</a:t>
            </a:r>
            <a:r>
              <a:rPr lang="en" sz="900">
                <a:solidFill>
                  <a:srgbClr val="0000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get_ports</a:t>
            </a:r>
            <a:r>
              <a:rPr lang="en" sz="900">
                <a:solidFill>
                  <a:srgbClr val="D4D4D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b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}];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6A9955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#sw[1]</a:t>
            </a:r>
            <a:endParaRPr sz="900">
              <a:solidFill>
                <a:srgbClr val="6A9955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9955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## LEDs</a:t>
            </a:r>
            <a:endParaRPr sz="900">
              <a:solidFill>
                <a:srgbClr val="6A9955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913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</a:t>
            </a:r>
            <a:r>
              <a:rPr lang="en" sz="900">
                <a:solidFill>
                  <a:srgbClr val="E6913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et_property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-dict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 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PACKAGE_PIN T14   IOSTANDARD LVCMOS25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 [</a:t>
            </a:r>
            <a:r>
              <a:rPr lang="en" sz="900">
                <a:solidFill>
                  <a:srgbClr val="1155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get_ports</a:t>
            </a:r>
            <a:r>
              <a:rPr lang="en" sz="900">
                <a:solidFill>
                  <a:srgbClr val="D4D4D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sum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}];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6A9955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#led[0]</a:t>
            </a:r>
            <a:endParaRPr sz="900">
              <a:solidFill>
                <a:srgbClr val="6A9955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913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set_property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569CD6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-dict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PACKAGE_PIN T15   IOSTANDARD LVCMOS25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 [</a:t>
            </a:r>
            <a:r>
              <a:rPr lang="en" sz="900">
                <a:solidFill>
                  <a:srgbClr val="1155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get_ports</a:t>
            </a:r>
            <a:r>
              <a:rPr lang="en" sz="900">
                <a:solidFill>
                  <a:srgbClr val="D4D4D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20212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{</a:t>
            </a:r>
            <a:r>
              <a:rPr lang="en" sz="900">
                <a:solidFill>
                  <a:srgbClr val="CE9178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carry </a:t>
            </a:r>
            <a:r>
              <a:rPr lang="en" sz="900">
                <a:solidFill>
                  <a:srgbClr val="0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}];</a:t>
            </a:r>
            <a:r>
              <a:rPr lang="en" sz="900">
                <a:solidFill>
                  <a:srgbClr val="CCCCCC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 </a:t>
            </a:r>
            <a:r>
              <a:rPr lang="en" sz="900">
                <a:solidFill>
                  <a:srgbClr val="6A9955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#led[</a:t>
            </a:r>
            <a:r>
              <a:rPr lang="en" sz="900">
                <a:solidFill>
                  <a:srgbClr val="6A9955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1]</a:t>
            </a:r>
            <a:endParaRPr i="1" sz="9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Bitstream via Vivado GUI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256" name="Google Shape;256;p25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7" name="Google Shape;2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325" y="606150"/>
            <a:ext cx="7236274" cy="3931190"/>
          </a:xfrm>
          <a:prstGeom prst="rect">
            <a:avLst/>
          </a:prstGeom>
          <a:noFill/>
          <a:ln cap="flat" cmpd="sng" w="73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8" name="Google Shape;258;p25"/>
          <p:cNvSpPr/>
          <p:nvPr/>
        </p:nvSpPr>
        <p:spPr>
          <a:xfrm>
            <a:off x="1081846" y="2461901"/>
            <a:ext cx="965400" cy="114900"/>
          </a:xfrm>
          <a:prstGeom prst="roundRect">
            <a:avLst>
              <a:gd fmla="val 16667" name="adj"/>
            </a:avLst>
          </a:prstGeom>
          <a:noFill/>
          <a:ln cap="flat" cmpd="sng" w="14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25" lIns="70025" spcFirstLastPara="1" rIns="70025" wrap="square" tIns="7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2"/>
          </a:p>
        </p:txBody>
      </p:sp>
      <p:sp>
        <p:nvSpPr>
          <p:cNvPr id="259" name="Google Shape;259;p25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6"/>
          <p:cNvGrpSpPr/>
          <p:nvPr/>
        </p:nvGrpSpPr>
        <p:grpSpPr>
          <a:xfrm>
            <a:off x="954044" y="606244"/>
            <a:ext cx="7235890" cy="3930982"/>
            <a:chOff x="152400" y="152400"/>
            <a:chExt cx="9448799" cy="513317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9448799" cy="5133170"/>
            </a:xfrm>
            <a:prstGeom prst="rect">
              <a:avLst/>
            </a:prstGeom>
            <a:noFill/>
            <a:ln cap="flat" cmpd="sng" w="730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6" name="Google Shape;266;p26"/>
            <p:cNvSpPr/>
            <p:nvPr/>
          </p:nvSpPr>
          <p:spPr>
            <a:xfrm>
              <a:off x="700507" y="1090761"/>
              <a:ext cx="180000" cy="200100"/>
            </a:xfrm>
            <a:prstGeom prst="ellipse">
              <a:avLst/>
            </a:prstGeom>
            <a:noFill/>
            <a:ln cap="flat" cmpd="sng" w="146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72"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1060750" y="760550"/>
              <a:ext cx="410400" cy="140100"/>
            </a:xfrm>
            <a:prstGeom prst="roundRect">
              <a:avLst>
                <a:gd fmla="val 16667" name="adj"/>
              </a:avLst>
            </a:prstGeom>
            <a:noFill/>
            <a:ln cap="flat" cmpd="sng" w="146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72"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710478" y="1350942"/>
              <a:ext cx="180000" cy="200100"/>
            </a:xfrm>
            <a:prstGeom prst="upArrow">
              <a:avLst>
                <a:gd fmla="val 50000" name="adj1"/>
                <a:gd fmla="val 50000" name="adj2"/>
              </a:avLst>
            </a:prstGeom>
            <a:noFill/>
            <a:ln cap="flat" cmpd="sng" w="146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72"/>
            </a:p>
          </p:txBody>
        </p:sp>
        <p:sp>
          <p:nvSpPr>
            <p:cNvPr id="269" name="Google Shape;269;p26"/>
            <p:cNvSpPr txBox="1"/>
            <p:nvPr/>
          </p:nvSpPr>
          <p:spPr>
            <a:xfrm>
              <a:off x="240100" y="1651207"/>
              <a:ext cx="1120800" cy="270300"/>
            </a:xfrm>
            <a:prstGeom prst="rect">
              <a:avLst/>
            </a:prstGeom>
            <a:noFill/>
            <a:ln cap="flat" cmpd="sng" w="146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025" lIns="70025" spcFirstLastPara="1" rIns="70025" wrap="square" tIns="70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42"/>
                <a:t>Auto Connect</a:t>
              </a:r>
              <a:endParaRPr sz="842"/>
            </a:p>
          </p:txBody>
        </p:sp>
      </p:grpSp>
      <p:sp>
        <p:nvSpPr>
          <p:cNvPr id="270" name="Google Shape;270;p26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Bitstream via Vivado GUI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272" name="Google Shape;272;p26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6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Bitstream via Vivado GUI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280" name="Google Shape;280;p27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7"/>
          <p:cNvSpPr/>
          <p:nvPr/>
        </p:nvSpPr>
        <p:spPr>
          <a:xfrm>
            <a:off x="1081846" y="2461901"/>
            <a:ext cx="965400" cy="114900"/>
          </a:xfrm>
          <a:prstGeom prst="roundRect">
            <a:avLst>
              <a:gd fmla="val 16667" name="adj"/>
            </a:avLst>
          </a:prstGeom>
          <a:noFill/>
          <a:ln cap="flat" cmpd="sng" w="14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25" lIns="70025" spcFirstLastPara="1" rIns="70025" wrap="square" tIns="7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2"/>
          </a:p>
        </p:txBody>
      </p:sp>
      <p:grpSp>
        <p:nvGrpSpPr>
          <p:cNvPr id="282" name="Google Shape;282;p27"/>
          <p:cNvGrpSpPr/>
          <p:nvPr/>
        </p:nvGrpSpPr>
        <p:grpSpPr>
          <a:xfrm>
            <a:off x="957506" y="606138"/>
            <a:ext cx="7235891" cy="3931225"/>
            <a:chOff x="-482916" y="2014948"/>
            <a:chExt cx="9448800" cy="5186997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82916" y="2014948"/>
              <a:ext cx="9448800" cy="5186997"/>
            </a:xfrm>
            <a:prstGeom prst="rect">
              <a:avLst/>
            </a:prstGeom>
            <a:noFill/>
            <a:ln cap="flat" cmpd="sng" w="722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84" name="Google Shape;284;p27"/>
            <p:cNvSpPr/>
            <p:nvPr/>
          </p:nvSpPr>
          <p:spPr>
            <a:xfrm>
              <a:off x="-375141" y="3523723"/>
              <a:ext cx="1611300" cy="130200"/>
            </a:xfrm>
            <a:prstGeom prst="roundRect">
              <a:avLst>
                <a:gd fmla="val 16667" name="adj"/>
              </a:avLst>
            </a:prstGeom>
            <a:noFill/>
            <a:ln cap="flat" cmpd="sng" w="1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300" lIns="69300" spcFirstLastPara="1" rIns="69300" wrap="square" tIns="6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0"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365377" y="2653109"/>
              <a:ext cx="520500" cy="180000"/>
            </a:xfrm>
            <a:prstGeom prst="roundRect">
              <a:avLst>
                <a:gd fmla="val 16667" name="adj"/>
              </a:avLst>
            </a:prstGeom>
            <a:noFill/>
            <a:ln cap="flat" cmpd="sng" w="1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300" lIns="69300" spcFirstLastPara="1" rIns="69300" wrap="square" tIns="6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0"/>
            </a:p>
          </p:txBody>
        </p:sp>
      </p:grpSp>
      <p:sp>
        <p:nvSpPr>
          <p:cNvPr id="286" name="Google Shape;286;p27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Bitstream via Vivado GUI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293" name="Google Shape;293;p28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8"/>
          <p:cNvSpPr/>
          <p:nvPr/>
        </p:nvSpPr>
        <p:spPr>
          <a:xfrm>
            <a:off x="1081846" y="2461901"/>
            <a:ext cx="965400" cy="114900"/>
          </a:xfrm>
          <a:prstGeom prst="roundRect">
            <a:avLst>
              <a:gd fmla="val 16667" name="adj"/>
            </a:avLst>
          </a:prstGeom>
          <a:noFill/>
          <a:ln cap="flat" cmpd="sng" w="14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25" lIns="70025" spcFirstLastPara="1" rIns="70025" wrap="square" tIns="7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2"/>
          </a:p>
        </p:txBody>
      </p:sp>
      <p:grpSp>
        <p:nvGrpSpPr>
          <p:cNvPr id="295" name="Google Shape;295;p28"/>
          <p:cNvGrpSpPr/>
          <p:nvPr/>
        </p:nvGrpSpPr>
        <p:grpSpPr>
          <a:xfrm>
            <a:off x="677327" y="1298321"/>
            <a:ext cx="7796237" cy="2442065"/>
            <a:chOff x="470381" y="687002"/>
            <a:chExt cx="8606068" cy="2695436"/>
          </a:xfrm>
        </p:grpSpPr>
        <p:grpSp>
          <p:nvGrpSpPr>
            <p:cNvPr id="296" name="Google Shape;296;p28"/>
            <p:cNvGrpSpPr/>
            <p:nvPr/>
          </p:nvGrpSpPr>
          <p:grpSpPr>
            <a:xfrm>
              <a:off x="470381" y="687002"/>
              <a:ext cx="5355183" cy="2695436"/>
              <a:chOff x="2962100" y="152975"/>
              <a:chExt cx="4353099" cy="2548876"/>
            </a:xfrm>
          </p:grpSpPr>
          <p:pic>
            <p:nvPicPr>
              <p:cNvPr id="297" name="Google Shape;297;p28"/>
              <p:cNvPicPr preferRelativeResize="0"/>
              <p:nvPr/>
            </p:nvPicPr>
            <p:blipFill rotWithShape="1">
              <a:blip r:embed="rId3">
                <a:alphaModFix/>
              </a:blip>
              <a:srcRect b="37856" l="33970" r="33832" t="27442"/>
              <a:stretch/>
            </p:blipFill>
            <p:spPr>
              <a:xfrm>
                <a:off x="2962100" y="152975"/>
                <a:ext cx="4353099" cy="2548876"/>
              </a:xfrm>
              <a:prstGeom prst="rect">
                <a:avLst/>
              </a:prstGeom>
              <a:noFill/>
              <a:ln cap="flat" cmpd="sng" w="8625">
                <a:solidFill>
                  <a:srgbClr val="E69138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298" name="Google Shape;298;p28"/>
              <p:cNvSpPr/>
              <p:nvPr/>
            </p:nvSpPr>
            <p:spPr>
              <a:xfrm>
                <a:off x="3112200" y="1040750"/>
                <a:ext cx="4102800" cy="280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7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1900" lIns="101900" spcFirstLastPara="1" rIns="101900" wrap="square" tIns="10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0"/>
              </a:p>
            </p:txBody>
          </p:sp>
          <p:sp>
            <p:nvSpPr>
              <p:cNvPr id="299" name="Google Shape;299;p28"/>
              <p:cNvSpPr/>
              <p:nvPr/>
            </p:nvSpPr>
            <p:spPr>
              <a:xfrm>
                <a:off x="5724053" y="2343939"/>
                <a:ext cx="852900" cy="2802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7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1900" lIns="101900" spcFirstLastPara="1" rIns="101900" wrap="square" tIns="10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60"/>
              </a:p>
            </p:txBody>
          </p:sp>
        </p:grpSp>
        <p:pic>
          <p:nvPicPr>
            <p:cNvPr id="300" name="Google Shape;30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55550" y="1140800"/>
              <a:ext cx="3120899" cy="1259125"/>
            </a:xfrm>
            <a:prstGeom prst="rect">
              <a:avLst/>
            </a:prstGeom>
            <a:noFill/>
            <a:ln cap="flat" cmpd="sng" w="862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301" name="Google Shape;301;p28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Bitstream via Vivado GUI</a:t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308" name="Google Shape;308;p29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9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pic>
        <p:nvPicPr>
          <p:cNvPr id="310" name="Google Shape;310;p29" title="TCL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275" y="624425"/>
            <a:ext cx="7049457" cy="389465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1" name="Google Shape;311;p29"/>
          <p:cNvSpPr/>
          <p:nvPr/>
        </p:nvSpPr>
        <p:spPr>
          <a:xfrm>
            <a:off x="1282375" y="3924200"/>
            <a:ext cx="2845200" cy="105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2640050" y="3629900"/>
            <a:ext cx="863700" cy="6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B3B3B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MCS via Vivado GUI</a:t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319" name="Google Shape;319;p30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0" name="Google Shape;3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325" y="606150"/>
            <a:ext cx="7236274" cy="3931190"/>
          </a:xfrm>
          <a:prstGeom prst="rect">
            <a:avLst/>
          </a:prstGeom>
          <a:noFill/>
          <a:ln cap="flat" cmpd="sng" w="73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30"/>
          <p:cNvSpPr/>
          <p:nvPr/>
        </p:nvSpPr>
        <p:spPr>
          <a:xfrm>
            <a:off x="1081846" y="2461901"/>
            <a:ext cx="965400" cy="114900"/>
          </a:xfrm>
          <a:prstGeom prst="roundRect">
            <a:avLst>
              <a:gd fmla="val 16667" name="adj"/>
            </a:avLst>
          </a:prstGeom>
          <a:noFill/>
          <a:ln cap="flat" cmpd="sng" w="14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25" lIns="70025" spcFirstLastPara="1" rIns="70025" wrap="square" tIns="7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2"/>
          </a:p>
        </p:txBody>
      </p:sp>
      <p:sp>
        <p:nvSpPr>
          <p:cNvPr id="322" name="Google Shape;322;p30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grpSp>
        <p:nvGrpSpPr>
          <p:cNvPr id="323" name="Google Shape;323;p30"/>
          <p:cNvGrpSpPr/>
          <p:nvPr/>
        </p:nvGrpSpPr>
        <p:grpSpPr>
          <a:xfrm>
            <a:off x="957506" y="606138"/>
            <a:ext cx="7235891" cy="3931225"/>
            <a:chOff x="-482916" y="2014948"/>
            <a:chExt cx="9448800" cy="5186997"/>
          </a:xfrm>
        </p:grpSpPr>
        <p:pic>
          <p:nvPicPr>
            <p:cNvPr id="324" name="Google Shape;32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482916" y="2014948"/>
              <a:ext cx="9448800" cy="5186997"/>
            </a:xfrm>
            <a:prstGeom prst="rect">
              <a:avLst/>
            </a:prstGeom>
            <a:noFill/>
            <a:ln cap="flat" cmpd="sng" w="722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5" name="Google Shape;325;p30"/>
            <p:cNvSpPr/>
            <p:nvPr/>
          </p:nvSpPr>
          <p:spPr>
            <a:xfrm>
              <a:off x="-375141" y="3523723"/>
              <a:ext cx="1611300" cy="130200"/>
            </a:xfrm>
            <a:prstGeom prst="roundRect">
              <a:avLst>
                <a:gd fmla="val 16667" name="adj"/>
              </a:avLst>
            </a:prstGeom>
            <a:noFill/>
            <a:ln cap="flat" cmpd="sng" w="144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300" lIns="69300" spcFirstLastPara="1" rIns="69300" wrap="square" tIns="6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31"/>
          <p:cNvGrpSpPr/>
          <p:nvPr/>
        </p:nvGrpSpPr>
        <p:grpSpPr>
          <a:xfrm>
            <a:off x="957270" y="606150"/>
            <a:ext cx="7236108" cy="3931223"/>
            <a:chOff x="1801637" y="318500"/>
            <a:chExt cx="5523325" cy="3183950"/>
          </a:xfrm>
        </p:grpSpPr>
        <p:pic>
          <p:nvPicPr>
            <p:cNvPr id="331" name="Google Shape;33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01637" y="318500"/>
              <a:ext cx="5523325" cy="3183950"/>
            </a:xfrm>
            <a:prstGeom prst="rect">
              <a:avLst/>
            </a:prstGeom>
            <a:noFill/>
            <a:ln cap="flat" cmpd="sng" w="117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32" name="Google Shape;332;p31"/>
            <p:cNvSpPr/>
            <p:nvPr/>
          </p:nvSpPr>
          <p:spPr>
            <a:xfrm>
              <a:off x="1931375" y="2832025"/>
              <a:ext cx="5253600" cy="140100"/>
            </a:xfrm>
            <a:prstGeom prst="roundRect">
              <a:avLst>
                <a:gd fmla="val 16667" name="adj"/>
              </a:avLst>
            </a:prstGeom>
            <a:noFill/>
            <a:ln cap="flat" cmpd="sng" w="23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2875" lIns="112875" spcFirstLastPara="1" rIns="112875" wrap="square" tIns="11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28"/>
            </a:p>
          </p:txBody>
        </p:sp>
        <p:sp>
          <p:nvSpPr>
            <p:cNvPr id="333" name="Google Shape;333;p31"/>
            <p:cNvSpPr/>
            <p:nvPr/>
          </p:nvSpPr>
          <p:spPr>
            <a:xfrm>
              <a:off x="6094339" y="3196368"/>
              <a:ext cx="540300" cy="190200"/>
            </a:xfrm>
            <a:prstGeom prst="roundRect">
              <a:avLst>
                <a:gd fmla="val 16667" name="adj"/>
              </a:avLst>
            </a:prstGeom>
            <a:noFill/>
            <a:ln cap="flat" cmpd="sng" w="23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2875" lIns="112875" spcFirstLastPara="1" rIns="112875" wrap="square" tIns="11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28"/>
            </a:p>
          </p:txBody>
        </p:sp>
      </p:grpSp>
      <p:sp>
        <p:nvSpPr>
          <p:cNvPr id="334" name="Google Shape;334;p31"/>
          <p:cNvSpPr txBox="1"/>
          <p:nvPr/>
        </p:nvSpPr>
        <p:spPr>
          <a:xfrm>
            <a:off x="8193599" y="4682900"/>
            <a:ext cx="359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MCS via Vivado GUI</a:t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336" name="Google Shape;336;p31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31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325" y="606150"/>
            <a:ext cx="7236274" cy="3931200"/>
          </a:xfrm>
          <a:prstGeom prst="rect">
            <a:avLst/>
          </a:prstGeom>
          <a:noFill/>
          <a:ln cap="flat" cmpd="sng" w="72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3" name="Google Shape;343;p32"/>
          <p:cNvSpPr/>
          <p:nvPr/>
        </p:nvSpPr>
        <p:spPr>
          <a:xfrm>
            <a:off x="4634228" y="2926457"/>
            <a:ext cx="390900" cy="152100"/>
          </a:xfrm>
          <a:prstGeom prst="roundRect">
            <a:avLst>
              <a:gd fmla="val 16667" name="adj"/>
            </a:avLst>
          </a:prstGeom>
          <a:noFill/>
          <a:ln cap="flat" cmpd="sng" w="144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550" lIns="69550" spcFirstLastPara="1" rIns="69550" wrap="square" tIns="6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5"/>
          </a:p>
        </p:txBody>
      </p:sp>
      <p:sp>
        <p:nvSpPr>
          <p:cNvPr id="344" name="Google Shape;344;p32"/>
          <p:cNvSpPr txBox="1"/>
          <p:nvPr/>
        </p:nvSpPr>
        <p:spPr>
          <a:xfrm>
            <a:off x="8193599" y="4682900"/>
            <a:ext cx="359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MCS via Vivado GUI</a:t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346" name="Google Shape;346;p32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32"/>
          <p:cNvSpPr/>
          <p:nvPr/>
        </p:nvSpPr>
        <p:spPr>
          <a:xfrm>
            <a:off x="1068146" y="1906853"/>
            <a:ext cx="965400" cy="114900"/>
          </a:xfrm>
          <a:prstGeom prst="roundRect">
            <a:avLst>
              <a:gd fmla="val 16667" name="adj"/>
            </a:avLst>
          </a:prstGeom>
          <a:noFill/>
          <a:ln cap="flat" cmpd="sng" w="14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25" lIns="70025" spcFirstLastPara="1" rIns="70025" wrap="square" tIns="7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2"/>
          </a:p>
        </p:txBody>
      </p:sp>
      <p:sp>
        <p:nvSpPr>
          <p:cNvPr id="348" name="Google Shape;348;p32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964179" y="4429303"/>
            <a:ext cx="1345200" cy="114900"/>
          </a:xfrm>
          <a:prstGeom prst="roundRect">
            <a:avLst>
              <a:gd fmla="val 16667" name="adj"/>
            </a:avLst>
          </a:prstGeom>
          <a:noFill/>
          <a:ln cap="flat" cmpd="sng" w="14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025" lIns="70025" spcFirstLastPara="1" rIns="70025" wrap="square" tIns="7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2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/>
        </p:nvSpPr>
        <p:spPr>
          <a:xfrm>
            <a:off x="8250425" y="4682900"/>
            <a:ext cx="302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MCS via Vivado GUI</a:t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356" name="Google Shape;356;p33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33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grpSp>
        <p:nvGrpSpPr>
          <p:cNvPr id="358" name="Google Shape;358;p33"/>
          <p:cNvGrpSpPr/>
          <p:nvPr/>
        </p:nvGrpSpPr>
        <p:grpSpPr>
          <a:xfrm>
            <a:off x="3018242" y="606056"/>
            <a:ext cx="3114422" cy="3931375"/>
            <a:chOff x="2842021" y="139775"/>
            <a:chExt cx="3642599" cy="4598100"/>
          </a:xfrm>
        </p:grpSpPr>
        <p:pic>
          <p:nvPicPr>
            <p:cNvPr id="359" name="Google Shape;359;p33"/>
            <p:cNvPicPr preferRelativeResize="0"/>
            <p:nvPr/>
          </p:nvPicPr>
          <p:blipFill rotWithShape="1">
            <a:blip r:embed="rId3">
              <a:alphaModFix/>
            </a:blip>
            <a:srcRect b="25771" l="40432" r="34850" t="9507"/>
            <a:stretch/>
          </p:blipFill>
          <p:spPr>
            <a:xfrm>
              <a:off x="2842021" y="139775"/>
              <a:ext cx="3642599" cy="4598100"/>
            </a:xfrm>
            <a:prstGeom prst="rect">
              <a:avLst/>
            </a:prstGeom>
            <a:noFill/>
            <a:ln cap="flat" cmpd="sng" w="812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60" name="Google Shape;360;p33"/>
            <p:cNvSpPr/>
            <p:nvPr/>
          </p:nvSpPr>
          <p:spPr>
            <a:xfrm>
              <a:off x="2982125" y="1150825"/>
              <a:ext cx="3442500" cy="210300"/>
            </a:xfrm>
            <a:prstGeom prst="roundRect">
              <a:avLst>
                <a:gd fmla="val 16667" name="adj"/>
              </a:avLst>
            </a:prstGeom>
            <a:noFill/>
            <a:ln cap="flat" cmpd="sng" w="16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150" lIns="78150" spcFirstLastPara="1" rIns="78150" wrap="square" tIns="78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/>
            </a:p>
          </p:txBody>
        </p:sp>
        <p:sp>
          <p:nvSpPr>
            <p:cNvPr id="361" name="Google Shape;361;p33"/>
            <p:cNvSpPr/>
            <p:nvPr/>
          </p:nvSpPr>
          <p:spPr>
            <a:xfrm>
              <a:off x="3042158" y="2341675"/>
              <a:ext cx="3252300" cy="320100"/>
            </a:xfrm>
            <a:prstGeom prst="roundRect">
              <a:avLst>
                <a:gd fmla="val 16667" name="adj"/>
              </a:avLst>
            </a:prstGeom>
            <a:noFill/>
            <a:ln cap="flat" cmpd="sng" w="16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150" lIns="78150" spcFirstLastPara="1" rIns="78150" wrap="square" tIns="78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/>
            </a:p>
          </p:txBody>
        </p:sp>
        <p:sp>
          <p:nvSpPr>
            <p:cNvPr id="362" name="Google Shape;362;p33"/>
            <p:cNvSpPr/>
            <p:nvPr/>
          </p:nvSpPr>
          <p:spPr>
            <a:xfrm>
              <a:off x="4092900" y="4403125"/>
              <a:ext cx="2331600" cy="264900"/>
            </a:xfrm>
            <a:prstGeom prst="roundRect">
              <a:avLst>
                <a:gd fmla="val 16667" name="adj"/>
              </a:avLst>
            </a:prstGeom>
            <a:noFill/>
            <a:ln cap="flat" cmpd="sng" w="16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150" lIns="78150" spcFirstLastPara="1" rIns="78150" wrap="square" tIns="78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6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/>
        </p:nvSpPr>
        <p:spPr>
          <a:xfrm>
            <a:off x="8193599" y="4682900"/>
            <a:ext cx="359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Loading MCS via Vivado GUI</a:t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369" name="Google Shape;369;p34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4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grpSp>
        <p:nvGrpSpPr>
          <p:cNvPr id="371" name="Google Shape;371;p34"/>
          <p:cNvGrpSpPr/>
          <p:nvPr/>
        </p:nvGrpSpPr>
        <p:grpSpPr>
          <a:xfrm>
            <a:off x="2733691" y="606140"/>
            <a:ext cx="3683539" cy="1270703"/>
            <a:chOff x="2507725" y="360250"/>
            <a:chExt cx="4757250" cy="1641099"/>
          </a:xfrm>
        </p:grpSpPr>
        <p:pic>
          <p:nvPicPr>
            <p:cNvPr id="372" name="Google Shape;372;p34"/>
            <p:cNvPicPr preferRelativeResize="0"/>
            <p:nvPr/>
          </p:nvPicPr>
          <p:blipFill rotWithShape="1">
            <a:blip r:embed="rId3">
              <a:alphaModFix/>
            </a:blip>
            <a:srcRect b="37075" l="34606" r="34255" t="44598"/>
            <a:stretch/>
          </p:blipFill>
          <p:spPr>
            <a:xfrm>
              <a:off x="2507725" y="360250"/>
              <a:ext cx="4757250" cy="1641099"/>
            </a:xfrm>
            <a:prstGeom prst="rect">
              <a:avLst/>
            </a:prstGeom>
            <a:noFill/>
            <a:ln cap="flat" cmpd="sng" w="735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73" name="Google Shape;373;p34"/>
            <p:cNvSpPr/>
            <p:nvPr/>
          </p:nvSpPr>
          <p:spPr>
            <a:xfrm>
              <a:off x="2591693" y="1019393"/>
              <a:ext cx="4663500" cy="322800"/>
            </a:xfrm>
            <a:prstGeom prst="roundRect">
              <a:avLst>
                <a:gd fmla="val 16667" name="adj"/>
              </a:avLst>
            </a:prstGeom>
            <a:noFill/>
            <a:ln cap="flat" cmpd="sng" w="147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775" lIns="70775" spcFirstLastPara="1" rIns="70775" wrap="square" tIns="70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3"/>
            </a:p>
          </p:txBody>
        </p:sp>
      </p:grpSp>
      <p:grpSp>
        <p:nvGrpSpPr>
          <p:cNvPr id="374" name="Google Shape;374;p34"/>
          <p:cNvGrpSpPr/>
          <p:nvPr/>
        </p:nvGrpSpPr>
        <p:grpSpPr>
          <a:xfrm>
            <a:off x="2730217" y="1994970"/>
            <a:ext cx="3683557" cy="1216522"/>
            <a:chOff x="2498163" y="2191538"/>
            <a:chExt cx="4757274" cy="1571125"/>
          </a:xfrm>
        </p:grpSpPr>
        <p:pic>
          <p:nvPicPr>
            <p:cNvPr id="375" name="Google Shape;375;p34"/>
            <p:cNvPicPr preferRelativeResize="0"/>
            <p:nvPr/>
          </p:nvPicPr>
          <p:blipFill rotWithShape="1">
            <a:blip r:embed="rId4">
              <a:alphaModFix/>
            </a:blip>
            <a:srcRect b="37513" l="34705" r="34579" t="44906"/>
            <a:stretch/>
          </p:blipFill>
          <p:spPr>
            <a:xfrm>
              <a:off x="2498163" y="2191538"/>
              <a:ext cx="4757274" cy="1571125"/>
            </a:xfrm>
            <a:prstGeom prst="rect">
              <a:avLst/>
            </a:prstGeom>
            <a:noFill/>
            <a:ln cap="flat" cmpd="sng" w="737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76" name="Google Shape;376;p34"/>
            <p:cNvSpPr/>
            <p:nvPr/>
          </p:nvSpPr>
          <p:spPr>
            <a:xfrm>
              <a:off x="2545038" y="2792025"/>
              <a:ext cx="4663500" cy="370200"/>
            </a:xfrm>
            <a:prstGeom prst="roundRect">
              <a:avLst>
                <a:gd fmla="val 16667" name="adj"/>
              </a:avLst>
            </a:prstGeom>
            <a:noFill/>
            <a:ln cap="flat" cmpd="sng" w="147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0800" lIns="70800" spcFirstLastPara="1" rIns="70800" wrap="square" tIns="70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83"/>
            </a:p>
          </p:txBody>
        </p:sp>
      </p:grpSp>
      <p:grpSp>
        <p:nvGrpSpPr>
          <p:cNvPr id="377" name="Google Shape;377;p34"/>
          <p:cNvGrpSpPr/>
          <p:nvPr/>
        </p:nvGrpSpPr>
        <p:grpSpPr>
          <a:xfrm>
            <a:off x="3259368" y="3329623"/>
            <a:ext cx="2632179" cy="1339467"/>
            <a:chOff x="3450825" y="3952875"/>
            <a:chExt cx="2871050" cy="1461024"/>
          </a:xfrm>
        </p:grpSpPr>
        <p:pic>
          <p:nvPicPr>
            <p:cNvPr id="378" name="Google Shape;378;p34"/>
            <p:cNvPicPr preferRelativeResize="0"/>
            <p:nvPr/>
          </p:nvPicPr>
          <p:blipFill rotWithShape="1">
            <a:blip r:embed="rId5">
              <a:alphaModFix/>
            </a:blip>
            <a:srcRect b="36905" l="41308" r="39608" t="45219"/>
            <a:stretch/>
          </p:blipFill>
          <p:spPr>
            <a:xfrm>
              <a:off x="3450825" y="3952875"/>
              <a:ext cx="2871050" cy="1461024"/>
            </a:xfrm>
            <a:prstGeom prst="rect">
              <a:avLst/>
            </a:prstGeom>
            <a:noFill/>
            <a:ln cap="flat" cmpd="sng" w="872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79" name="Google Shape;379;p34"/>
            <p:cNvSpPr/>
            <p:nvPr/>
          </p:nvSpPr>
          <p:spPr>
            <a:xfrm>
              <a:off x="4538142" y="5023611"/>
              <a:ext cx="750600" cy="370200"/>
            </a:xfrm>
            <a:prstGeom prst="roundRect">
              <a:avLst>
                <a:gd fmla="val 16667" name="adj"/>
              </a:avLst>
            </a:prstGeom>
            <a:noFill/>
            <a:ln cap="flat" cmpd="sng" w="174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825" lIns="83825" spcFirstLastPara="1" rIns="83825" wrap="square" tIns="83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83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/>
        </p:nvSpPr>
        <p:spPr>
          <a:xfrm>
            <a:off x="8193599" y="4682900"/>
            <a:ext cx="359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385" name="Google Shape;385;p35"/>
          <p:cNvSpPr txBox="1"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FPGA Configuration: Status Check</a:t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lt1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386" name="Google Shape;386;p35"/>
          <p:cNvCxnSpPr/>
          <p:nvPr/>
        </p:nvCxnSpPr>
        <p:spPr>
          <a:xfrm>
            <a:off x="0" y="540000"/>
            <a:ext cx="9150900" cy="75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35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pic>
        <p:nvPicPr>
          <p:cNvPr id="388" name="Google Shape;388;p35"/>
          <p:cNvPicPr preferRelativeResize="0"/>
          <p:nvPr/>
        </p:nvPicPr>
        <p:blipFill rotWithShape="1">
          <a:blip r:embed="rId3">
            <a:alphaModFix/>
          </a:blip>
          <a:srcRect b="59927" l="5730" r="52531" t="10922"/>
          <a:stretch/>
        </p:blipFill>
        <p:spPr>
          <a:xfrm>
            <a:off x="2076150" y="1208800"/>
            <a:ext cx="5204150" cy="2725901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" name="Google Shape;393;p36"/>
          <p:cNvCxnSpPr/>
          <p:nvPr/>
        </p:nvCxnSpPr>
        <p:spPr>
          <a:xfrm>
            <a:off x="3659300" y="2712500"/>
            <a:ext cx="1865100" cy="8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6"/>
          <p:cNvSpPr txBox="1"/>
          <p:nvPr/>
        </p:nvSpPr>
        <p:spPr>
          <a:xfrm>
            <a:off x="3286400" y="2151500"/>
            <a:ext cx="261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rPr>
              <a:t>Queries ?</a:t>
            </a:r>
            <a:endParaRPr b="1" sz="2500">
              <a:solidFill>
                <a:srgbClr val="07376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" name="Google Shape;399;p37"/>
          <p:cNvCxnSpPr/>
          <p:nvPr/>
        </p:nvCxnSpPr>
        <p:spPr>
          <a:xfrm>
            <a:off x="3659300" y="2712500"/>
            <a:ext cx="1865100" cy="8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37"/>
          <p:cNvSpPr txBox="1"/>
          <p:nvPr/>
        </p:nvSpPr>
        <p:spPr>
          <a:xfrm>
            <a:off x="3266550" y="2135225"/>
            <a:ext cx="261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rPr>
              <a:t>Thank You !</a:t>
            </a:r>
            <a:endParaRPr b="1" sz="2500">
              <a:solidFill>
                <a:srgbClr val="07376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