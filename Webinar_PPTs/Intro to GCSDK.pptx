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y="5143500" cx="9144000"/>
  <p:notesSz cx="6858000" cy="9144000"/>
  <p:embeddedFontLst>
    <p:embeddedFont>
      <p:font typeface="Dosis"/>
      <p:regular r:id="rId62"/>
      <p:bold r:id="rId63"/>
    </p:embeddedFont>
    <p:embeddedFont>
      <p:font typeface="Titillium Web"/>
      <p:regular r:id="rId64"/>
      <p:bold r:id="rId65"/>
      <p:italic r:id="rId66"/>
      <p:boldItalic r:id="rId67"/>
    </p:embeddedFont>
    <p:embeddedFont>
      <p:font typeface="Dosis Medium"/>
      <p:regular r:id="rId68"/>
      <p:bold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Kotteeswaran Ekambaram"/>
  <p:cmAuthor clrIdx="1" id="1" initials="" lastIdx="2" name="JAYANTH 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3C8E5B-DE60-4C38-BC7E-6D5BF74BE1BC}">
  <a:tblStyle styleId="{9E3C8E5B-DE60-4C38-BC7E-6D5BF74BE1B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Dosis-regular.fntdata"/><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TitilliumWeb-regular.fntdata"/><Relationship Id="rId63" Type="http://schemas.openxmlformats.org/officeDocument/2006/relationships/font" Target="fonts/Dosis-bold.fntdata"/><Relationship Id="rId22" Type="http://schemas.openxmlformats.org/officeDocument/2006/relationships/slide" Target="slides/slide15.xml"/><Relationship Id="rId66" Type="http://schemas.openxmlformats.org/officeDocument/2006/relationships/font" Target="fonts/TitilliumWeb-italic.fntdata"/><Relationship Id="rId21" Type="http://schemas.openxmlformats.org/officeDocument/2006/relationships/slide" Target="slides/slide14.xml"/><Relationship Id="rId65" Type="http://schemas.openxmlformats.org/officeDocument/2006/relationships/font" Target="fonts/TitilliumWeb-bold.fntdata"/><Relationship Id="rId24" Type="http://schemas.openxmlformats.org/officeDocument/2006/relationships/slide" Target="slides/slide17.xml"/><Relationship Id="rId68" Type="http://schemas.openxmlformats.org/officeDocument/2006/relationships/font" Target="fonts/DosisMedium-regular.fntdata"/><Relationship Id="rId23" Type="http://schemas.openxmlformats.org/officeDocument/2006/relationships/slide" Target="slides/slide16.xml"/><Relationship Id="rId67" Type="http://schemas.openxmlformats.org/officeDocument/2006/relationships/font" Target="fonts/TitilliumWeb-bold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DosisMedium-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0-07T04:46:50.003">
    <p:pos x="120" y="442"/>
    <p:text>Is it there or do you mean application code upload into flash.</p:text>
  </p:cm>
  <p:cm authorId="1" idx="1" dt="2025-10-07T04:46:50.003">
    <p:pos x="120" y="442"/>
    <p:text>spansion , elf_to_header and the python file , for make upload sir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0-07T04:41:51.935">
    <p:pos x="600" y="1092"/>
    <p:text>Make sure the path of the openocd file and the executable permission is given before running.</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0-07T04:42:39.603">
    <p:pos x="600" y="1092"/>
    <p:text>Explain the contents of the script file.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10-07T04:45:17.234">
    <p:pos x="6000" y="0"/>
    <p:text>Cover them in a separate session. Will review them tomorrow.</p:text>
  </p:cm>
  <p:cm authorId="1" idx="2" dt="2025-10-07T04:45:17.234">
    <p:pos x="6000" y="0"/>
    <p:text>ok sir , but it can be in this ppt itself sir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6c75d0c54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6c75d0c54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97d3744084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97d3744084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8ee46d54b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8ee46d54b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ee46d54b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8ee46d54b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c75d0c54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c75d0c54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ed7e171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ed7e171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ef49428c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ef49428c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ef49428c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ef49428c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ee46d54b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ee46d54b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7d3744084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7d3744084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ed7e1715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ed7e1715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ad04fd64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4ad04fd649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ad04fd64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4ad04fd649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ad04fd64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4ad04fd649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ad04fd6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4ad04fd64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ad04fd64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4ad04fd649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ad04fd64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4ad04fd649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ad04fd64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4ad04fd649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ad04fd64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4ad04fd649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4ad04fd64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4ad04fd649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ad04fd649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ad04fd649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ee46d54b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8ee46d54b8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ee46d54b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8ee46d54b8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ee46d54b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8ee46d54b8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ee46d54b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ee46d54b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ee46d54b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8ee46d54b8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8ee46d54b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8ee46d54b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ee46d54b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8ee46d54b8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ee46d54b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ee46d54b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ee46d54b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8ee46d54b8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ee46d54b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ee46d54b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ee46d54b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ee46d54b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ee46d54b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8ee46d54b8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ee46d54b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8ee46d54b8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ee46d54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ee46d54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ee46d54b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38ee46d54b8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ee46d54b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8ee46d54b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ee46d54b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8ee46d54b8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ee46d54b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8ee46d54b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ee46d54b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8ee46d54b8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ee46d54b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ee46d54b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ee46d54b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38ee46d54b8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ee46d54b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8ee46d54b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8ee46d54b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8ee46d54b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4ad04fd64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4ad04fd649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ad04fd649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g34ad04fd649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4ad04fd64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4ad04fd649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ee46d54b8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ee46d54b8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ee46d54b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8ee46d54b8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ee46d54b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8ee46d54b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ee46d54b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8ee46d54b8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8ee46d54b8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8ee46d54b8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6bbafba8b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6bbafba8b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ad04fd649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4ad04fd649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875025" y="3484300"/>
            <a:ext cx="7269000" cy="763200"/>
          </a:xfrm>
          <a:prstGeom prst="rect">
            <a:avLst/>
          </a:prstGeom>
          <a:noFill/>
        </p:spPr>
        <p:txBody>
          <a:bodyPr anchorCtr="0" anchor="b" bIns="91425" lIns="182875" spcFirstLastPara="1" rIns="91425" wrap="square" tIns="91425">
            <a:noAutofit/>
          </a:bodyPr>
          <a:lstStyle>
            <a:lvl1pPr lvl="0" algn="ctr">
              <a:spcBef>
                <a:spcPts val="0"/>
              </a:spcBef>
              <a:spcAft>
                <a:spcPts val="0"/>
              </a:spcAft>
              <a:buClr>
                <a:srgbClr val="073763"/>
              </a:buClr>
              <a:buSzPts val="4200"/>
              <a:buFont typeface="Dosis"/>
              <a:buNone/>
              <a:defRPr sz="4200">
                <a:solidFill>
                  <a:srgbClr val="073763"/>
                </a:solidFill>
                <a:latin typeface="Dosis"/>
                <a:ea typeface="Dosis"/>
                <a:cs typeface="Dosis"/>
                <a:sym typeface="Dosi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cxnSp>
        <p:nvCxnSpPr>
          <p:cNvPr id="14" name="Google Shape;14;p2"/>
          <p:cNvCxnSpPr/>
          <p:nvPr/>
        </p:nvCxnSpPr>
        <p:spPr>
          <a:xfrm>
            <a:off x="461175" y="2673625"/>
            <a:ext cx="7569600" cy="1200"/>
          </a:xfrm>
          <a:prstGeom prst="straightConnector1">
            <a:avLst/>
          </a:prstGeom>
          <a:noFill/>
          <a:ln cap="flat" cmpd="sng" w="9525">
            <a:solidFill>
              <a:srgbClr val="FF9900"/>
            </a:solidFill>
            <a:prstDash val="solid"/>
            <a:round/>
            <a:headEnd len="med" w="med" type="none"/>
            <a:tailEnd len="med" w="med" type="none"/>
          </a:ln>
        </p:spPr>
      </p:cxnSp>
      <p:pic>
        <p:nvPicPr>
          <p:cNvPr id="15" name="Google Shape;15;p2"/>
          <p:cNvPicPr preferRelativeResize="0"/>
          <p:nvPr/>
        </p:nvPicPr>
        <p:blipFill>
          <a:blip r:embed="rId2">
            <a:alphaModFix/>
          </a:blip>
          <a:stretch>
            <a:fillRect/>
          </a:stretch>
        </p:blipFill>
        <p:spPr>
          <a:xfrm>
            <a:off x="73787" y="3300400"/>
            <a:ext cx="1600274" cy="1600274"/>
          </a:xfrm>
          <a:prstGeom prst="rect">
            <a:avLst/>
          </a:prstGeom>
          <a:noFill/>
          <a:ln>
            <a:noFill/>
          </a:ln>
        </p:spPr>
      </p:pic>
      <p:pic>
        <p:nvPicPr>
          <p:cNvPr id="16" name="Google Shape;16;p2"/>
          <p:cNvPicPr preferRelativeResize="0"/>
          <p:nvPr/>
        </p:nvPicPr>
        <p:blipFill>
          <a:blip r:embed="rId3">
            <a:alphaModFix/>
          </a:blip>
          <a:stretch>
            <a:fillRect/>
          </a:stretch>
        </p:blipFill>
        <p:spPr>
          <a:xfrm>
            <a:off x="0" y="0"/>
            <a:ext cx="9144000" cy="304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a:noFill/>
        </p:spPr>
        <p:txBody>
          <a:bodyPr anchorCtr="0" anchor="ctr" bIns="91425" lIns="182875" spcFirstLastPara="1" rIns="91425" wrap="square" tIns="91425">
            <a:noAutofit/>
          </a:bodyPr>
          <a:lstStyle>
            <a:lvl1pPr lvl="0">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1pPr>
            <a:lvl2pPr lvl="1">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2pPr>
            <a:lvl3pPr lvl="2">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3pPr>
            <a:lvl4pPr lvl="3">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4pPr>
            <a:lvl5pPr lvl="4">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5pPr>
            <a:lvl6pPr lvl="5">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6pPr>
            <a:lvl7pPr lvl="6">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7pPr>
            <a:lvl8pPr lvl="7">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8pPr>
            <a:lvl9pPr lvl="8">
              <a:spcBef>
                <a:spcPts val="0"/>
              </a:spcBef>
              <a:spcAft>
                <a:spcPts val="0"/>
              </a:spcAft>
              <a:buClr>
                <a:srgbClr val="073763"/>
              </a:buClr>
              <a:buSzPts val="3600"/>
              <a:buFont typeface="Dosis"/>
              <a:buNone/>
              <a:defRPr sz="3600">
                <a:solidFill>
                  <a:srgbClr val="073763"/>
                </a:solidFill>
                <a:latin typeface="Dosis"/>
                <a:ea typeface="Dosis"/>
                <a:cs typeface="Dosis"/>
                <a:sym typeface="Dosis"/>
              </a:defRPr>
            </a:lvl9pPr>
          </a:lstStyle>
          <a:p/>
        </p:txBody>
      </p:sp>
      <p:cxnSp>
        <p:nvCxnSpPr>
          <p:cNvPr id="19" name="Google Shape;19;p3"/>
          <p:cNvCxnSpPr>
            <a:endCxn id="18" idx="2"/>
          </p:cNvCxnSpPr>
          <p:nvPr/>
        </p:nvCxnSpPr>
        <p:spPr>
          <a:xfrm>
            <a:off x="461100" y="2978550"/>
            <a:ext cx="4110900" cy="14100"/>
          </a:xfrm>
          <a:prstGeom prst="straightConnector1">
            <a:avLst/>
          </a:prstGeom>
          <a:noFill/>
          <a:ln cap="flat" cmpd="sng" w="9525">
            <a:solidFill>
              <a:srgbClr val="FF9900"/>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lvl1pPr lvl="0">
              <a:spcBef>
                <a:spcPts val="0"/>
              </a:spcBef>
              <a:spcAft>
                <a:spcPts val="0"/>
              </a:spcAft>
              <a:buSzPts val="2800"/>
              <a:buFont typeface="Titillium Web"/>
              <a:buNone/>
              <a:defRPr>
                <a:latin typeface="Titillium Web"/>
                <a:ea typeface="Titillium Web"/>
                <a:cs typeface="Titillium Web"/>
                <a:sym typeface="Titillium Web"/>
              </a:defRPr>
            </a:lvl1pPr>
            <a:lvl2pPr lvl="1">
              <a:spcBef>
                <a:spcPts val="0"/>
              </a:spcBef>
              <a:spcAft>
                <a:spcPts val="0"/>
              </a:spcAft>
              <a:buSzPts val="2800"/>
              <a:buFont typeface="Dosis"/>
              <a:buNone/>
              <a:defRPr>
                <a:latin typeface="Dosis"/>
                <a:ea typeface="Dosis"/>
                <a:cs typeface="Dosis"/>
                <a:sym typeface="Dosis"/>
              </a:defRPr>
            </a:lvl2pPr>
            <a:lvl3pPr lvl="2">
              <a:spcBef>
                <a:spcPts val="0"/>
              </a:spcBef>
              <a:spcAft>
                <a:spcPts val="0"/>
              </a:spcAft>
              <a:buSzPts val="2800"/>
              <a:buFont typeface="Dosis"/>
              <a:buNone/>
              <a:defRPr>
                <a:latin typeface="Dosis"/>
                <a:ea typeface="Dosis"/>
                <a:cs typeface="Dosis"/>
                <a:sym typeface="Dosis"/>
              </a:defRPr>
            </a:lvl3pPr>
            <a:lvl4pPr lvl="3">
              <a:spcBef>
                <a:spcPts val="0"/>
              </a:spcBef>
              <a:spcAft>
                <a:spcPts val="0"/>
              </a:spcAft>
              <a:buSzPts val="2800"/>
              <a:buFont typeface="Dosis"/>
              <a:buNone/>
              <a:defRPr>
                <a:latin typeface="Dosis"/>
                <a:ea typeface="Dosis"/>
                <a:cs typeface="Dosis"/>
                <a:sym typeface="Dosis"/>
              </a:defRPr>
            </a:lvl4pPr>
            <a:lvl5pPr lvl="4">
              <a:spcBef>
                <a:spcPts val="0"/>
              </a:spcBef>
              <a:spcAft>
                <a:spcPts val="0"/>
              </a:spcAft>
              <a:buSzPts val="2800"/>
              <a:buFont typeface="Dosis"/>
              <a:buNone/>
              <a:defRPr>
                <a:latin typeface="Dosis"/>
                <a:ea typeface="Dosis"/>
                <a:cs typeface="Dosis"/>
                <a:sym typeface="Dosis"/>
              </a:defRPr>
            </a:lvl5pPr>
            <a:lvl6pPr lvl="5">
              <a:spcBef>
                <a:spcPts val="0"/>
              </a:spcBef>
              <a:spcAft>
                <a:spcPts val="0"/>
              </a:spcAft>
              <a:buSzPts val="2800"/>
              <a:buFont typeface="Dosis"/>
              <a:buNone/>
              <a:defRPr>
                <a:latin typeface="Dosis"/>
                <a:ea typeface="Dosis"/>
                <a:cs typeface="Dosis"/>
                <a:sym typeface="Dosis"/>
              </a:defRPr>
            </a:lvl6pPr>
            <a:lvl7pPr lvl="6">
              <a:spcBef>
                <a:spcPts val="0"/>
              </a:spcBef>
              <a:spcAft>
                <a:spcPts val="0"/>
              </a:spcAft>
              <a:buSzPts val="2800"/>
              <a:buFont typeface="Dosis"/>
              <a:buNone/>
              <a:defRPr>
                <a:latin typeface="Dosis"/>
                <a:ea typeface="Dosis"/>
                <a:cs typeface="Dosis"/>
                <a:sym typeface="Dosis"/>
              </a:defRPr>
            </a:lvl7pPr>
            <a:lvl8pPr lvl="7">
              <a:spcBef>
                <a:spcPts val="0"/>
              </a:spcBef>
              <a:spcAft>
                <a:spcPts val="0"/>
              </a:spcAft>
              <a:buSzPts val="2800"/>
              <a:buFont typeface="Dosis"/>
              <a:buNone/>
              <a:defRPr>
                <a:latin typeface="Dosis"/>
                <a:ea typeface="Dosis"/>
                <a:cs typeface="Dosis"/>
                <a:sym typeface="Dosis"/>
              </a:defRPr>
            </a:lvl8pPr>
            <a:lvl9pPr lvl="8">
              <a:spcBef>
                <a:spcPts val="0"/>
              </a:spcBef>
              <a:spcAft>
                <a:spcPts val="0"/>
              </a:spcAft>
              <a:buSzPts val="2800"/>
              <a:buFont typeface="Dosis"/>
              <a:buNone/>
              <a:defRPr>
                <a:latin typeface="Dosis"/>
                <a:ea typeface="Dosis"/>
                <a:cs typeface="Dosis"/>
                <a:sym typeface="Dosis"/>
              </a:defRPr>
            </a:lvl9pPr>
          </a:lstStyle>
          <a:p/>
        </p:txBody>
      </p:sp>
      <p:sp>
        <p:nvSpPr>
          <p:cNvPr id="22" name="Google Shape;22;p4"/>
          <p:cNvSpPr txBox="1"/>
          <p:nvPr>
            <p:ph idx="1" type="body"/>
          </p:nvPr>
        </p:nvSpPr>
        <p:spPr>
          <a:xfrm>
            <a:off x="190825" y="701700"/>
            <a:ext cx="8714700" cy="3913500"/>
          </a:xfrm>
          <a:prstGeom prst="rect">
            <a:avLst/>
          </a:prstGeom>
        </p:spPr>
        <p:txBody>
          <a:bodyPr anchorCtr="0" anchor="t" bIns="91425" lIns="91425" spcFirstLastPara="1" rIns="91425" wrap="square" tIns="91425">
            <a:noAutofit/>
          </a:bodyPr>
          <a:lstStyle>
            <a:lvl1pPr indent="-342900" lvl="0" marL="457200">
              <a:spcBef>
                <a:spcPts val="1000"/>
              </a:spcBef>
              <a:spcAft>
                <a:spcPts val="0"/>
              </a:spcAft>
              <a:buClr>
                <a:srgbClr val="0B5394"/>
              </a:buClr>
              <a:buSzPts val="1800"/>
              <a:buFont typeface="Titillium Web"/>
              <a:buChar char="●"/>
              <a:defRPr>
                <a:solidFill>
                  <a:srgbClr val="0B5394"/>
                </a:solidFill>
                <a:latin typeface="Titillium Web"/>
                <a:ea typeface="Titillium Web"/>
                <a:cs typeface="Titillium Web"/>
                <a:sym typeface="Titillium Web"/>
              </a:defRPr>
            </a:lvl1pPr>
            <a:lvl2pPr indent="-317500" lvl="1" marL="9144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2pPr>
            <a:lvl3pPr indent="-317500" lvl="2" marL="13716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3pPr>
            <a:lvl4pPr indent="-317500" lvl="3" marL="18288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4pPr>
            <a:lvl5pPr indent="-317500" lvl="4" marL="22860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5pPr>
            <a:lvl6pPr indent="-317500" lvl="5" marL="27432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6pPr>
            <a:lvl7pPr indent="-317500" lvl="6" marL="32004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7pPr>
            <a:lvl8pPr indent="-317500" lvl="7" marL="3657600">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8pPr>
            <a:lvl9pPr indent="-317500" lvl="8" marL="4114800">
              <a:spcBef>
                <a:spcPts val="1000"/>
              </a:spcBef>
              <a:spcAft>
                <a:spcPts val="1000"/>
              </a:spcAft>
              <a:buClr>
                <a:srgbClr val="0B5394"/>
              </a:buClr>
              <a:buSzPts val="1400"/>
              <a:buFont typeface="Titillium Web"/>
              <a:buChar char="■"/>
              <a:defRPr>
                <a:solidFill>
                  <a:srgbClr val="0B5394"/>
                </a:solidFill>
                <a:latin typeface="Titillium Web"/>
                <a:ea typeface="Titillium Web"/>
                <a:cs typeface="Titillium Web"/>
                <a:sym typeface="Titillium Web"/>
              </a:defRPr>
            </a:lvl9pPr>
          </a:lstStyle>
          <a:p/>
        </p:txBody>
      </p:sp>
      <p:cxnSp>
        <p:nvCxnSpPr>
          <p:cNvPr id="23" name="Google Shape;23;p4"/>
          <p:cNvCxnSpPr/>
          <p:nvPr/>
        </p:nvCxnSpPr>
        <p:spPr>
          <a:xfrm>
            <a:off x="3975" y="540025"/>
            <a:ext cx="9132000" cy="600"/>
          </a:xfrm>
          <a:prstGeom prst="straightConnector1">
            <a:avLst/>
          </a:prstGeom>
          <a:noFill/>
          <a:ln cap="flat" cmpd="sng" w="19050">
            <a:solidFill>
              <a:srgbClr val="FF9900"/>
            </a:solidFill>
            <a:prstDash val="solid"/>
            <a:round/>
            <a:headEnd len="med" w="med" type="none"/>
            <a:tailEnd len="med" w="med" type="none"/>
          </a:ln>
        </p:spPr>
      </p:cxnSp>
      <p:sp>
        <p:nvSpPr>
          <p:cNvPr id="24" name="Google Shape;24;p4"/>
          <p:cNvSpPr txBox="1"/>
          <p:nvPr>
            <p:ph idx="12" type="sldNum"/>
          </p:nvPr>
        </p:nvSpPr>
        <p:spPr>
          <a:xfrm>
            <a:off x="7818325" y="4815900"/>
            <a:ext cx="402300" cy="251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lvl1pPr lvl="0">
              <a:spcBef>
                <a:spcPts val="0"/>
              </a:spcBef>
              <a:spcAft>
                <a:spcPts val="0"/>
              </a:spcAft>
              <a:buSzPts val="2800"/>
              <a:buFont typeface="Dosis"/>
              <a:buNone/>
              <a:defRPr>
                <a:latin typeface="Dosis"/>
                <a:ea typeface="Dosis"/>
                <a:cs typeface="Dosis"/>
                <a:sym typeface="Dosis"/>
              </a:defRPr>
            </a:lvl1pPr>
            <a:lvl2pPr lvl="1">
              <a:spcBef>
                <a:spcPts val="0"/>
              </a:spcBef>
              <a:spcAft>
                <a:spcPts val="0"/>
              </a:spcAft>
              <a:buSzPts val="2800"/>
              <a:buFont typeface="Dosis"/>
              <a:buNone/>
              <a:defRPr>
                <a:latin typeface="Dosis"/>
                <a:ea typeface="Dosis"/>
                <a:cs typeface="Dosis"/>
                <a:sym typeface="Dosis"/>
              </a:defRPr>
            </a:lvl2pPr>
            <a:lvl3pPr lvl="2">
              <a:spcBef>
                <a:spcPts val="0"/>
              </a:spcBef>
              <a:spcAft>
                <a:spcPts val="0"/>
              </a:spcAft>
              <a:buSzPts val="2800"/>
              <a:buFont typeface="Dosis"/>
              <a:buNone/>
              <a:defRPr>
                <a:latin typeface="Dosis"/>
                <a:ea typeface="Dosis"/>
                <a:cs typeface="Dosis"/>
                <a:sym typeface="Dosis"/>
              </a:defRPr>
            </a:lvl3pPr>
            <a:lvl4pPr lvl="3">
              <a:spcBef>
                <a:spcPts val="0"/>
              </a:spcBef>
              <a:spcAft>
                <a:spcPts val="0"/>
              </a:spcAft>
              <a:buSzPts val="2800"/>
              <a:buFont typeface="Dosis"/>
              <a:buNone/>
              <a:defRPr>
                <a:latin typeface="Dosis"/>
                <a:ea typeface="Dosis"/>
                <a:cs typeface="Dosis"/>
                <a:sym typeface="Dosis"/>
              </a:defRPr>
            </a:lvl4pPr>
            <a:lvl5pPr lvl="4">
              <a:spcBef>
                <a:spcPts val="0"/>
              </a:spcBef>
              <a:spcAft>
                <a:spcPts val="0"/>
              </a:spcAft>
              <a:buSzPts val="2800"/>
              <a:buFont typeface="Dosis"/>
              <a:buNone/>
              <a:defRPr>
                <a:latin typeface="Dosis"/>
                <a:ea typeface="Dosis"/>
                <a:cs typeface="Dosis"/>
                <a:sym typeface="Dosis"/>
              </a:defRPr>
            </a:lvl5pPr>
            <a:lvl6pPr lvl="5">
              <a:spcBef>
                <a:spcPts val="0"/>
              </a:spcBef>
              <a:spcAft>
                <a:spcPts val="0"/>
              </a:spcAft>
              <a:buSzPts val="2800"/>
              <a:buFont typeface="Dosis"/>
              <a:buNone/>
              <a:defRPr>
                <a:latin typeface="Dosis"/>
                <a:ea typeface="Dosis"/>
                <a:cs typeface="Dosis"/>
                <a:sym typeface="Dosis"/>
              </a:defRPr>
            </a:lvl6pPr>
            <a:lvl7pPr lvl="6">
              <a:spcBef>
                <a:spcPts val="0"/>
              </a:spcBef>
              <a:spcAft>
                <a:spcPts val="0"/>
              </a:spcAft>
              <a:buSzPts val="2800"/>
              <a:buFont typeface="Dosis"/>
              <a:buNone/>
              <a:defRPr>
                <a:latin typeface="Dosis"/>
                <a:ea typeface="Dosis"/>
                <a:cs typeface="Dosis"/>
                <a:sym typeface="Dosis"/>
              </a:defRPr>
            </a:lvl7pPr>
            <a:lvl8pPr lvl="7">
              <a:spcBef>
                <a:spcPts val="0"/>
              </a:spcBef>
              <a:spcAft>
                <a:spcPts val="0"/>
              </a:spcAft>
              <a:buSzPts val="2800"/>
              <a:buFont typeface="Dosis"/>
              <a:buNone/>
              <a:defRPr>
                <a:latin typeface="Dosis"/>
                <a:ea typeface="Dosis"/>
                <a:cs typeface="Dosis"/>
                <a:sym typeface="Dosis"/>
              </a:defRPr>
            </a:lvl8pPr>
            <a:lvl9pPr lvl="8">
              <a:spcBef>
                <a:spcPts val="0"/>
              </a:spcBef>
              <a:spcAft>
                <a:spcPts val="0"/>
              </a:spcAft>
              <a:buSzPts val="2800"/>
              <a:buFont typeface="Dosis"/>
              <a:buNone/>
              <a:defRPr>
                <a:latin typeface="Dosis"/>
                <a:ea typeface="Dosis"/>
                <a:cs typeface="Dosis"/>
                <a:sym typeface="Dosis"/>
              </a:defRPr>
            </a:lvl9pPr>
          </a:lstStyle>
          <a:p/>
        </p:txBody>
      </p:sp>
      <p:sp>
        <p:nvSpPr>
          <p:cNvPr id="27" name="Google Shape;27;p5"/>
          <p:cNvSpPr txBox="1"/>
          <p:nvPr>
            <p:ph idx="1" type="body"/>
          </p:nvPr>
        </p:nvSpPr>
        <p:spPr>
          <a:xfrm>
            <a:off x="270350" y="739475"/>
            <a:ext cx="4041300" cy="3943800"/>
          </a:xfrm>
          <a:prstGeom prst="rect">
            <a:avLst/>
          </a:prstGeom>
        </p:spPr>
        <p:txBody>
          <a:bodyPr anchorCtr="0" anchor="t" bIns="91425" lIns="91425" spcFirstLastPara="1" rIns="91425" wrap="square" tIns="91425">
            <a:noAutofit/>
          </a:bodyPr>
          <a:lstStyle>
            <a:lvl1pPr indent="-317500" lvl="0" marL="457200">
              <a:spcBef>
                <a:spcPts val="1000"/>
              </a:spcBef>
              <a:spcAft>
                <a:spcPts val="0"/>
              </a:spcAft>
              <a:buClr>
                <a:srgbClr val="073763"/>
              </a:buClr>
              <a:buSzPts val="1400"/>
              <a:buFont typeface="Titillium Web"/>
              <a:buChar char="●"/>
              <a:defRPr sz="1400">
                <a:solidFill>
                  <a:srgbClr val="073763"/>
                </a:solidFill>
                <a:latin typeface="Titillium Web"/>
                <a:ea typeface="Titillium Web"/>
                <a:cs typeface="Titillium Web"/>
                <a:sym typeface="Titillium Web"/>
              </a:defRPr>
            </a:lvl1pPr>
            <a:lvl2pPr indent="-304800" lvl="1" marL="9144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2pPr>
            <a:lvl3pPr indent="-304800" lvl="2" marL="13716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3pPr>
            <a:lvl4pPr indent="-304800" lvl="3" marL="18288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4pPr>
            <a:lvl5pPr indent="-304800" lvl="4" marL="22860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5pPr>
            <a:lvl6pPr indent="-304800" lvl="5" marL="27432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6pPr>
            <a:lvl7pPr indent="-304800" lvl="6" marL="32004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7pPr>
            <a:lvl8pPr indent="-304800" lvl="7" marL="36576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8pPr>
            <a:lvl9pPr indent="-304800" lvl="8" marL="4114800">
              <a:spcBef>
                <a:spcPts val="1000"/>
              </a:spcBef>
              <a:spcAft>
                <a:spcPts val="1000"/>
              </a:spcAft>
              <a:buClr>
                <a:srgbClr val="073763"/>
              </a:buClr>
              <a:buSzPts val="1200"/>
              <a:buFont typeface="Titillium Web"/>
              <a:buChar char="■"/>
              <a:defRPr sz="1200">
                <a:solidFill>
                  <a:srgbClr val="073763"/>
                </a:solidFill>
                <a:latin typeface="Titillium Web"/>
                <a:ea typeface="Titillium Web"/>
                <a:cs typeface="Titillium Web"/>
                <a:sym typeface="Titillium Web"/>
              </a:defRPr>
            </a:lvl9pPr>
          </a:lstStyle>
          <a:p/>
        </p:txBody>
      </p:sp>
      <p:sp>
        <p:nvSpPr>
          <p:cNvPr id="28" name="Google Shape;28;p5"/>
          <p:cNvSpPr txBox="1"/>
          <p:nvPr>
            <p:ph idx="2" type="body"/>
          </p:nvPr>
        </p:nvSpPr>
        <p:spPr>
          <a:xfrm>
            <a:off x="4691275" y="739475"/>
            <a:ext cx="4140900" cy="3943800"/>
          </a:xfrm>
          <a:prstGeom prst="rect">
            <a:avLst/>
          </a:prstGeom>
        </p:spPr>
        <p:txBody>
          <a:bodyPr anchorCtr="0" anchor="t" bIns="91425" lIns="91425" spcFirstLastPara="1" rIns="91425" wrap="square" tIns="91425">
            <a:noAutofit/>
          </a:bodyPr>
          <a:lstStyle>
            <a:lvl1pPr indent="-317500" lvl="0" marL="457200">
              <a:spcBef>
                <a:spcPts val="1000"/>
              </a:spcBef>
              <a:spcAft>
                <a:spcPts val="0"/>
              </a:spcAft>
              <a:buClr>
                <a:srgbClr val="073763"/>
              </a:buClr>
              <a:buSzPts val="1400"/>
              <a:buFont typeface="Titillium Web"/>
              <a:buChar char="●"/>
              <a:defRPr sz="1400">
                <a:solidFill>
                  <a:srgbClr val="073763"/>
                </a:solidFill>
                <a:latin typeface="Titillium Web"/>
                <a:ea typeface="Titillium Web"/>
                <a:cs typeface="Titillium Web"/>
                <a:sym typeface="Titillium Web"/>
              </a:defRPr>
            </a:lvl1pPr>
            <a:lvl2pPr indent="-304800" lvl="1" marL="9144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2pPr>
            <a:lvl3pPr indent="-304800" lvl="2" marL="13716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3pPr>
            <a:lvl4pPr indent="-304800" lvl="3" marL="18288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4pPr>
            <a:lvl5pPr indent="-304800" lvl="4" marL="22860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5pPr>
            <a:lvl6pPr indent="-304800" lvl="5" marL="27432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6pPr>
            <a:lvl7pPr indent="-304800" lvl="6" marL="32004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7pPr>
            <a:lvl8pPr indent="-304800" lvl="7" marL="3657600">
              <a:spcBef>
                <a:spcPts val="1000"/>
              </a:spcBef>
              <a:spcAft>
                <a:spcPts val="0"/>
              </a:spcAft>
              <a:buClr>
                <a:srgbClr val="073763"/>
              </a:buClr>
              <a:buSzPts val="1200"/>
              <a:buFont typeface="Titillium Web"/>
              <a:buChar char="○"/>
              <a:defRPr sz="1200">
                <a:solidFill>
                  <a:srgbClr val="073763"/>
                </a:solidFill>
                <a:latin typeface="Titillium Web"/>
                <a:ea typeface="Titillium Web"/>
                <a:cs typeface="Titillium Web"/>
                <a:sym typeface="Titillium Web"/>
              </a:defRPr>
            </a:lvl8pPr>
            <a:lvl9pPr indent="-304800" lvl="8" marL="4114800">
              <a:spcBef>
                <a:spcPts val="1000"/>
              </a:spcBef>
              <a:spcAft>
                <a:spcPts val="1000"/>
              </a:spcAft>
              <a:buClr>
                <a:srgbClr val="073763"/>
              </a:buClr>
              <a:buSzPts val="1200"/>
              <a:buFont typeface="Titillium Web"/>
              <a:buChar char="■"/>
              <a:defRPr sz="1200">
                <a:solidFill>
                  <a:srgbClr val="073763"/>
                </a:solidFill>
                <a:latin typeface="Titillium Web"/>
                <a:ea typeface="Titillium Web"/>
                <a:cs typeface="Titillium Web"/>
                <a:sym typeface="Titillium Web"/>
              </a:defRPr>
            </a:lvl9pPr>
          </a:lstStyle>
          <a:p/>
        </p:txBody>
      </p:sp>
      <p:cxnSp>
        <p:nvCxnSpPr>
          <p:cNvPr id="29" name="Google Shape;29;p5"/>
          <p:cNvCxnSpPr/>
          <p:nvPr/>
        </p:nvCxnSpPr>
        <p:spPr>
          <a:xfrm>
            <a:off x="3975" y="540025"/>
            <a:ext cx="9132000" cy="600"/>
          </a:xfrm>
          <a:prstGeom prst="straightConnector1">
            <a:avLst/>
          </a:prstGeom>
          <a:noFill/>
          <a:ln cap="flat" cmpd="sng" w="19050">
            <a:solidFill>
              <a:srgbClr val="FF9900"/>
            </a:solidFill>
            <a:prstDash val="solid"/>
            <a:round/>
            <a:headEnd len="med" w="med" type="none"/>
            <a:tailEnd len="med" w="med" type="none"/>
          </a:ln>
        </p:spPr>
      </p:cxnSp>
      <p:sp>
        <p:nvSpPr>
          <p:cNvPr id="30" name="Google Shape;30;p5"/>
          <p:cNvSpPr txBox="1"/>
          <p:nvPr>
            <p:ph idx="12" type="sldNum"/>
          </p:nvPr>
        </p:nvSpPr>
        <p:spPr>
          <a:xfrm>
            <a:off x="7818325" y="4815900"/>
            <a:ext cx="402300" cy="251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lvl1pPr lvl="0">
              <a:spcBef>
                <a:spcPts val="0"/>
              </a:spcBef>
              <a:spcAft>
                <a:spcPts val="0"/>
              </a:spcAft>
              <a:buSzPts val="2800"/>
              <a:buFont typeface="Dosis"/>
              <a:buNone/>
              <a:defRPr>
                <a:latin typeface="Dosis"/>
                <a:ea typeface="Dosis"/>
                <a:cs typeface="Dosis"/>
                <a:sym typeface="Dosis"/>
              </a:defRPr>
            </a:lvl1pPr>
            <a:lvl2pPr lvl="1">
              <a:spcBef>
                <a:spcPts val="0"/>
              </a:spcBef>
              <a:spcAft>
                <a:spcPts val="0"/>
              </a:spcAft>
              <a:buSzPts val="2800"/>
              <a:buFont typeface="Dosis"/>
              <a:buNone/>
              <a:defRPr>
                <a:latin typeface="Dosis"/>
                <a:ea typeface="Dosis"/>
                <a:cs typeface="Dosis"/>
                <a:sym typeface="Dosis"/>
              </a:defRPr>
            </a:lvl2pPr>
            <a:lvl3pPr lvl="2">
              <a:spcBef>
                <a:spcPts val="0"/>
              </a:spcBef>
              <a:spcAft>
                <a:spcPts val="0"/>
              </a:spcAft>
              <a:buSzPts val="2800"/>
              <a:buFont typeface="Dosis"/>
              <a:buNone/>
              <a:defRPr>
                <a:latin typeface="Dosis"/>
                <a:ea typeface="Dosis"/>
                <a:cs typeface="Dosis"/>
                <a:sym typeface="Dosis"/>
              </a:defRPr>
            </a:lvl3pPr>
            <a:lvl4pPr lvl="3">
              <a:spcBef>
                <a:spcPts val="0"/>
              </a:spcBef>
              <a:spcAft>
                <a:spcPts val="0"/>
              </a:spcAft>
              <a:buSzPts val="2800"/>
              <a:buFont typeface="Dosis"/>
              <a:buNone/>
              <a:defRPr>
                <a:latin typeface="Dosis"/>
                <a:ea typeface="Dosis"/>
                <a:cs typeface="Dosis"/>
                <a:sym typeface="Dosis"/>
              </a:defRPr>
            </a:lvl4pPr>
            <a:lvl5pPr lvl="4">
              <a:spcBef>
                <a:spcPts val="0"/>
              </a:spcBef>
              <a:spcAft>
                <a:spcPts val="0"/>
              </a:spcAft>
              <a:buSzPts val="2800"/>
              <a:buFont typeface="Dosis"/>
              <a:buNone/>
              <a:defRPr>
                <a:latin typeface="Dosis"/>
                <a:ea typeface="Dosis"/>
                <a:cs typeface="Dosis"/>
                <a:sym typeface="Dosis"/>
              </a:defRPr>
            </a:lvl5pPr>
            <a:lvl6pPr lvl="5">
              <a:spcBef>
                <a:spcPts val="0"/>
              </a:spcBef>
              <a:spcAft>
                <a:spcPts val="0"/>
              </a:spcAft>
              <a:buSzPts val="2800"/>
              <a:buFont typeface="Dosis"/>
              <a:buNone/>
              <a:defRPr>
                <a:latin typeface="Dosis"/>
                <a:ea typeface="Dosis"/>
                <a:cs typeface="Dosis"/>
                <a:sym typeface="Dosis"/>
              </a:defRPr>
            </a:lvl6pPr>
            <a:lvl7pPr lvl="6">
              <a:spcBef>
                <a:spcPts val="0"/>
              </a:spcBef>
              <a:spcAft>
                <a:spcPts val="0"/>
              </a:spcAft>
              <a:buSzPts val="2800"/>
              <a:buFont typeface="Dosis"/>
              <a:buNone/>
              <a:defRPr>
                <a:latin typeface="Dosis"/>
                <a:ea typeface="Dosis"/>
                <a:cs typeface="Dosis"/>
                <a:sym typeface="Dosis"/>
              </a:defRPr>
            </a:lvl7pPr>
            <a:lvl8pPr lvl="7">
              <a:spcBef>
                <a:spcPts val="0"/>
              </a:spcBef>
              <a:spcAft>
                <a:spcPts val="0"/>
              </a:spcAft>
              <a:buSzPts val="2800"/>
              <a:buFont typeface="Dosis"/>
              <a:buNone/>
              <a:defRPr>
                <a:latin typeface="Dosis"/>
                <a:ea typeface="Dosis"/>
                <a:cs typeface="Dosis"/>
                <a:sym typeface="Dosis"/>
              </a:defRPr>
            </a:lvl8pPr>
            <a:lvl9pPr lvl="8">
              <a:spcBef>
                <a:spcPts val="0"/>
              </a:spcBef>
              <a:spcAft>
                <a:spcPts val="0"/>
              </a:spcAft>
              <a:buSzPts val="2800"/>
              <a:buFont typeface="Dosis"/>
              <a:buNone/>
              <a:defRPr>
                <a:latin typeface="Dosis"/>
                <a:ea typeface="Dosis"/>
                <a:cs typeface="Dosis"/>
                <a:sym typeface="Dosis"/>
              </a:defRPr>
            </a:lvl9pPr>
          </a:lstStyle>
          <a:p/>
        </p:txBody>
      </p:sp>
      <p:cxnSp>
        <p:nvCxnSpPr>
          <p:cNvPr id="33" name="Google Shape;33;p6"/>
          <p:cNvCxnSpPr/>
          <p:nvPr/>
        </p:nvCxnSpPr>
        <p:spPr>
          <a:xfrm>
            <a:off x="3975" y="540025"/>
            <a:ext cx="9132000" cy="600"/>
          </a:xfrm>
          <a:prstGeom prst="straightConnector1">
            <a:avLst/>
          </a:prstGeom>
          <a:noFill/>
          <a:ln cap="flat" cmpd="sng" w="19050">
            <a:solidFill>
              <a:srgbClr val="FF9900"/>
            </a:solidFill>
            <a:prstDash val="solid"/>
            <a:round/>
            <a:headEnd len="med" w="med" type="none"/>
            <a:tailEnd len="med" w="med" type="none"/>
          </a:ln>
        </p:spPr>
      </p:cxnSp>
      <p:sp>
        <p:nvSpPr>
          <p:cNvPr id="34" name="Google Shape;34;p6"/>
          <p:cNvSpPr txBox="1"/>
          <p:nvPr>
            <p:ph idx="12" type="sldNum"/>
          </p:nvPr>
        </p:nvSpPr>
        <p:spPr>
          <a:xfrm>
            <a:off x="8238625" y="4892100"/>
            <a:ext cx="337800" cy="251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35" name="Shape 35"/>
        <p:cNvGrpSpPr/>
        <p:nvPr/>
      </p:nvGrpSpPr>
      <p:grpSpPr>
        <a:xfrm>
          <a:off x="0" y="0"/>
          <a:ext cx="0" cy="0"/>
          <a:chOff x="0" y="0"/>
          <a:chExt cx="0" cy="0"/>
        </a:xfrm>
      </p:grpSpPr>
      <p:sp>
        <p:nvSpPr>
          <p:cNvPr id="36" name="Google Shape;36;p7"/>
          <p:cNvSpPr txBox="1"/>
          <p:nvPr>
            <p:ph type="ctrTitle"/>
          </p:nvPr>
        </p:nvSpPr>
        <p:spPr>
          <a:xfrm>
            <a:off x="311700" y="1862025"/>
            <a:ext cx="8520600" cy="763200"/>
          </a:xfrm>
          <a:prstGeom prst="rect">
            <a:avLst/>
          </a:prstGeom>
          <a:noFill/>
          <a:ln>
            <a:noFill/>
          </a:ln>
        </p:spPr>
        <p:txBody>
          <a:bodyPr anchorCtr="0" anchor="b" bIns="91425" lIns="182875" spcFirstLastPara="1" rIns="91425" wrap="square" tIns="91425">
            <a:noAutofit/>
          </a:bodyPr>
          <a:lstStyle>
            <a:lvl1pPr lvl="0" algn="ctr">
              <a:lnSpc>
                <a:spcPct val="100000"/>
              </a:lnSpc>
              <a:spcBef>
                <a:spcPts val="0"/>
              </a:spcBef>
              <a:spcAft>
                <a:spcPts val="0"/>
              </a:spcAft>
              <a:buClr>
                <a:srgbClr val="073763"/>
              </a:buClr>
              <a:buSzPts val="4200"/>
              <a:buFont typeface="Arial"/>
              <a:buNone/>
              <a:defRPr sz="4200">
                <a:solidFill>
                  <a:srgbClr val="073763"/>
                </a:solidFill>
                <a:latin typeface="Arial"/>
                <a:ea typeface="Arial"/>
                <a:cs typeface="Arial"/>
                <a:sym typeface="Aria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7" name="Google Shape;37;p7"/>
          <p:cNvSpPr txBox="1"/>
          <p:nvPr>
            <p:ph idx="1" type="subTitle"/>
          </p:nvPr>
        </p:nvSpPr>
        <p:spPr>
          <a:xfrm>
            <a:off x="311688" y="26736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1000"/>
              </a:spcBef>
              <a:spcAft>
                <a:spcPts val="0"/>
              </a:spcAft>
              <a:buSzPts val="1800"/>
              <a:buFont typeface="Arial"/>
              <a:buNone/>
              <a:defRPr>
                <a:latin typeface="Arial"/>
                <a:ea typeface="Arial"/>
                <a:cs typeface="Arial"/>
                <a:sym typeface="Arial"/>
              </a:defRPr>
            </a:lvl1pPr>
            <a:lvl2pPr lvl="1" algn="ctr">
              <a:lnSpc>
                <a:spcPct val="100000"/>
              </a:lnSpc>
              <a:spcBef>
                <a:spcPts val="1000"/>
              </a:spcBef>
              <a:spcAft>
                <a:spcPts val="0"/>
              </a:spcAft>
              <a:buSzPts val="2800"/>
              <a:buFont typeface="Arial"/>
              <a:buNone/>
              <a:defRPr sz="2800">
                <a:latin typeface="Arial"/>
                <a:ea typeface="Arial"/>
                <a:cs typeface="Arial"/>
                <a:sym typeface="Arial"/>
              </a:defRPr>
            </a:lvl2pPr>
            <a:lvl3pPr lvl="2" algn="ctr">
              <a:lnSpc>
                <a:spcPct val="100000"/>
              </a:lnSpc>
              <a:spcBef>
                <a:spcPts val="1000"/>
              </a:spcBef>
              <a:spcAft>
                <a:spcPts val="0"/>
              </a:spcAft>
              <a:buSzPts val="2800"/>
              <a:buFont typeface="Arial"/>
              <a:buNone/>
              <a:defRPr sz="2800">
                <a:latin typeface="Arial"/>
                <a:ea typeface="Arial"/>
                <a:cs typeface="Arial"/>
                <a:sym typeface="Arial"/>
              </a:defRPr>
            </a:lvl3pPr>
            <a:lvl4pPr lvl="3" algn="ctr">
              <a:lnSpc>
                <a:spcPct val="100000"/>
              </a:lnSpc>
              <a:spcBef>
                <a:spcPts val="1000"/>
              </a:spcBef>
              <a:spcAft>
                <a:spcPts val="0"/>
              </a:spcAft>
              <a:buSzPts val="2800"/>
              <a:buFont typeface="Arial"/>
              <a:buNone/>
              <a:defRPr sz="2800">
                <a:latin typeface="Arial"/>
                <a:ea typeface="Arial"/>
                <a:cs typeface="Arial"/>
                <a:sym typeface="Arial"/>
              </a:defRPr>
            </a:lvl4pPr>
            <a:lvl5pPr lvl="4" algn="ctr">
              <a:lnSpc>
                <a:spcPct val="100000"/>
              </a:lnSpc>
              <a:spcBef>
                <a:spcPts val="1000"/>
              </a:spcBef>
              <a:spcAft>
                <a:spcPts val="0"/>
              </a:spcAft>
              <a:buSzPts val="2800"/>
              <a:buFont typeface="Arial"/>
              <a:buNone/>
              <a:defRPr sz="2800">
                <a:latin typeface="Arial"/>
                <a:ea typeface="Arial"/>
                <a:cs typeface="Arial"/>
                <a:sym typeface="Arial"/>
              </a:defRPr>
            </a:lvl5pPr>
            <a:lvl6pPr lvl="5" algn="ctr">
              <a:lnSpc>
                <a:spcPct val="100000"/>
              </a:lnSpc>
              <a:spcBef>
                <a:spcPts val="1000"/>
              </a:spcBef>
              <a:spcAft>
                <a:spcPts val="0"/>
              </a:spcAft>
              <a:buSzPts val="2800"/>
              <a:buFont typeface="Arial"/>
              <a:buNone/>
              <a:defRPr sz="2800">
                <a:latin typeface="Arial"/>
                <a:ea typeface="Arial"/>
                <a:cs typeface="Arial"/>
                <a:sym typeface="Arial"/>
              </a:defRPr>
            </a:lvl6pPr>
            <a:lvl7pPr lvl="6" algn="ctr">
              <a:lnSpc>
                <a:spcPct val="100000"/>
              </a:lnSpc>
              <a:spcBef>
                <a:spcPts val="1000"/>
              </a:spcBef>
              <a:spcAft>
                <a:spcPts val="0"/>
              </a:spcAft>
              <a:buSzPts val="2800"/>
              <a:buFont typeface="Arial"/>
              <a:buNone/>
              <a:defRPr sz="2800">
                <a:latin typeface="Arial"/>
                <a:ea typeface="Arial"/>
                <a:cs typeface="Arial"/>
                <a:sym typeface="Arial"/>
              </a:defRPr>
            </a:lvl7pPr>
            <a:lvl8pPr lvl="7" algn="ctr">
              <a:lnSpc>
                <a:spcPct val="100000"/>
              </a:lnSpc>
              <a:spcBef>
                <a:spcPts val="1000"/>
              </a:spcBef>
              <a:spcAft>
                <a:spcPts val="0"/>
              </a:spcAft>
              <a:buSzPts val="2800"/>
              <a:buFont typeface="Arial"/>
              <a:buNone/>
              <a:defRPr sz="2800">
                <a:latin typeface="Arial"/>
                <a:ea typeface="Arial"/>
                <a:cs typeface="Arial"/>
                <a:sym typeface="Arial"/>
              </a:defRPr>
            </a:lvl8pPr>
            <a:lvl9pPr lvl="8" algn="ctr">
              <a:lnSpc>
                <a:spcPct val="100000"/>
              </a:lnSpc>
              <a:spcBef>
                <a:spcPts val="1000"/>
              </a:spcBef>
              <a:spcAft>
                <a:spcPts val="0"/>
              </a:spcAft>
              <a:buSzPts val="2800"/>
              <a:buFont typeface="Arial"/>
              <a:buNone/>
              <a:defRPr sz="2800">
                <a:latin typeface="Arial"/>
                <a:ea typeface="Arial"/>
                <a:cs typeface="Arial"/>
                <a:sym typeface="Arial"/>
              </a:defRPr>
            </a:lvl9pPr>
          </a:lstStyle>
          <a:p/>
        </p:txBody>
      </p:sp>
      <p:cxnSp>
        <p:nvCxnSpPr>
          <p:cNvPr id="38" name="Google Shape;38;p7"/>
          <p:cNvCxnSpPr/>
          <p:nvPr/>
        </p:nvCxnSpPr>
        <p:spPr>
          <a:xfrm>
            <a:off x="461175" y="2673625"/>
            <a:ext cx="7569600" cy="1200"/>
          </a:xfrm>
          <a:prstGeom prst="straightConnector1">
            <a:avLst/>
          </a:prstGeom>
          <a:noFill/>
          <a:ln cap="flat" cmpd="sng" w="9525">
            <a:solidFill>
              <a:srgbClr val="FF9900"/>
            </a:solidFill>
            <a:prstDash val="solid"/>
            <a:round/>
            <a:headEnd len="sm" w="sm" type="none"/>
            <a:tailEnd len="sm" w="sm" type="none"/>
          </a:ln>
        </p:spPr>
      </p:cxnSp>
      <p:pic>
        <p:nvPicPr>
          <p:cNvPr id="39" name="Google Shape;39;p7"/>
          <p:cNvPicPr preferRelativeResize="0"/>
          <p:nvPr/>
        </p:nvPicPr>
        <p:blipFill rotWithShape="1">
          <a:blip r:embed="rId2">
            <a:alphaModFix/>
          </a:blip>
          <a:srcRect b="0" l="0" r="0" t="0"/>
          <a:stretch/>
        </p:blipFill>
        <p:spPr>
          <a:xfrm>
            <a:off x="3771862" y="52850"/>
            <a:ext cx="1600274" cy="160027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42" name="Shape 42"/>
        <p:cNvGrpSpPr/>
        <p:nvPr/>
      </p:nvGrpSpPr>
      <p:grpSpPr>
        <a:xfrm>
          <a:off x="0" y="0"/>
          <a:ext cx="0" cy="0"/>
          <a:chOff x="0" y="0"/>
          <a:chExt cx="0" cy="0"/>
        </a:xfrm>
      </p:grpSpPr>
      <p:sp>
        <p:nvSpPr>
          <p:cNvPr id="43" name="Google Shape;43;p9"/>
          <p:cNvSpPr txBox="1"/>
          <p:nvPr>
            <p:ph type="ctrTitle"/>
          </p:nvPr>
        </p:nvSpPr>
        <p:spPr>
          <a:xfrm>
            <a:off x="311700" y="1862025"/>
            <a:ext cx="8520600" cy="763200"/>
          </a:xfrm>
          <a:prstGeom prst="rect">
            <a:avLst/>
          </a:prstGeom>
          <a:noFill/>
          <a:ln>
            <a:noFill/>
          </a:ln>
        </p:spPr>
        <p:txBody>
          <a:bodyPr anchorCtr="0" anchor="b" bIns="91425" lIns="182875" spcFirstLastPara="1" rIns="91425" wrap="square" tIns="91425">
            <a:noAutofit/>
          </a:bodyPr>
          <a:lstStyle>
            <a:lvl1pPr lvl="0" algn="ctr">
              <a:lnSpc>
                <a:spcPct val="100000"/>
              </a:lnSpc>
              <a:spcBef>
                <a:spcPts val="0"/>
              </a:spcBef>
              <a:spcAft>
                <a:spcPts val="0"/>
              </a:spcAft>
              <a:buClr>
                <a:srgbClr val="073763"/>
              </a:buClr>
              <a:buSzPts val="4200"/>
              <a:buFont typeface="Dosis"/>
              <a:buNone/>
              <a:defRPr sz="4200">
                <a:solidFill>
                  <a:srgbClr val="073763"/>
                </a:solidFill>
                <a:latin typeface="Dosis"/>
                <a:ea typeface="Dosis"/>
                <a:cs typeface="Dosis"/>
                <a:sym typeface="Dosi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4" name="Google Shape;44;p9"/>
          <p:cNvSpPr txBox="1"/>
          <p:nvPr>
            <p:ph idx="1" type="subTitle"/>
          </p:nvPr>
        </p:nvSpPr>
        <p:spPr>
          <a:xfrm>
            <a:off x="311688" y="26736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1000"/>
              </a:spcBef>
              <a:spcAft>
                <a:spcPts val="0"/>
              </a:spcAft>
              <a:buSzPts val="1800"/>
              <a:buFont typeface="Titillium Web"/>
              <a:buNone/>
              <a:defRPr>
                <a:latin typeface="Titillium Web"/>
                <a:ea typeface="Titillium Web"/>
                <a:cs typeface="Titillium Web"/>
                <a:sym typeface="Titillium Web"/>
              </a:defRPr>
            </a:lvl1pPr>
            <a:lvl2pPr lvl="1"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2pPr>
            <a:lvl3pPr lvl="2"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3pPr>
            <a:lvl4pPr lvl="3"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4pPr>
            <a:lvl5pPr lvl="4"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5pPr>
            <a:lvl6pPr lvl="5"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6pPr>
            <a:lvl7pPr lvl="6"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7pPr>
            <a:lvl8pPr lvl="7"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8pPr>
            <a:lvl9pPr lvl="8" algn="ctr">
              <a:lnSpc>
                <a:spcPct val="100000"/>
              </a:lnSpc>
              <a:spcBef>
                <a:spcPts val="1000"/>
              </a:spcBef>
              <a:spcAft>
                <a:spcPts val="0"/>
              </a:spcAft>
              <a:buSzPts val="2800"/>
              <a:buFont typeface="Titillium Web"/>
              <a:buNone/>
              <a:defRPr sz="2800">
                <a:latin typeface="Titillium Web"/>
                <a:ea typeface="Titillium Web"/>
                <a:cs typeface="Titillium Web"/>
                <a:sym typeface="Titillium Web"/>
              </a:defRPr>
            </a:lvl9pPr>
          </a:lstStyle>
          <a:p/>
        </p:txBody>
      </p:sp>
      <p:cxnSp>
        <p:nvCxnSpPr>
          <p:cNvPr id="45" name="Google Shape;45;p9"/>
          <p:cNvCxnSpPr/>
          <p:nvPr/>
        </p:nvCxnSpPr>
        <p:spPr>
          <a:xfrm>
            <a:off x="461175" y="2673625"/>
            <a:ext cx="7569600" cy="1200"/>
          </a:xfrm>
          <a:prstGeom prst="straightConnector1">
            <a:avLst/>
          </a:prstGeom>
          <a:noFill/>
          <a:ln cap="flat" cmpd="sng" w="9525">
            <a:solidFill>
              <a:srgbClr val="FF9900"/>
            </a:solidFill>
            <a:prstDash val="solid"/>
            <a:round/>
            <a:headEnd len="sm" w="sm" type="none"/>
            <a:tailEnd len="sm" w="sm" type="none"/>
          </a:ln>
        </p:spPr>
      </p:cxnSp>
      <p:pic>
        <p:nvPicPr>
          <p:cNvPr id="46" name="Google Shape;46;p9"/>
          <p:cNvPicPr preferRelativeResize="0"/>
          <p:nvPr/>
        </p:nvPicPr>
        <p:blipFill rotWithShape="1">
          <a:blip r:embed="rId2">
            <a:alphaModFix/>
          </a:blip>
          <a:srcRect b="0" l="0" r="0" t="0"/>
          <a:stretch/>
        </p:blipFill>
        <p:spPr>
          <a:xfrm>
            <a:off x="3771862" y="52850"/>
            <a:ext cx="1600274" cy="160027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lvl1pPr lvl="0">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1pPr>
            <a:lvl2pPr lvl="1">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2pPr>
            <a:lvl3pPr lvl="2">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3pPr>
            <a:lvl4pPr lvl="3">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4pPr>
            <a:lvl5pPr lvl="4">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5pPr>
            <a:lvl6pPr lvl="5">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6pPr>
            <a:lvl7pPr lvl="6">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7pPr>
            <a:lvl8pPr lvl="7">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8pPr>
            <a:lvl9pPr lvl="8">
              <a:spcBef>
                <a:spcPts val="0"/>
              </a:spcBef>
              <a:spcAft>
                <a:spcPts val="0"/>
              </a:spcAft>
              <a:buClr>
                <a:schemeClr val="lt1"/>
              </a:buClr>
              <a:buSzPts val="2800"/>
              <a:buFont typeface="Titillium Web"/>
              <a:buNone/>
              <a:defRPr b="1" sz="2800">
                <a:solidFill>
                  <a:schemeClr val="lt1"/>
                </a:solidFill>
                <a:latin typeface="Titillium Web"/>
                <a:ea typeface="Titillium Web"/>
                <a:cs typeface="Titillium Web"/>
                <a:sym typeface="Titillium Web"/>
              </a:defRPr>
            </a:lvl9pPr>
          </a:lstStyle>
          <a:p/>
        </p:txBody>
      </p:sp>
      <p:sp>
        <p:nvSpPr>
          <p:cNvPr id="7" name="Google Shape;7;p1"/>
          <p:cNvSpPr txBox="1"/>
          <p:nvPr>
            <p:ph idx="1" type="body"/>
          </p:nvPr>
        </p:nvSpPr>
        <p:spPr>
          <a:xfrm>
            <a:off x="83100" y="701700"/>
            <a:ext cx="8822400" cy="39135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1000"/>
              </a:spcBef>
              <a:spcAft>
                <a:spcPts val="0"/>
              </a:spcAft>
              <a:buClr>
                <a:srgbClr val="0B5394"/>
              </a:buClr>
              <a:buSzPts val="1800"/>
              <a:buFont typeface="Titillium Web"/>
              <a:buChar char="●"/>
              <a:defRPr sz="1800">
                <a:solidFill>
                  <a:srgbClr val="0B5394"/>
                </a:solidFill>
                <a:latin typeface="Titillium Web"/>
                <a:ea typeface="Titillium Web"/>
                <a:cs typeface="Titillium Web"/>
                <a:sym typeface="Titillium Web"/>
              </a:defRPr>
            </a:lvl1pPr>
            <a:lvl2pPr indent="-317500" lvl="1" marL="9144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2pPr>
            <a:lvl3pPr indent="-317500" lvl="2" marL="13716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3pPr>
            <a:lvl4pPr indent="-317500" lvl="3" marL="18288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4pPr>
            <a:lvl5pPr indent="-317500" lvl="4" marL="22860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5pPr>
            <a:lvl6pPr indent="-317500" lvl="5" marL="27432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6pPr>
            <a:lvl7pPr indent="-317500" lvl="6" marL="32004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7pPr>
            <a:lvl8pPr indent="-317500" lvl="7" marL="3657600">
              <a:lnSpc>
                <a:spcPct val="100000"/>
              </a:lnSpc>
              <a:spcBef>
                <a:spcPts val="1000"/>
              </a:spcBef>
              <a:spcAft>
                <a:spcPts val="0"/>
              </a:spcAft>
              <a:buClr>
                <a:srgbClr val="0B5394"/>
              </a:buClr>
              <a:buSzPts val="1400"/>
              <a:buFont typeface="Titillium Web"/>
              <a:buChar char="○"/>
              <a:defRPr>
                <a:solidFill>
                  <a:srgbClr val="0B5394"/>
                </a:solidFill>
                <a:latin typeface="Titillium Web"/>
                <a:ea typeface="Titillium Web"/>
                <a:cs typeface="Titillium Web"/>
                <a:sym typeface="Titillium Web"/>
              </a:defRPr>
            </a:lvl8pPr>
            <a:lvl9pPr indent="-317500" lvl="8" marL="4114800">
              <a:lnSpc>
                <a:spcPct val="100000"/>
              </a:lnSpc>
              <a:spcBef>
                <a:spcPts val="1000"/>
              </a:spcBef>
              <a:spcAft>
                <a:spcPts val="1000"/>
              </a:spcAft>
              <a:buClr>
                <a:srgbClr val="0B5394"/>
              </a:buClr>
              <a:buSzPts val="1400"/>
              <a:buFont typeface="Titillium Web"/>
              <a:buChar char="■"/>
              <a:defRPr>
                <a:solidFill>
                  <a:srgbClr val="0B5394"/>
                </a:solidFill>
                <a:latin typeface="Titillium Web"/>
                <a:ea typeface="Titillium Web"/>
                <a:cs typeface="Titillium Web"/>
                <a:sym typeface="Titillium Web"/>
              </a:defRPr>
            </a:lvl9pPr>
          </a:lstStyle>
          <a:p/>
        </p:txBody>
      </p:sp>
      <p:sp>
        <p:nvSpPr>
          <p:cNvPr id="8" name="Google Shape;8;p1"/>
          <p:cNvSpPr txBox="1"/>
          <p:nvPr/>
        </p:nvSpPr>
        <p:spPr>
          <a:xfrm>
            <a:off x="39775" y="4926600"/>
            <a:ext cx="7518300" cy="1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
          <p:cNvSpPr txBox="1"/>
          <p:nvPr>
            <p:ph idx="2" type="title"/>
          </p:nvPr>
        </p:nvSpPr>
        <p:spPr>
          <a:xfrm>
            <a:off x="3975" y="4815975"/>
            <a:ext cx="7587600" cy="251400"/>
          </a:xfrm>
          <a:prstGeom prst="rect">
            <a:avLst/>
          </a:prstGeom>
          <a:solidFill>
            <a:schemeClr val="lt1"/>
          </a:solidFill>
          <a:ln>
            <a:noFill/>
          </a:ln>
        </p:spPr>
        <p:txBody>
          <a:bodyPr anchorCtr="0" anchor="t" bIns="91425" lIns="91425" spcFirstLastPara="1" rIns="91425" wrap="square" tIns="91425">
            <a:noAutofit/>
          </a:bodyPr>
          <a:lstStyle>
            <a:lvl1pPr lvl="0">
              <a:spcBef>
                <a:spcPts val="0"/>
              </a:spcBef>
              <a:spcAft>
                <a:spcPts val="0"/>
              </a:spcAft>
              <a:buNone/>
              <a:defRPr b="0" sz="1100">
                <a:solidFill>
                  <a:srgbClr val="000000"/>
                </a:solidFill>
              </a:defRPr>
            </a:lvl1pPr>
            <a:lvl2pPr lvl="1">
              <a:spcBef>
                <a:spcPts val="0"/>
              </a:spcBef>
              <a:spcAft>
                <a:spcPts val="0"/>
              </a:spcAft>
              <a:buNone/>
              <a:defRPr>
                <a:solidFill>
                  <a:srgbClr val="000000"/>
                </a:solidFill>
              </a:defRPr>
            </a:lvl2pPr>
            <a:lvl3pPr lvl="2">
              <a:spcBef>
                <a:spcPts val="0"/>
              </a:spcBef>
              <a:spcAft>
                <a:spcPts val="0"/>
              </a:spcAft>
              <a:buNone/>
              <a:defRPr>
                <a:solidFill>
                  <a:srgbClr val="000000"/>
                </a:solidFill>
              </a:defRPr>
            </a:lvl3pPr>
            <a:lvl4pPr lvl="3">
              <a:spcBef>
                <a:spcPts val="0"/>
              </a:spcBef>
              <a:spcAft>
                <a:spcPts val="0"/>
              </a:spcAft>
              <a:buNone/>
              <a:defRPr>
                <a:solidFill>
                  <a:srgbClr val="000000"/>
                </a:solidFill>
              </a:defRPr>
            </a:lvl4pPr>
            <a:lvl5pPr lvl="4">
              <a:spcBef>
                <a:spcPts val="0"/>
              </a:spcBef>
              <a:spcAft>
                <a:spcPts val="0"/>
              </a:spcAft>
              <a:buNone/>
              <a:defRPr>
                <a:solidFill>
                  <a:srgbClr val="000000"/>
                </a:solidFill>
              </a:defRPr>
            </a:lvl5pPr>
            <a:lvl6pPr lvl="5">
              <a:spcBef>
                <a:spcPts val="0"/>
              </a:spcBef>
              <a:spcAft>
                <a:spcPts val="0"/>
              </a:spcAft>
              <a:buNone/>
              <a:defRPr>
                <a:solidFill>
                  <a:srgbClr val="000000"/>
                </a:solidFill>
              </a:defRPr>
            </a:lvl6pPr>
            <a:lvl7pPr lvl="6">
              <a:spcBef>
                <a:spcPts val="0"/>
              </a:spcBef>
              <a:spcAft>
                <a:spcPts val="0"/>
              </a:spcAft>
              <a:buNone/>
              <a:defRPr>
                <a:solidFill>
                  <a:srgbClr val="000000"/>
                </a:solidFill>
              </a:defRPr>
            </a:lvl7pPr>
            <a:lvl8pPr lvl="7">
              <a:spcBef>
                <a:spcPts val="0"/>
              </a:spcBef>
              <a:spcAft>
                <a:spcPts val="0"/>
              </a:spcAft>
              <a:buNone/>
              <a:defRPr>
                <a:solidFill>
                  <a:srgbClr val="000000"/>
                </a:solidFill>
              </a:defRPr>
            </a:lvl8pPr>
            <a:lvl9pPr lvl="8">
              <a:spcBef>
                <a:spcPts val="0"/>
              </a:spcBef>
              <a:spcAft>
                <a:spcPts val="0"/>
              </a:spcAft>
              <a:buNone/>
              <a:defRPr>
                <a:solidFill>
                  <a:srgbClr val="000000"/>
                </a:solidFill>
              </a:defRPr>
            </a:lvl9pPr>
          </a:lstStyle>
          <a:p/>
        </p:txBody>
      </p:sp>
      <p:sp>
        <p:nvSpPr>
          <p:cNvPr id="10" name="Google Shape;10;p1"/>
          <p:cNvSpPr txBox="1"/>
          <p:nvPr>
            <p:ph idx="12" type="sldNum"/>
          </p:nvPr>
        </p:nvSpPr>
        <p:spPr>
          <a:xfrm>
            <a:off x="7818325" y="4815900"/>
            <a:ext cx="402300" cy="251400"/>
          </a:xfrm>
          <a:prstGeom prst="rect">
            <a:avLst/>
          </a:prstGeom>
          <a:noFill/>
          <a:ln>
            <a:noFill/>
          </a:ln>
        </p:spPr>
        <p:txBody>
          <a:bodyPr anchorCtr="0" anchor="t" bIns="91425" lIns="91425" spcFirstLastPara="1" rIns="91425" wrap="square" tIns="91425">
            <a:noAutofit/>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indent="0" lvl="0" marL="0" rtl="0" algn="l">
              <a:spcBef>
                <a:spcPts val="0"/>
              </a:spcBef>
              <a:spcAft>
                <a:spcPts val="0"/>
              </a:spcAft>
              <a:buNone/>
            </a:pPr>
            <a:fld id="{00000000-1234-1234-1234-123412341234}" type="slidenum">
              <a:rPr lang="en"/>
              <a:t>‹#›</a:t>
            </a:fld>
            <a:endParaRPr/>
          </a:p>
        </p:txBody>
      </p:sp>
      <p:pic>
        <p:nvPicPr>
          <p:cNvPr id="11" name="Google Shape;11;p1"/>
          <p:cNvPicPr preferRelativeResize="0"/>
          <p:nvPr/>
        </p:nvPicPr>
        <p:blipFill>
          <a:blip r:embed="rId1">
            <a:alphaModFix/>
          </a:blip>
          <a:stretch>
            <a:fillRect/>
          </a:stretch>
        </p:blipFill>
        <p:spPr>
          <a:xfrm>
            <a:off x="8528176" y="4615201"/>
            <a:ext cx="540001" cy="539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omments" Target="../comments/commen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comments" Target="../comments/commen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shakti.org.in/documentation.html" TargetMode="External"/><Relationship Id="rId4" Type="http://schemas.openxmlformats.org/officeDocument/2006/relationships/hyperlink" Target="https://blogshakti.org.in/" TargetMode="External"/><Relationship Id="rId11" Type="http://schemas.openxmlformats.org/officeDocument/2006/relationships/hyperlink" Target="https://gitlab.com/shaktiproject/uncore/devices" TargetMode="External"/><Relationship Id="rId10" Type="http://schemas.openxmlformats.org/officeDocument/2006/relationships/hyperlink" Target="https://gitlab.com/shaktiproject/cores" TargetMode="External"/><Relationship Id="rId9" Type="http://schemas.openxmlformats.org/officeDocument/2006/relationships/hyperlink" Target="https://registry.platformio.org/platforms/platformio/shakti" TargetMode="External"/><Relationship Id="rId5" Type="http://schemas.openxmlformats.org/officeDocument/2006/relationships/hyperlink" Target="https://gitlab.com/shaktiproject/sp2020" TargetMode="External"/><Relationship Id="rId6" Type="http://schemas.openxmlformats.org/officeDocument/2006/relationships/hyperlink" Target="https://gitlab.com/shaktiproject/software/shakti-sdk" TargetMode="External"/><Relationship Id="rId7" Type="http://schemas.openxmlformats.org/officeDocument/2006/relationships/hyperlink" Target="https://blogshakti.org.in/how-to-print-hello-world-on-shakti-using-arduino-ide/" TargetMode="External"/><Relationship Id="rId8" Type="http://schemas.openxmlformats.org/officeDocument/2006/relationships/hyperlink" Target="https://gitlab.com/shaktiproject/software/linux-on-shakti"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ctrTitle"/>
          </p:nvPr>
        </p:nvSpPr>
        <p:spPr>
          <a:xfrm>
            <a:off x="94100" y="1862025"/>
            <a:ext cx="8969700" cy="763200"/>
          </a:xfrm>
          <a:prstGeom prst="rect">
            <a:avLst/>
          </a:prstGeom>
        </p:spPr>
        <p:txBody>
          <a:bodyPr anchorCtr="0" anchor="b" bIns="91425" lIns="18287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rPr lang="en"/>
              <a:t>Introduction to GCSDK</a:t>
            </a:r>
            <a:endParaRPr/>
          </a:p>
        </p:txBody>
      </p:sp>
      <p:sp>
        <p:nvSpPr>
          <p:cNvPr id="52" name="Google Shape;52;p10"/>
          <p:cNvSpPr txBox="1"/>
          <p:nvPr>
            <p:ph idx="1" type="subTitle"/>
          </p:nvPr>
        </p:nvSpPr>
        <p:spPr>
          <a:xfrm>
            <a:off x="311688" y="2673625"/>
            <a:ext cx="8520600" cy="792600"/>
          </a:xfrm>
          <a:prstGeom prst="rect">
            <a:avLst/>
          </a:prstGeom>
        </p:spPr>
        <p:txBody>
          <a:bodyPr anchorCtr="0" anchor="t" bIns="91425" lIns="91425" spcFirstLastPara="1" rIns="91425" wrap="square" tIns="91425">
            <a:noAutofit/>
          </a:bodyPr>
          <a:lstStyle/>
          <a:p>
            <a:pPr indent="0" lvl="0" marL="0" rtl="0" algn="ctr">
              <a:spcBef>
                <a:spcPts val="1000"/>
              </a:spcBef>
              <a:spcAft>
                <a:spcPts val="0"/>
              </a:spcAft>
              <a:buClr>
                <a:schemeClr val="dk1"/>
              </a:buClr>
              <a:buSzPts val="1100"/>
              <a:buFont typeface="Arial"/>
              <a:buNone/>
            </a:pPr>
            <a:r>
              <a:rPr b="1" lang="en">
                <a:solidFill>
                  <a:srgbClr val="0B5394"/>
                </a:solidFill>
                <a:latin typeface="Dosis"/>
                <a:ea typeface="Dosis"/>
                <a:cs typeface="Dosis"/>
                <a:sym typeface="Dosis"/>
              </a:rPr>
              <a:t>SHAKTI Group | CSE Dept | PS-CDISHA - RISE Lab | IIT Madras</a:t>
            </a:r>
            <a:br>
              <a:rPr b="1" lang="en">
                <a:solidFill>
                  <a:srgbClr val="0B5394"/>
                </a:solidFill>
                <a:latin typeface="Dosis"/>
                <a:ea typeface="Dosis"/>
                <a:cs typeface="Dosis"/>
                <a:sym typeface="Dosis"/>
              </a:rPr>
            </a:br>
            <a:br>
              <a:rPr b="1" lang="en">
                <a:solidFill>
                  <a:srgbClr val="0B5394"/>
                </a:solidFill>
                <a:latin typeface="Dosis"/>
                <a:ea typeface="Dosis"/>
                <a:cs typeface="Dosis"/>
                <a:sym typeface="Dosis"/>
              </a:rPr>
            </a:br>
            <a:r>
              <a:rPr b="1" lang="en">
                <a:solidFill>
                  <a:srgbClr val="0B5394"/>
                </a:solidFill>
                <a:latin typeface="Dosis"/>
                <a:ea typeface="Dosis"/>
                <a:cs typeface="Dosis"/>
                <a:sym typeface="Dosis"/>
              </a:rPr>
              <a:t> RISE LAB </a:t>
            </a:r>
            <a:endParaRPr b="1">
              <a:solidFill>
                <a:srgbClr val="0B5394"/>
              </a:solidFill>
              <a:latin typeface="Dosis"/>
              <a:ea typeface="Dosis"/>
              <a:cs typeface="Dosis"/>
              <a:sym typeface="Dosis"/>
            </a:endParaRPr>
          </a:p>
          <a:p>
            <a:pPr indent="0" lvl="0" marL="0" rtl="0" algn="ctr">
              <a:spcBef>
                <a:spcPts val="1000"/>
              </a:spcBef>
              <a:spcAft>
                <a:spcPts val="0"/>
              </a:spcAft>
              <a:buClr>
                <a:schemeClr val="dk1"/>
              </a:buClr>
              <a:buSzPts val="1100"/>
              <a:buFont typeface="Arial"/>
              <a:buNone/>
            </a:pPr>
            <a:r>
              <a:rPr b="1" lang="en">
                <a:solidFill>
                  <a:srgbClr val="0B5394"/>
                </a:solidFill>
                <a:latin typeface="Dosis"/>
                <a:ea typeface="Dosis"/>
                <a:cs typeface="Dosis"/>
                <a:sym typeface="Dosis"/>
              </a:rPr>
              <a:t>IIT - Madras</a:t>
            </a:r>
            <a:endParaRPr b="1">
              <a:solidFill>
                <a:srgbClr val="0B5394"/>
              </a:solidFill>
              <a:latin typeface="Dosis"/>
              <a:ea typeface="Dosis"/>
              <a:cs typeface="Dosis"/>
              <a:sym typeface="Dosi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1"/>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Preview of the Session</a:t>
            </a:r>
            <a:endParaRPr>
              <a:latin typeface="Dosis"/>
              <a:ea typeface="Dosis"/>
              <a:cs typeface="Dosis"/>
              <a:sym typeface="Dosis"/>
            </a:endParaRPr>
          </a:p>
        </p:txBody>
      </p:sp>
      <p:sp>
        <p:nvSpPr>
          <p:cNvPr id="58" name="Google Shape;58;p11"/>
          <p:cNvSpPr txBox="1"/>
          <p:nvPr/>
        </p:nvSpPr>
        <p:spPr>
          <a:xfrm>
            <a:off x="318975" y="540000"/>
            <a:ext cx="8458800" cy="44958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1.  GC2025 SoC’s</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2. Introduction to GCSDK</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3. GCSDK Framework </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4. Compiling and Executing ‘Hello World’ Program</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5. Adding new Application to GCSDK</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6. Adding new Peripheral to GCSDK</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7. Adding a Project to GCSDK</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8. Q &amp; A</a:t>
            </a:r>
            <a:endParaRPr sz="2500">
              <a:solidFill>
                <a:srgbClr val="0B5394"/>
              </a:solidFill>
              <a:latin typeface="Dosis Medium"/>
              <a:ea typeface="Dosis Medium"/>
              <a:cs typeface="Dosis Medium"/>
              <a:sym typeface="Dosis Medium"/>
            </a:endParaRPr>
          </a:p>
          <a:p>
            <a:pPr indent="0" lvl="0" marL="457200" rtl="0" algn="l">
              <a:spcBef>
                <a:spcPts val="1000"/>
              </a:spcBef>
              <a:spcAft>
                <a:spcPts val="0"/>
              </a:spcAft>
              <a:buNone/>
            </a:pPr>
            <a:r>
              <a:t/>
            </a:r>
            <a:endParaRPr sz="2500">
              <a:solidFill>
                <a:schemeClr val="dk1"/>
              </a:solidFill>
              <a:latin typeface="Dosis Medium"/>
              <a:ea typeface="Dosis Medium"/>
              <a:cs typeface="Dosis Medium"/>
              <a:sym typeface="Dosis Medium"/>
            </a:endParaRPr>
          </a:p>
          <a:p>
            <a:pPr indent="0" lvl="0" marL="457200" marR="0" rtl="0" algn="l">
              <a:lnSpc>
                <a:spcPct val="100000"/>
              </a:lnSpc>
              <a:spcBef>
                <a:spcPts val="1000"/>
              </a:spcBef>
              <a:spcAft>
                <a:spcPts val="1000"/>
              </a:spcAft>
              <a:buNone/>
            </a:pPr>
            <a:r>
              <a:t/>
            </a:r>
            <a:endParaRPr sz="2500">
              <a:solidFill>
                <a:schemeClr val="dk1"/>
              </a:solidFill>
              <a:latin typeface="Dosis Medium"/>
              <a:ea typeface="Dosis Medium"/>
              <a:cs typeface="Dosis Medium"/>
              <a:sym typeface="Dosi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GC2025 SHAKTI SoC’s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GC2025 SHAKTI SoC</a:t>
            </a:r>
            <a:endParaRPr>
              <a:latin typeface="Dosis"/>
              <a:ea typeface="Dosis"/>
              <a:cs typeface="Dosis"/>
              <a:sym typeface="Dosis"/>
            </a:endParaRPr>
          </a:p>
        </p:txBody>
      </p:sp>
      <p:sp>
        <p:nvSpPr>
          <p:cNvPr id="69" name="Google Shape;69;p13"/>
          <p:cNvSpPr txBox="1"/>
          <p:nvPr/>
        </p:nvSpPr>
        <p:spPr>
          <a:xfrm>
            <a:off x="318975" y="540000"/>
            <a:ext cx="8458800" cy="44958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1. GANGA SoC </a:t>
            </a:r>
            <a:endParaRPr sz="2500">
              <a:solidFill>
                <a:srgbClr val="0B5394"/>
              </a:solidFill>
              <a:latin typeface="Dosis Medium"/>
              <a:ea typeface="Dosis Medium"/>
              <a:cs typeface="Dosis Medium"/>
              <a:sym typeface="Dosis Medium"/>
            </a:endParaRPr>
          </a:p>
          <a:p>
            <a:pPr indent="-387350" lvl="0" marL="457200" rtl="0" algn="l">
              <a:spcBef>
                <a:spcPts val="100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Ganga is a 64-bit RISC-V SoC based on the SHAKTI C-Class core with a 6-stage pipeline, compliant with the RV64IMACSU instruction set. </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2. YAMUNA SoC </a:t>
            </a:r>
            <a:endParaRPr sz="2500">
              <a:solidFill>
                <a:srgbClr val="0B5394"/>
              </a:solidFill>
              <a:latin typeface="Dosis Medium"/>
              <a:ea typeface="Dosis Medium"/>
              <a:cs typeface="Dosis Medium"/>
              <a:sym typeface="Dosis Medium"/>
            </a:endParaRPr>
          </a:p>
          <a:p>
            <a:pPr indent="-387350" lvl="0" marL="457200" rtl="0" algn="l">
              <a:spcBef>
                <a:spcPts val="100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Yamuna is a 32-bit RISC-V SoC based on the SHAKTI C-Class core with a 6-stage pipeline, compliant with the RV32IMAC instruction set. </a:t>
            </a:r>
            <a:endParaRPr sz="2500">
              <a:solidFill>
                <a:schemeClr val="dk1"/>
              </a:solidFill>
              <a:latin typeface="Dosis Medium"/>
              <a:ea typeface="Dosis Medium"/>
              <a:cs typeface="Dosis Medium"/>
              <a:sym typeface="Dosis Medium"/>
            </a:endParaRPr>
          </a:p>
          <a:p>
            <a:pPr indent="0" lvl="0" marL="457200" marR="0" rtl="0" algn="l">
              <a:lnSpc>
                <a:spcPct val="100000"/>
              </a:lnSpc>
              <a:spcBef>
                <a:spcPts val="1000"/>
              </a:spcBef>
              <a:spcAft>
                <a:spcPts val="1000"/>
              </a:spcAft>
              <a:buNone/>
            </a:pPr>
            <a:r>
              <a:t/>
            </a:r>
            <a:endParaRPr sz="2500">
              <a:solidFill>
                <a:schemeClr val="dk1"/>
              </a:solidFill>
              <a:latin typeface="Dosis Medium"/>
              <a:ea typeface="Dosis Medium"/>
              <a:cs typeface="Dosis Medium"/>
              <a:sym typeface="Dosi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Introduction to </a:t>
            </a:r>
            <a:r>
              <a:rPr lang="en"/>
              <a:t>GCSDK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Introduction to GCSDK</a:t>
            </a:r>
            <a:endParaRPr>
              <a:latin typeface="Dosis"/>
              <a:ea typeface="Dosis"/>
              <a:cs typeface="Dosis"/>
              <a:sym typeface="Dosis"/>
            </a:endParaRPr>
          </a:p>
        </p:txBody>
      </p:sp>
      <p:sp>
        <p:nvSpPr>
          <p:cNvPr id="80" name="Google Shape;80;p15"/>
          <p:cNvSpPr txBox="1"/>
          <p:nvPr/>
        </p:nvSpPr>
        <p:spPr>
          <a:xfrm>
            <a:off x="257375" y="540000"/>
            <a:ext cx="8112300" cy="3633000"/>
          </a:xfrm>
          <a:prstGeom prst="rect">
            <a:avLst/>
          </a:prstGeom>
          <a:noFill/>
          <a:ln>
            <a:noFill/>
          </a:ln>
        </p:spPr>
        <p:txBody>
          <a:bodyPr anchorCtr="0" anchor="t" bIns="91425" lIns="91425" spcFirstLastPara="1" rIns="91425" wrap="square" tIns="91425">
            <a:noAutofit/>
          </a:bodyPr>
          <a:lstStyle/>
          <a:p>
            <a:pPr indent="-387350" lvl="0" marL="457200" marR="0" rtl="0" algn="l">
              <a:lnSpc>
                <a:spcPct val="100000"/>
              </a:lnSpc>
              <a:spcBef>
                <a:spcPts val="100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S</a:t>
            </a:r>
            <a:r>
              <a:rPr lang="en" sz="2500">
                <a:solidFill>
                  <a:srgbClr val="0B5394"/>
                </a:solidFill>
                <a:latin typeface="Dosis Medium"/>
                <a:ea typeface="Dosis Medium"/>
                <a:cs typeface="Dosis Medium"/>
                <a:sym typeface="Dosis Medium"/>
              </a:rPr>
              <a:t>oftware Development Kit (SDK) provided to participants in GC2025.</a:t>
            </a:r>
            <a:endParaRPr sz="2500">
              <a:solidFill>
                <a:srgbClr val="0B5394"/>
              </a:solidFill>
              <a:latin typeface="Dosis Medium"/>
              <a:ea typeface="Dosis Medium"/>
              <a:cs typeface="Dosis Medium"/>
              <a:sym typeface="Dosis Medium"/>
            </a:endParaRPr>
          </a:p>
          <a:p>
            <a:pPr indent="-387350" lvl="0" marL="457200" marR="0" rtl="0" algn="l">
              <a:lnSpc>
                <a:spcPct val="100000"/>
              </a:lnSpc>
              <a:spcBef>
                <a:spcPts val="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Clean separation between boot, drivers, core and application layers.</a:t>
            </a:r>
            <a:endParaRPr sz="2500">
              <a:solidFill>
                <a:srgbClr val="0B5394"/>
              </a:solidFill>
              <a:latin typeface="Dosis Medium"/>
              <a:ea typeface="Dosis Medium"/>
              <a:cs typeface="Dosis Medium"/>
              <a:sym typeface="Dosis Medium"/>
            </a:endParaRPr>
          </a:p>
          <a:p>
            <a:pPr indent="-387350" lvl="0" marL="457200" marR="0" rtl="0" algn="l">
              <a:lnSpc>
                <a:spcPct val="100000"/>
              </a:lnSpc>
              <a:spcBef>
                <a:spcPts val="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Single place for bare-metal application development, projects and benchmarks.</a:t>
            </a:r>
            <a:endParaRPr sz="2500">
              <a:solidFill>
                <a:srgbClr val="0B5394"/>
              </a:solidFill>
              <a:latin typeface="Dosis Medium"/>
              <a:ea typeface="Dosis Medium"/>
              <a:cs typeface="Dosis Medium"/>
              <a:sym typeface="Dosis Medium"/>
            </a:endParaRPr>
          </a:p>
          <a:p>
            <a:pPr indent="-387350" lvl="0" marL="457200" marR="0" rtl="0" algn="l">
              <a:lnSpc>
                <a:spcPct val="100000"/>
              </a:lnSpc>
              <a:spcBef>
                <a:spcPts val="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Driver support for PWM, SPI, PLIC, CLINT, UART, I2C, GPIO, GPTimer and XADC.</a:t>
            </a:r>
            <a:endParaRPr sz="2500">
              <a:solidFill>
                <a:srgbClr val="0B5394"/>
              </a:solidFill>
              <a:latin typeface="Dosis Medium"/>
              <a:ea typeface="Dosis Medium"/>
              <a:cs typeface="Dosis Medium"/>
              <a:sym typeface="Dosis Medium"/>
            </a:endParaRPr>
          </a:p>
          <a:p>
            <a:pPr indent="-387350" lvl="0" marL="457200" rtl="0" algn="l">
              <a:spcBef>
                <a:spcPts val="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Standalone and Debug mode supported.</a:t>
            </a:r>
            <a:endParaRPr sz="2500">
              <a:solidFill>
                <a:srgbClr val="0B5394"/>
              </a:solidFill>
              <a:latin typeface="Dosis Medium"/>
              <a:ea typeface="Dosis Medium"/>
              <a:cs typeface="Dosis Medium"/>
              <a:sym typeface="Dosis Medium"/>
            </a:endParaRPr>
          </a:p>
          <a:p>
            <a:pPr indent="0" lvl="0" marL="457200" marR="0" rtl="0" algn="l">
              <a:lnSpc>
                <a:spcPct val="100000"/>
              </a:lnSpc>
              <a:spcBef>
                <a:spcPts val="1000"/>
              </a:spcBef>
              <a:spcAft>
                <a:spcPts val="1000"/>
              </a:spcAft>
              <a:buNone/>
            </a:pPr>
            <a:r>
              <a:t/>
            </a:r>
            <a:endParaRPr sz="2500">
              <a:solidFill>
                <a:schemeClr val="dk1"/>
              </a:solidFill>
              <a:latin typeface="Dosis Medium"/>
              <a:ea typeface="Dosis Medium"/>
              <a:cs typeface="Dosis Medium"/>
              <a:sym typeface="Dosi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 name="Shape 84"/>
        <p:cNvGrpSpPr/>
        <p:nvPr/>
      </p:nvGrpSpPr>
      <p:grpSpPr>
        <a:xfrm>
          <a:off x="0" y="0"/>
          <a:ext cx="0" cy="0"/>
          <a:chOff x="0" y="0"/>
          <a:chExt cx="0" cy="0"/>
        </a:xfrm>
      </p:grpSpPr>
      <p:sp>
        <p:nvSpPr>
          <p:cNvPr id="85" name="Google Shape;85;p16"/>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Application to Output flow</a:t>
            </a:r>
            <a:endParaRPr>
              <a:latin typeface="Dosis"/>
              <a:ea typeface="Dosis"/>
              <a:cs typeface="Dosis"/>
              <a:sym typeface="Dosis"/>
            </a:endParaRPr>
          </a:p>
        </p:txBody>
      </p:sp>
      <p:sp>
        <p:nvSpPr>
          <p:cNvPr id="86" name="Google Shape;86;p16"/>
          <p:cNvSpPr txBox="1"/>
          <p:nvPr/>
        </p:nvSpPr>
        <p:spPr>
          <a:xfrm>
            <a:off x="257375" y="540000"/>
            <a:ext cx="8112300" cy="4454700"/>
          </a:xfrm>
          <a:prstGeom prst="rect">
            <a:avLst/>
          </a:prstGeom>
          <a:noFill/>
          <a:ln>
            <a:noFill/>
          </a:ln>
        </p:spPr>
        <p:txBody>
          <a:bodyPr anchorCtr="0" anchor="t" bIns="91425" lIns="91425" spcFirstLastPara="1" rIns="91425" wrap="square" tIns="91425">
            <a:noAutofit/>
          </a:bodyPr>
          <a:lstStyle/>
          <a:p>
            <a:pPr indent="-387350" lvl="0" marL="457200" marR="0" rtl="0" algn="l">
              <a:lnSpc>
                <a:spcPct val="100000"/>
              </a:lnSpc>
              <a:spcBef>
                <a:spcPts val="100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After the application is compiled , it is important to understand the flow of how the binary is executed. Tools like openocd and riscv-gdb helps in executing the compiled binary</a:t>
            </a:r>
            <a:endParaRPr sz="2500">
              <a:solidFill>
                <a:srgbClr val="0B5394"/>
              </a:solidFill>
              <a:latin typeface="Dosis Medium"/>
              <a:ea typeface="Dosis Medium"/>
              <a:cs typeface="Dosis Medium"/>
              <a:sym typeface="Dosis Medium"/>
            </a:endParaRPr>
          </a:p>
          <a:p>
            <a:pPr indent="0" lvl="0" marL="0" rtl="0" algn="l">
              <a:spcBef>
                <a:spcPts val="1000"/>
              </a:spcBef>
              <a:spcAft>
                <a:spcPts val="0"/>
              </a:spcAft>
              <a:buNone/>
            </a:pPr>
            <a:r>
              <a:rPr lang="en" sz="2500">
                <a:solidFill>
                  <a:srgbClr val="0B5394"/>
                </a:solidFill>
                <a:latin typeface="Dosis Medium"/>
                <a:ea typeface="Dosis Medium"/>
                <a:cs typeface="Dosis Medium"/>
                <a:sym typeface="Dosis Medium"/>
              </a:rPr>
              <a:t>1. Openocd (Open On-Chip Debugger) -</a:t>
            </a:r>
            <a:endParaRPr sz="2500">
              <a:solidFill>
                <a:srgbClr val="0B5394"/>
              </a:solidFill>
              <a:latin typeface="Dosis Medium"/>
              <a:ea typeface="Dosis Medium"/>
              <a:cs typeface="Dosis Medium"/>
              <a:sym typeface="Dosis Medium"/>
            </a:endParaRPr>
          </a:p>
          <a:p>
            <a:pPr indent="-387350" lvl="1" marL="914400" rtl="0" algn="l">
              <a:spcBef>
                <a:spcPts val="100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 Tool that lets the host interact with target hardware. </a:t>
            </a:r>
            <a:endParaRPr sz="2500">
              <a:solidFill>
                <a:srgbClr val="0B5394"/>
              </a:solidFill>
              <a:latin typeface="Dosis Medium"/>
              <a:ea typeface="Dosis Medium"/>
              <a:cs typeface="Dosis Medium"/>
              <a:sym typeface="Dosis Medium"/>
            </a:endParaRPr>
          </a:p>
          <a:p>
            <a:pPr indent="-387350" lvl="1" marL="914400" rtl="0" algn="l">
              <a:spcBef>
                <a:spcPts val="0"/>
              </a:spcBef>
              <a:spcAft>
                <a:spcPts val="0"/>
              </a:spcAft>
              <a:buClr>
                <a:srgbClr val="0B5394"/>
              </a:buClr>
              <a:buSzPts val="2500"/>
              <a:buFont typeface="Dosis Medium"/>
              <a:buChar char="○"/>
            </a:pPr>
            <a:r>
              <a:rPr lang="en" sz="2500">
                <a:solidFill>
                  <a:srgbClr val="0B5394"/>
                </a:solidFill>
                <a:latin typeface="Dosis Medium"/>
                <a:ea typeface="Dosis Medium"/>
                <a:cs typeface="Dosis Medium"/>
                <a:sym typeface="Dosis Medium"/>
              </a:rPr>
              <a:t> Act as bridge between host and target hardware.</a:t>
            </a:r>
            <a:endParaRPr sz="2500">
              <a:solidFill>
                <a:srgbClr val="0B5394"/>
              </a:solidFill>
              <a:latin typeface="Dosis Medium"/>
              <a:ea typeface="Dosis Medium"/>
              <a:cs typeface="Dosis Medium"/>
              <a:sym typeface="Dosis Medium"/>
            </a:endParaRPr>
          </a:p>
          <a:p>
            <a:pPr indent="0" lvl="0" marL="457200" marR="0" rtl="0" algn="l">
              <a:lnSpc>
                <a:spcPct val="100000"/>
              </a:lnSpc>
              <a:spcBef>
                <a:spcPts val="1000"/>
              </a:spcBef>
              <a:spcAft>
                <a:spcPts val="1000"/>
              </a:spcAft>
              <a:buNone/>
            </a:pPr>
            <a:r>
              <a:t/>
            </a:r>
            <a:endParaRPr sz="2500">
              <a:solidFill>
                <a:schemeClr val="dk1"/>
              </a:solidFill>
              <a:latin typeface="Dosis Medium"/>
              <a:ea typeface="Dosis Medium"/>
              <a:cs typeface="Dosis Medium"/>
              <a:sym typeface="Dosis Medium"/>
            </a:endParaRPr>
          </a:p>
        </p:txBody>
      </p:sp>
      <p:pic>
        <p:nvPicPr>
          <p:cNvPr id="87" name="Google Shape;87;p16"/>
          <p:cNvPicPr preferRelativeResize="0"/>
          <p:nvPr/>
        </p:nvPicPr>
        <p:blipFill rotWithShape="1">
          <a:blip r:embed="rId3">
            <a:alphaModFix/>
          </a:blip>
          <a:srcRect b="0" l="1468" r="0" t="0"/>
          <a:stretch/>
        </p:blipFill>
        <p:spPr>
          <a:xfrm>
            <a:off x="1995950" y="3818750"/>
            <a:ext cx="5809176" cy="80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 name="Shape 91"/>
        <p:cNvGrpSpPr/>
        <p:nvPr/>
      </p:nvGrpSpPr>
      <p:grpSpPr>
        <a:xfrm>
          <a:off x="0" y="0"/>
          <a:ext cx="0" cy="0"/>
          <a:chOff x="0" y="0"/>
          <a:chExt cx="0" cy="0"/>
        </a:xfrm>
      </p:grpSpPr>
      <p:sp>
        <p:nvSpPr>
          <p:cNvPr id="92" name="Google Shape;92;p17"/>
          <p:cNvSpPr txBox="1"/>
          <p:nvPr/>
        </p:nvSpPr>
        <p:spPr>
          <a:xfrm>
            <a:off x="0" y="771525"/>
            <a:ext cx="9144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2. GDB (GNU Debugger) -</a:t>
            </a:r>
            <a:endParaRPr sz="2500">
              <a:solidFill>
                <a:srgbClr val="0B5394"/>
              </a:solidFill>
              <a:latin typeface="Titillium Web"/>
              <a:ea typeface="Titillium Web"/>
              <a:cs typeface="Titillium Web"/>
              <a:sym typeface="Titillium Web"/>
            </a:endParaRPr>
          </a:p>
          <a:p>
            <a:pPr indent="-387350" lvl="0" marL="9144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Debugging tool designed for </a:t>
            </a:r>
            <a:r>
              <a:rPr lang="en" sz="2500">
                <a:solidFill>
                  <a:srgbClr val="0B5394"/>
                </a:solidFill>
                <a:latin typeface="Titillium Web"/>
                <a:ea typeface="Titillium Web"/>
                <a:cs typeface="Titillium Web"/>
                <a:sym typeface="Titillium Web"/>
              </a:rPr>
              <a:t>RISC V</a:t>
            </a:r>
            <a:r>
              <a:rPr lang="en" sz="2500">
                <a:solidFill>
                  <a:srgbClr val="0B5394"/>
                </a:solidFill>
                <a:latin typeface="Titillium Web"/>
                <a:ea typeface="Titillium Web"/>
                <a:cs typeface="Titillium Web"/>
                <a:sym typeface="Titillium Web"/>
              </a:rPr>
              <a:t> architecture.</a:t>
            </a:r>
            <a:endParaRPr sz="2500">
              <a:solidFill>
                <a:srgbClr val="0B5394"/>
              </a:solidFill>
              <a:latin typeface="Titillium Web"/>
              <a:ea typeface="Titillium Web"/>
              <a:cs typeface="Titillium Web"/>
              <a:sym typeface="Titillium Web"/>
            </a:endParaRPr>
          </a:p>
          <a:p>
            <a:pPr indent="-387350" lvl="0" marL="9144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Program that helps to see what the code is doing inside the processor - while it runs, stops, crashes, or behaves weirdly.</a:t>
            </a:r>
            <a:endParaRPr sz="2500">
              <a:solidFill>
                <a:srgbClr val="0B5394"/>
              </a:solidFill>
              <a:latin typeface="Titillium Web"/>
              <a:ea typeface="Titillium Web"/>
              <a:cs typeface="Titillium Web"/>
              <a:sym typeface="Titillium Web"/>
            </a:endParaRPr>
          </a:p>
        </p:txBody>
      </p:sp>
      <p:pic>
        <p:nvPicPr>
          <p:cNvPr id="93" name="Google Shape;93;p17"/>
          <p:cNvPicPr preferRelativeResize="0"/>
          <p:nvPr/>
        </p:nvPicPr>
        <p:blipFill>
          <a:blip r:embed="rId3">
            <a:alphaModFix/>
          </a:blip>
          <a:stretch>
            <a:fillRect/>
          </a:stretch>
        </p:blipFill>
        <p:spPr>
          <a:xfrm>
            <a:off x="152400" y="2990125"/>
            <a:ext cx="8839199" cy="820715"/>
          </a:xfrm>
          <a:prstGeom prst="rect">
            <a:avLst/>
          </a:prstGeom>
          <a:noFill/>
          <a:ln>
            <a:noFill/>
          </a:ln>
        </p:spPr>
      </p:pic>
      <p:sp>
        <p:nvSpPr>
          <p:cNvPr id="94" name="Google Shape;94;p17"/>
          <p:cNvSpPr txBox="1"/>
          <p:nvPr>
            <p:ph idx="4294967295"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Application to Output flow</a:t>
            </a:r>
            <a:endParaRPr>
              <a:latin typeface="Dosis"/>
              <a:ea typeface="Dosis"/>
              <a:cs typeface="Dosis"/>
              <a:sym typeface="Dosi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Understanding Framework of GCSDK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GC</a:t>
            </a:r>
            <a:r>
              <a:rPr lang="en">
                <a:latin typeface="Dosis"/>
                <a:ea typeface="Dosis"/>
                <a:cs typeface="Dosis"/>
                <a:sym typeface="Dosis"/>
              </a:rPr>
              <a:t>SDK Framework</a:t>
            </a:r>
            <a:endParaRPr>
              <a:latin typeface="Dosis"/>
              <a:ea typeface="Dosis"/>
              <a:cs typeface="Dosis"/>
              <a:sym typeface="Dosis"/>
            </a:endParaRPr>
          </a:p>
        </p:txBody>
      </p:sp>
      <p:sp>
        <p:nvSpPr>
          <p:cNvPr id="105" name="Google Shape;105;p19"/>
          <p:cNvSpPr txBox="1"/>
          <p:nvPr/>
        </p:nvSpPr>
        <p:spPr>
          <a:xfrm>
            <a:off x="1" y="4731750"/>
            <a:ext cx="4288200" cy="4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Titillium Web"/>
                <a:ea typeface="Titillium Web"/>
                <a:cs typeface="Titillium Web"/>
                <a:sym typeface="Titillium Web"/>
              </a:rPr>
              <a:t>https://gitlab.com/shaktiproject/gc2025.git</a:t>
            </a:r>
            <a:endParaRPr>
              <a:solidFill>
                <a:schemeClr val="dk1"/>
              </a:solidFill>
              <a:latin typeface="Titillium Web"/>
              <a:ea typeface="Titillium Web"/>
              <a:cs typeface="Titillium Web"/>
              <a:sym typeface="Titillium Web"/>
            </a:endParaRPr>
          </a:p>
          <a:p>
            <a:pPr indent="0" lvl="0" marL="0" rtl="0" algn="l">
              <a:spcBef>
                <a:spcPts val="0"/>
              </a:spcBef>
              <a:spcAft>
                <a:spcPts val="0"/>
              </a:spcAft>
              <a:buNone/>
            </a:pPr>
            <a:r>
              <a:t/>
            </a:r>
            <a:endParaRPr>
              <a:latin typeface="Titillium Web"/>
              <a:ea typeface="Titillium Web"/>
              <a:cs typeface="Titillium Web"/>
              <a:sym typeface="Titillium Web"/>
            </a:endParaRPr>
          </a:p>
        </p:txBody>
      </p:sp>
      <p:pic>
        <p:nvPicPr>
          <p:cNvPr id="106" name="Google Shape;106;p19"/>
          <p:cNvPicPr preferRelativeResize="0"/>
          <p:nvPr/>
        </p:nvPicPr>
        <p:blipFill>
          <a:blip r:embed="rId3">
            <a:alphaModFix/>
          </a:blip>
          <a:stretch>
            <a:fillRect/>
          </a:stretch>
        </p:blipFill>
        <p:spPr>
          <a:xfrm>
            <a:off x="1321348" y="692400"/>
            <a:ext cx="6501303" cy="3886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BSP - Board Support Package</a:t>
            </a:r>
            <a:endParaRPr/>
          </a:p>
        </p:txBody>
      </p:sp>
      <p:sp>
        <p:nvSpPr>
          <p:cNvPr id="112" name="Google Shape;112;p20"/>
          <p:cNvSpPr txBox="1"/>
          <p:nvPr>
            <p:ph idx="1" type="body"/>
          </p:nvPr>
        </p:nvSpPr>
        <p:spPr>
          <a:xfrm>
            <a:off x="190825" y="701700"/>
            <a:ext cx="8714700" cy="3913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2500"/>
              <a:t>The BSP is layer above the hardware. </a:t>
            </a:r>
            <a:r>
              <a:rPr lang="en" sz="2500"/>
              <a:t>It consists of  </a:t>
            </a:r>
            <a:endParaRPr sz="2500"/>
          </a:p>
          <a:p>
            <a:pPr indent="-387350" lvl="0" marL="457200" rtl="0" algn="l">
              <a:spcBef>
                <a:spcPts val="1000"/>
              </a:spcBef>
              <a:spcAft>
                <a:spcPts val="0"/>
              </a:spcAft>
              <a:buSzPts val="2500"/>
              <a:buChar char="●"/>
            </a:pPr>
            <a:r>
              <a:rPr lang="en" sz="2500"/>
              <a:t>Driver files for various protocols (peripherals).</a:t>
            </a:r>
            <a:endParaRPr sz="2500"/>
          </a:p>
          <a:p>
            <a:pPr indent="-387350" lvl="0" marL="457200" rtl="0" algn="l">
              <a:spcBef>
                <a:spcPts val="0"/>
              </a:spcBef>
              <a:spcAft>
                <a:spcPts val="0"/>
              </a:spcAft>
              <a:buSzPts val="2500"/>
              <a:buChar char="●"/>
            </a:pPr>
            <a:r>
              <a:rPr lang="en" sz="2500"/>
              <a:t>Header files for driver files. </a:t>
            </a:r>
            <a:endParaRPr sz="2500"/>
          </a:p>
          <a:p>
            <a:pPr indent="-387350" lvl="0" marL="457200" rtl="0" algn="l">
              <a:spcBef>
                <a:spcPts val="0"/>
              </a:spcBef>
              <a:spcAft>
                <a:spcPts val="0"/>
              </a:spcAft>
              <a:buSzPts val="2500"/>
              <a:buChar char="●"/>
            </a:pPr>
            <a:r>
              <a:rPr lang="en" sz="2500"/>
              <a:t>E</a:t>
            </a:r>
            <a:r>
              <a:rPr lang="en" sz="2500"/>
              <a:t>ssential</a:t>
            </a:r>
            <a:r>
              <a:rPr lang="en" sz="2500"/>
              <a:t> functions and reusable code like ‘printf’ and multi-level logging for debugging.</a:t>
            </a:r>
            <a:endParaRPr sz="2500"/>
          </a:p>
          <a:p>
            <a:pPr indent="-387350" lvl="0" marL="457200" rtl="0" algn="l">
              <a:spcBef>
                <a:spcPts val="0"/>
              </a:spcBef>
              <a:spcAft>
                <a:spcPts val="0"/>
              </a:spcAft>
              <a:buSzPts val="2500"/>
              <a:buChar char="●"/>
            </a:pPr>
            <a:r>
              <a:rPr lang="en" sz="2500"/>
              <a:t>S</a:t>
            </a:r>
            <a:r>
              <a:rPr lang="en" sz="2500"/>
              <a:t>tartup</a:t>
            </a:r>
            <a:r>
              <a:rPr lang="en" sz="2500"/>
              <a:t> code , trap handler , memory initialisation.</a:t>
            </a:r>
            <a:endParaRPr sz="2500"/>
          </a:p>
          <a:p>
            <a:pPr indent="-387350" lvl="0" marL="457200" rtl="0" algn="l">
              <a:spcBef>
                <a:spcPts val="0"/>
              </a:spcBef>
              <a:spcAft>
                <a:spcPts val="0"/>
              </a:spcAft>
              <a:buSzPts val="2500"/>
              <a:buChar char="●"/>
            </a:pPr>
            <a:r>
              <a:rPr lang="en" sz="2500"/>
              <a:t>Files required for booting </a:t>
            </a:r>
            <a:endParaRPr sz="2500"/>
          </a:p>
          <a:p>
            <a:pPr indent="-387350" lvl="0" marL="457200" rtl="0" algn="l">
              <a:spcBef>
                <a:spcPts val="0"/>
              </a:spcBef>
              <a:spcAft>
                <a:spcPts val="0"/>
              </a:spcAft>
              <a:buSzPts val="2500"/>
              <a:buChar char="●"/>
            </a:pPr>
            <a:r>
              <a:rPr lang="en" sz="2500"/>
              <a:t>Platform dependent definitions tailored to each SoC.</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Drivers</a:t>
            </a:r>
            <a:endParaRPr>
              <a:latin typeface="Dosis"/>
              <a:ea typeface="Dosis"/>
              <a:cs typeface="Dosis"/>
              <a:sym typeface="Dosis"/>
            </a:endParaRPr>
          </a:p>
        </p:txBody>
      </p:sp>
      <p:sp>
        <p:nvSpPr>
          <p:cNvPr id="118" name="Google Shape;118;p21"/>
          <p:cNvSpPr txBox="1"/>
          <p:nvPr>
            <p:ph idx="1" type="body"/>
          </p:nvPr>
        </p:nvSpPr>
        <p:spPr>
          <a:xfrm>
            <a:off x="364650" y="64960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19" name="Google Shape;119;p21"/>
          <p:cNvSpPr txBox="1"/>
          <p:nvPr/>
        </p:nvSpPr>
        <p:spPr>
          <a:xfrm>
            <a:off x="3098400" y="915100"/>
            <a:ext cx="6045600" cy="2493600"/>
          </a:xfrm>
          <a:prstGeom prst="rect">
            <a:avLst/>
          </a:prstGeom>
          <a:noFill/>
          <a:ln>
            <a:noFill/>
          </a:ln>
        </p:spPr>
        <p:txBody>
          <a:bodyPr anchorCtr="0" anchor="t" bIns="91425" lIns="91425" spcFirstLastPara="1" rIns="91425" wrap="square" tIns="91425">
            <a:spAutoFit/>
          </a:bodyPr>
          <a:lstStyle/>
          <a:p>
            <a:pPr indent="-387350" lvl="0" marL="457200" rtl="0" algn="l">
              <a:spcBef>
                <a:spcPts val="100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Drivers are for all supported peripherals (protocols).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Inside each driver file is a set of software constructs (functions / API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Executes a particular task in hardware.</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Called by the application code / project.</a:t>
            </a:r>
            <a:endParaRPr sz="2500">
              <a:solidFill>
                <a:srgbClr val="0B5394"/>
              </a:solidFill>
              <a:latin typeface="Titillium Web"/>
              <a:ea typeface="Titillium Web"/>
              <a:cs typeface="Titillium Web"/>
              <a:sym typeface="Titillium Web"/>
            </a:endParaRPr>
          </a:p>
        </p:txBody>
      </p:sp>
      <p:pic>
        <p:nvPicPr>
          <p:cNvPr id="120" name="Google Shape;120;p21" title="Screenshot from 2025-07-03 08-23-26.png"/>
          <p:cNvPicPr preferRelativeResize="0"/>
          <p:nvPr/>
        </p:nvPicPr>
        <p:blipFill rotWithShape="1">
          <a:blip r:embed="rId3">
            <a:alphaModFix/>
          </a:blip>
          <a:srcRect b="44760" l="3975" r="0" t="0"/>
          <a:stretch/>
        </p:blipFill>
        <p:spPr>
          <a:xfrm>
            <a:off x="1288300" y="831300"/>
            <a:ext cx="1874925" cy="1994175"/>
          </a:xfrm>
          <a:prstGeom prst="rect">
            <a:avLst/>
          </a:prstGeom>
          <a:noFill/>
          <a:ln>
            <a:noFill/>
          </a:ln>
        </p:spPr>
      </p:pic>
      <p:pic>
        <p:nvPicPr>
          <p:cNvPr id="121" name="Google Shape;121;p21" title="Screenshot from 2025-07-03 08-25-19.png"/>
          <p:cNvPicPr preferRelativeResize="0"/>
          <p:nvPr/>
        </p:nvPicPr>
        <p:blipFill rotWithShape="1">
          <a:blip r:embed="rId4">
            <a:alphaModFix/>
          </a:blip>
          <a:srcRect b="0" l="3975" r="0" t="0"/>
          <a:stretch/>
        </p:blipFill>
        <p:spPr>
          <a:xfrm>
            <a:off x="1289800" y="2817950"/>
            <a:ext cx="1874925" cy="165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Include</a:t>
            </a:r>
            <a:endParaRPr>
              <a:latin typeface="Dosis"/>
              <a:ea typeface="Dosis"/>
              <a:cs typeface="Dosis"/>
              <a:sym typeface="Dosis"/>
            </a:endParaRPr>
          </a:p>
        </p:txBody>
      </p:sp>
      <p:sp>
        <p:nvSpPr>
          <p:cNvPr id="127" name="Google Shape;127;p22"/>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28" name="Google Shape;128;p22"/>
          <p:cNvSpPr txBox="1"/>
          <p:nvPr/>
        </p:nvSpPr>
        <p:spPr>
          <a:xfrm>
            <a:off x="3352950" y="809675"/>
            <a:ext cx="5187000" cy="42021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Header files for all the peripheral drivers.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Dosis Medium"/>
              <a:buChar char="●"/>
            </a:pPr>
            <a:r>
              <a:rPr lang="en" sz="2500">
                <a:solidFill>
                  <a:srgbClr val="0B5394"/>
                </a:solidFill>
                <a:latin typeface="Titillium Web"/>
                <a:ea typeface="Titillium Web"/>
                <a:cs typeface="Titillium Web"/>
                <a:sym typeface="Titillium Web"/>
              </a:rPr>
              <a:t>Generic But Board specific.</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Peripheral registers are mapped as arrays.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Instance of arrays used to  access the registers.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Macros for bit level description of the registers.</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129" name="Google Shape;129;p22" title="Screenshot from 2025-07-03 14-48-53.png"/>
          <p:cNvPicPr preferRelativeResize="0"/>
          <p:nvPr/>
        </p:nvPicPr>
        <p:blipFill rotWithShape="1">
          <a:blip r:embed="rId3">
            <a:alphaModFix/>
          </a:blip>
          <a:srcRect b="50367" l="3484" r="0" t="0"/>
          <a:stretch/>
        </p:blipFill>
        <p:spPr>
          <a:xfrm>
            <a:off x="451950" y="1251175"/>
            <a:ext cx="1348000" cy="2552676"/>
          </a:xfrm>
          <a:prstGeom prst="rect">
            <a:avLst/>
          </a:prstGeom>
          <a:noFill/>
          <a:ln>
            <a:noFill/>
          </a:ln>
        </p:spPr>
      </p:pic>
      <p:pic>
        <p:nvPicPr>
          <p:cNvPr id="130" name="Google Shape;130;p22" title="Screenshot from 2025-07-03 14-48-53.png"/>
          <p:cNvPicPr preferRelativeResize="0"/>
          <p:nvPr/>
        </p:nvPicPr>
        <p:blipFill rotWithShape="1">
          <a:blip r:embed="rId3">
            <a:alphaModFix/>
          </a:blip>
          <a:srcRect b="866" l="6690" r="0" t="50154"/>
          <a:stretch/>
        </p:blipFill>
        <p:spPr>
          <a:xfrm>
            <a:off x="1740975" y="1251175"/>
            <a:ext cx="1303175" cy="251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Lib</a:t>
            </a:r>
            <a:endParaRPr>
              <a:latin typeface="Dosis"/>
              <a:ea typeface="Dosis"/>
              <a:cs typeface="Dosis"/>
              <a:sym typeface="Dosis"/>
            </a:endParaRPr>
          </a:p>
        </p:txBody>
      </p:sp>
      <p:sp>
        <p:nvSpPr>
          <p:cNvPr id="136" name="Google Shape;136;p23"/>
          <p:cNvSpPr txBox="1"/>
          <p:nvPr>
            <p:ph idx="1" type="body"/>
          </p:nvPr>
        </p:nvSpPr>
        <p:spPr>
          <a:xfrm>
            <a:off x="850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37" name="Google Shape;137;p23"/>
          <p:cNvSpPr txBox="1"/>
          <p:nvPr/>
        </p:nvSpPr>
        <p:spPr>
          <a:xfrm>
            <a:off x="3061675" y="940475"/>
            <a:ext cx="5641200" cy="27705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Utilities are defined as APIs with definitions and implementations.    e.g Printf, multi level log prints, delay loops, string </a:t>
            </a:r>
            <a:r>
              <a:rPr lang="en" sz="2500">
                <a:solidFill>
                  <a:srgbClr val="0B5394"/>
                </a:solidFill>
                <a:latin typeface="Titillium Web"/>
                <a:ea typeface="Titillium Web"/>
                <a:cs typeface="Titillium Web"/>
                <a:sym typeface="Titillium Web"/>
              </a:rPr>
              <a:t>operations</a:t>
            </a:r>
            <a:r>
              <a:rPr lang="en" sz="2500">
                <a:solidFill>
                  <a:srgbClr val="0B5394"/>
                </a:solidFill>
                <a:latin typeface="Titillium Web"/>
                <a:ea typeface="Titillium Web"/>
                <a:cs typeface="Titillium Web"/>
                <a:sym typeface="Titillium Web"/>
              </a:rPr>
              <a:t>, etc.</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Called repeatedly in the </a:t>
            </a:r>
            <a:r>
              <a:rPr lang="en" sz="2500">
                <a:solidFill>
                  <a:srgbClr val="0B5394"/>
                </a:solidFill>
                <a:latin typeface="Titillium Web"/>
                <a:ea typeface="Titillium Web"/>
                <a:cs typeface="Titillium Web"/>
                <a:sym typeface="Titillium Web"/>
              </a:rPr>
              <a:t>application</a:t>
            </a:r>
            <a:r>
              <a:rPr lang="en" sz="2500">
                <a:solidFill>
                  <a:srgbClr val="0B5394"/>
                </a:solidFill>
                <a:latin typeface="Titillium Web"/>
                <a:ea typeface="Titillium Web"/>
                <a:cs typeface="Titillium Web"/>
                <a:sym typeface="Titillium Web"/>
              </a:rPr>
              <a:t> codes. e.g. </a:t>
            </a:r>
            <a:r>
              <a:rPr lang="en" sz="2500">
                <a:solidFill>
                  <a:srgbClr val="0B5394"/>
                </a:solidFill>
                <a:latin typeface="Titillium Web"/>
                <a:ea typeface="Titillium Web"/>
                <a:cs typeface="Titillium Web"/>
                <a:sym typeface="Titillium Web"/>
              </a:rPr>
              <a:t>Print library, delay_loop.</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latin typeface="Dosis Medium"/>
              <a:ea typeface="Dosis Medium"/>
              <a:cs typeface="Dosis Medium"/>
              <a:sym typeface="Dosis Medium"/>
            </a:endParaRPr>
          </a:p>
        </p:txBody>
      </p:sp>
      <p:pic>
        <p:nvPicPr>
          <p:cNvPr id="138" name="Google Shape;138;p23" title="Screenshot from 2025-07-03 14-52-15.png"/>
          <p:cNvPicPr preferRelativeResize="0"/>
          <p:nvPr/>
        </p:nvPicPr>
        <p:blipFill rotWithShape="1">
          <a:blip r:embed="rId3">
            <a:alphaModFix/>
          </a:blip>
          <a:srcRect b="80360" l="1728" r="1718" t="3484"/>
          <a:stretch/>
        </p:blipFill>
        <p:spPr>
          <a:xfrm>
            <a:off x="733525" y="1512550"/>
            <a:ext cx="1885325" cy="380075"/>
          </a:xfrm>
          <a:prstGeom prst="rect">
            <a:avLst/>
          </a:prstGeom>
          <a:noFill/>
          <a:ln>
            <a:noFill/>
          </a:ln>
        </p:spPr>
      </p:pic>
      <p:pic>
        <p:nvPicPr>
          <p:cNvPr id="139" name="Google Shape;139;p23" title="Screenshot from 2025-07-03 14-52-15.png"/>
          <p:cNvPicPr preferRelativeResize="0"/>
          <p:nvPr/>
        </p:nvPicPr>
        <p:blipFill rotWithShape="1">
          <a:blip r:embed="rId3">
            <a:alphaModFix/>
          </a:blip>
          <a:srcRect b="30316" l="3446" r="0" t="53529"/>
          <a:stretch/>
        </p:blipFill>
        <p:spPr>
          <a:xfrm>
            <a:off x="775950" y="1933650"/>
            <a:ext cx="1842900" cy="380075"/>
          </a:xfrm>
          <a:prstGeom prst="rect">
            <a:avLst/>
          </a:prstGeom>
          <a:noFill/>
          <a:ln>
            <a:noFill/>
          </a:ln>
        </p:spPr>
      </p:pic>
      <p:pic>
        <p:nvPicPr>
          <p:cNvPr id="140" name="Google Shape;140;p23" title="Screenshot from 2025-07-03 14-52-15.png"/>
          <p:cNvPicPr preferRelativeResize="0"/>
          <p:nvPr/>
        </p:nvPicPr>
        <p:blipFill rotWithShape="1">
          <a:blip r:embed="rId3">
            <a:alphaModFix/>
          </a:blip>
          <a:srcRect b="-9527" l="3446" r="0" t="86574"/>
          <a:stretch/>
        </p:blipFill>
        <p:spPr>
          <a:xfrm>
            <a:off x="775950" y="2354750"/>
            <a:ext cx="1885325" cy="54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Core</a:t>
            </a:r>
            <a:endParaRPr>
              <a:latin typeface="Dosis"/>
              <a:ea typeface="Dosis"/>
              <a:cs typeface="Dosis"/>
              <a:sym typeface="Dosis"/>
            </a:endParaRPr>
          </a:p>
        </p:txBody>
      </p:sp>
      <p:sp>
        <p:nvSpPr>
          <p:cNvPr id="146" name="Google Shape;146;p24"/>
          <p:cNvSpPr txBox="1"/>
          <p:nvPr>
            <p:ph idx="1" type="body"/>
          </p:nvPr>
        </p:nvSpPr>
        <p:spPr>
          <a:xfrm>
            <a:off x="161275" y="540000"/>
            <a:ext cx="8322600" cy="2600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graphicFrame>
        <p:nvGraphicFramePr>
          <p:cNvPr id="147" name="Google Shape;147;p24"/>
          <p:cNvGraphicFramePr/>
          <p:nvPr/>
        </p:nvGraphicFramePr>
        <p:xfrm>
          <a:off x="2405550" y="973988"/>
          <a:ext cx="3000000" cy="3000000"/>
        </p:xfrm>
        <a:graphic>
          <a:graphicData uri="http://schemas.openxmlformats.org/drawingml/2006/table">
            <a:tbl>
              <a:tblPr>
                <a:noFill/>
                <a:tableStyleId>{9E3C8E5B-DE60-4C38-BC7E-6D5BF74BE1BC}</a:tableStyleId>
              </a:tblPr>
              <a:tblGrid>
                <a:gridCol w="6078325"/>
              </a:tblGrid>
              <a:tr h="397200">
                <a:tc>
                  <a:txBody>
                    <a:bodyPr/>
                    <a:lstStyle/>
                    <a:p>
                      <a:pPr indent="0" lvl="0" marL="0" rtl="0" algn="l">
                        <a:spcBef>
                          <a:spcPts val="0"/>
                        </a:spcBef>
                        <a:spcAft>
                          <a:spcPts val="0"/>
                        </a:spcAft>
                        <a:buNone/>
                      </a:pPr>
                      <a:r>
                        <a:rPr lang="en">
                          <a:latin typeface="Dosis Medium"/>
                          <a:ea typeface="Dosis Medium"/>
                          <a:cs typeface="Dosis Medium"/>
                          <a:sym typeface="Dosis Medium"/>
                        </a:rPr>
                        <a:t>Trap Handling initialisations &amp; calling the main function.</a:t>
                      </a:r>
                      <a:endParaRPr>
                        <a:latin typeface="Dosis Medium"/>
                        <a:ea typeface="Dosis Medium"/>
                        <a:cs typeface="Dosis Medium"/>
                        <a:sym typeface="Dosis Medium"/>
                      </a:endParaRPr>
                    </a:p>
                  </a:txBody>
                  <a:tcPr marT="91425" marB="91425" marR="91425" marL="91425"/>
                </a:tc>
              </a:tr>
              <a:tr h="381950">
                <a:tc>
                  <a:txBody>
                    <a:bodyPr/>
                    <a:lstStyle/>
                    <a:p>
                      <a:pPr indent="0" lvl="0" marL="0" rtl="0" algn="l">
                        <a:spcBef>
                          <a:spcPts val="0"/>
                        </a:spcBef>
                        <a:spcAft>
                          <a:spcPts val="0"/>
                        </a:spcAft>
                        <a:buNone/>
                      </a:pPr>
                      <a:r>
                        <a:rPr lang="en">
                          <a:latin typeface="Dosis Medium"/>
                          <a:ea typeface="Dosis Medium"/>
                          <a:cs typeface="Dosis Medium"/>
                          <a:sym typeface="Dosis Medium"/>
                        </a:rPr>
                        <a:t>Register initialisation, Section initialisation like (stack, text, global, data, etc.)</a:t>
                      </a:r>
                      <a:endParaRPr>
                        <a:latin typeface="Dosis Medium"/>
                        <a:ea typeface="Dosis Medium"/>
                        <a:cs typeface="Dosis Medium"/>
                        <a:sym typeface="Dosis Medium"/>
                      </a:endParaRPr>
                    </a:p>
                  </a:txBody>
                  <a:tcPr marT="91425" marB="91425" marR="91425" marL="91425"/>
                </a:tc>
              </a:tr>
              <a:tr h="381950">
                <a:tc>
                  <a:txBody>
                    <a:bodyPr/>
                    <a:lstStyle/>
                    <a:p>
                      <a:pPr indent="0" lvl="0" marL="0" rtl="0" algn="l">
                        <a:spcBef>
                          <a:spcPts val="0"/>
                        </a:spcBef>
                        <a:spcAft>
                          <a:spcPts val="0"/>
                        </a:spcAft>
                        <a:buNone/>
                      </a:pPr>
                      <a:r>
                        <a:rPr lang="en">
                          <a:latin typeface="Dosis Medium"/>
                          <a:ea typeface="Dosis Medium"/>
                          <a:cs typeface="Dosis Medium"/>
                          <a:sym typeface="Dosis Medium"/>
                        </a:rPr>
                        <a:t>Pushing the register values into Stack, Call ISR, Pop the register values.</a:t>
                      </a:r>
                      <a:endParaRPr>
                        <a:latin typeface="Dosis Medium"/>
                        <a:ea typeface="Dosis Medium"/>
                        <a:cs typeface="Dosis Medium"/>
                        <a:sym typeface="Dosis Medium"/>
                      </a:endParaRPr>
                    </a:p>
                  </a:txBody>
                  <a:tcPr marT="91425" marB="91425" marR="91425" marL="91425"/>
                </a:tc>
              </a:tr>
              <a:tr h="381950">
                <a:tc>
                  <a:txBody>
                    <a:bodyPr/>
                    <a:lstStyle/>
                    <a:p>
                      <a:pPr indent="0" lvl="0" marL="0" rtl="0" algn="l">
                        <a:spcBef>
                          <a:spcPts val="0"/>
                        </a:spcBef>
                        <a:spcAft>
                          <a:spcPts val="0"/>
                        </a:spcAft>
                        <a:buNone/>
                      </a:pPr>
                      <a:r>
                        <a:rPr lang="en">
                          <a:solidFill>
                            <a:schemeClr val="dk1"/>
                          </a:solidFill>
                          <a:latin typeface="Dosis Medium"/>
                          <a:ea typeface="Dosis Medium"/>
                          <a:cs typeface="Dosis Medium"/>
                          <a:sym typeface="Dosis Medium"/>
                        </a:rPr>
                        <a:t>Find the cause for the trap and jump to the Handler</a:t>
                      </a:r>
                      <a:endParaRPr>
                        <a:latin typeface="Dosis Medium"/>
                        <a:ea typeface="Dosis Medium"/>
                        <a:cs typeface="Dosis Medium"/>
                        <a:sym typeface="Dosis Medium"/>
                      </a:endParaRPr>
                    </a:p>
                  </a:txBody>
                  <a:tcPr marT="91425" marB="91425" marR="91425" marL="91425"/>
                </a:tc>
              </a:tr>
            </a:tbl>
          </a:graphicData>
        </a:graphic>
      </p:graphicFrame>
      <p:pic>
        <p:nvPicPr>
          <p:cNvPr id="148" name="Google Shape;148;p24" title="Screenshot from 2025-07-03 08-17-07.png"/>
          <p:cNvPicPr preferRelativeResize="0"/>
          <p:nvPr/>
        </p:nvPicPr>
        <p:blipFill rotWithShape="1">
          <a:blip r:embed="rId3">
            <a:alphaModFix/>
          </a:blip>
          <a:srcRect b="0" l="4240" r="-1507" t="0"/>
          <a:stretch/>
        </p:blipFill>
        <p:spPr>
          <a:xfrm>
            <a:off x="601525" y="962025"/>
            <a:ext cx="1843850" cy="1609725"/>
          </a:xfrm>
          <a:prstGeom prst="rect">
            <a:avLst/>
          </a:prstGeom>
          <a:noFill/>
          <a:ln>
            <a:noFill/>
          </a:ln>
        </p:spPr>
      </p:pic>
      <p:sp>
        <p:nvSpPr>
          <p:cNvPr id="149" name="Google Shape;149;p24"/>
          <p:cNvSpPr txBox="1"/>
          <p:nvPr/>
        </p:nvSpPr>
        <p:spPr>
          <a:xfrm>
            <a:off x="475975" y="2559800"/>
            <a:ext cx="8007900" cy="26217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n" sz="2500">
                <a:solidFill>
                  <a:srgbClr val="0B5394"/>
                </a:solidFill>
                <a:latin typeface="Titillium Web"/>
                <a:ea typeface="Titillium Web"/>
                <a:cs typeface="Titillium Web"/>
                <a:sym typeface="Titillium Web"/>
              </a:rPr>
              <a:t>Core has implementation which </a:t>
            </a:r>
            <a:endParaRPr sz="2500">
              <a:solidFill>
                <a:srgbClr val="0B5394"/>
              </a:solidFill>
              <a:latin typeface="Titillium Web"/>
              <a:ea typeface="Titillium Web"/>
              <a:cs typeface="Titillium Web"/>
              <a:sym typeface="Titillium Web"/>
            </a:endParaRPr>
          </a:p>
          <a:p>
            <a:pPr indent="-387350" lvl="0" marL="457200" rtl="0" algn="l">
              <a:spcBef>
                <a:spcPts val="100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Initialises memory.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Trap handler functions to handle exceptions and interrupts.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Startup file which initialises the RISC-V Registers.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Handlers for different </a:t>
            </a:r>
            <a:r>
              <a:rPr lang="en" sz="2500">
                <a:solidFill>
                  <a:srgbClr val="0B5394"/>
                </a:solidFill>
                <a:latin typeface="Titillium Web"/>
                <a:ea typeface="Titillium Web"/>
                <a:cs typeface="Titillium Web"/>
                <a:sym typeface="Titillium Web"/>
              </a:rPr>
              <a:t>privilege</a:t>
            </a:r>
            <a:r>
              <a:rPr lang="en" sz="2500">
                <a:solidFill>
                  <a:srgbClr val="0B5394"/>
                </a:solidFill>
                <a:latin typeface="Titillium Web"/>
                <a:ea typeface="Titillium Web"/>
                <a:cs typeface="Titillium Web"/>
                <a:sym typeface="Titillium Web"/>
              </a:rPr>
              <a:t> levels.</a:t>
            </a:r>
            <a:endParaRPr sz="2500">
              <a:solidFill>
                <a:srgbClr val="0B5394"/>
              </a:solidFill>
              <a:latin typeface="Titillium Web"/>
              <a:ea typeface="Titillium Web"/>
              <a:cs typeface="Titillium Web"/>
              <a:sym typeface="Titillium We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Third Party</a:t>
            </a:r>
            <a:endParaRPr>
              <a:latin typeface="Dosis"/>
              <a:ea typeface="Dosis"/>
              <a:cs typeface="Dosis"/>
              <a:sym typeface="Dosis"/>
            </a:endParaRPr>
          </a:p>
        </p:txBody>
      </p:sp>
      <p:sp>
        <p:nvSpPr>
          <p:cNvPr id="155" name="Google Shape;155;p25"/>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56" name="Google Shape;156;p25"/>
          <p:cNvSpPr txBox="1"/>
          <p:nvPr/>
        </p:nvSpPr>
        <p:spPr>
          <a:xfrm>
            <a:off x="2618575" y="866150"/>
            <a:ext cx="6316500" cy="27705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Board specific address mapping (platform.h).</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Configuration files to be used for debugging (ftdi.cfg).</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Linker for various sections of the code.</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Support for backward compatibility.</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latin typeface="Dosis"/>
              <a:ea typeface="Dosis"/>
              <a:cs typeface="Dosis"/>
              <a:sym typeface="Dosis"/>
            </a:endParaRPr>
          </a:p>
        </p:txBody>
      </p:sp>
      <p:graphicFrame>
        <p:nvGraphicFramePr>
          <p:cNvPr id="157" name="Google Shape;157;p25"/>
          <p:cNvGraphicFramePr/>
          <p:nvPr/>
        </p:nvGraphicFramePr>
        <p:xfrm>
          <a:off x="557325" y="1551100"/>
          <a:ext cx="3000000" cy="3000000"/>
        </p:xfrm>
        <a:graphic>
          <a:graphicData uri="http://schemas.openxmlformats.org/drawingml/2006/table">
            <a:tbl>
              <a:tblPr>
                <a:noFill/>
                <a:tableStyleId>{9E3C8E5B-DE60-4C38-BC7E-6D5BF74BE1BC}</a:tableStyleId>
              </a:tblPr>
              <a:tblGrid>
                <a:gridCol w="1664300"/>
              </a:tblGrid>
              <a:tr h="381000">
                <a:tc>
                  <a:txBody>
                    <a:bodyPr/>
                    <a:lstStyle/>
                    <a:p>
                      <a:pPr indent="0" lvl="0" marL="0" rtl="0" algn="l">
                        <a:spcBef>
                          <a:spcPts val="0"/>
                        </a:spcBef>
                        <a:spcAft>
                          <a:spcPts val="0"/>
                        </a:spcAft>
                        <a:buNone/>
                      </a:pPr>
                      <a:r>
                        <a:rPr b="1" lang="en"/>
                        <a:t>Ganga</a:t>
                      </a:r>
                      <a:endParaRPr b="1"/>
                    </a:p>
                  </a:txBody>
                  <a:tcPr marT="91425" marB="91425" marR="91425" marL="91425"/>
                </a:tc>
              </a:tr>
              <a:tr h="381000">
                <a:tc>
                  <a:txBody>
                    <a:bodyPr/>
                    <a:lstStyle/>
                    <a:p>
                      <a:pPr indent="0" lvl="0" marL="0" rtl="0" algn="l">
                        <a:spcBef>
                          <a:spcPts val="0"/>
                        </a:spcBef>
                        <a:spcAft>
                          <a:spcPts val="0"/>
                        </a:spcAft>
                        <a:buNone/>
                      </a:pPr>
                      <a:r>
                        <a:rPr b="1" lang="en"/>
                        <a:t>Yamuna</a:t>
                      </a:r>
                      <a:endParaRPr b="1"/>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Utils</a:t>
            </a:r>
            <a:endParaRPr>
              <a:latin typeface="Dosis"/>
              <a:ea typeface="Dosis"/>
              <a:cs typeface="Dosis"/>
              <a:sym typeface="Dosis"/>
            </a:endParaRPr>
          </a:p>
        </p:txBody>
      </p:sp>
      <p:sp>
        <p:nvSpPr>
          <p:cNvPr id="163" name="Google Shape;163;p26"/>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64" name="Google Shape;164;p26"/>
          <p:cNvSpPr txBox="1"/>
          <p:nvPr/>
        </p:nvSpPr>
        <p:spPr>
          <a:xfrm>
            <a:off x="2267325" y="987475"/>
            <a:ext cx="6385500" cy="27705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Board SPI or External SPI can be used for uploading the application code into flash.</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Application code to be flashed is converted into a header file before uploading.</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Has the required python scripts required to flash the application code.</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latin typeface="Dosis Medium"/>
              <a:ea typeface="Dosis Medium"/>
              <a:cs typeface="Dosis Medium"/>
              <a:sym typeface="Dosis Medium"/>
            </a:endParaRPr>
          </a:p>
        </p:txBody>
      </p:sp>
      <p:pic>
        <p:nvPicPr>
          <p:cNvPr id="165" name="Google Shape;165;p26" title="Screenshot from 2025-07-03 14-59-00.png"/>
          <p:cNvPicPr preferRelativeResize="0"/>
          <p:nvPr/>
        </p:nvPicPr>
        <p:blipFill rotWithShape="1">
          <a:blip r:embed="rId3">
            <a:alphaModFix/>
          </a:blip>
          <a:srcRect b="0" l="0" r="0" t="23141"/>
          <a:stretch/>
        </p:blipFill>
        <p:spPr>
          <a:xfrm>
            <a:off x="314700" y="1846100"/>
            <a:ext cx="1952625" cy="1251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a:t>
            </a:r>
            <a:r>
              <a:rPr lang="en">
                <a:latin typeface="Dosis"/>
                <a:ea typeface="Dosis"/>
                <a:cs typeface="Dosis"/>
                <a:sym typeface="Dosis"/>
              </a:rPr>
              <a:t>oftware</a:t>
            </a:r>
            <a:endParaRPr>
              <a:latin typeface="Dosis"/>
              <a:ea typeface="Dosis"/>
              <a:cs typeface="Dosis"/>
              <a:sym typeface="Dosis"/>
            </a:endParaRPr>
          </a:p>
        </p:txBody>
      </p:sp>
      <p:pic>
        <p:nvPicPr>
          <p:cNvPr id="171" name="Google Shape;171;p27" title="Screenshot from 2025-07-03 14-59-52.png"/>
          <p:cNvPicPr preferRelativeResize="0"/>
          <p:nvPr/>
        </p:nvPicPr>
        <p:blipFill rotWithShape="1">
          <a:blip r:embed="rId3">
            <a:alphaModFix/>
          </a:blip>
          <a:srcRect b="30191" l="0" r="0" t="0"/>
          <a:stretch/>
        </p:blipFill>
        <p:spPr>
          <a:xfrm>
            <a:off x="2216025" y="855100"/>
            <a:ext cx="1952625" cy="831175"/>
          </a:xfrm>
          <a:prstGeom prst="rect">
            <a:avLst/>
          </a:prstGeom>
          <a:noFill/>
          <a:ln>
            <a:noFill/>
          </a:ln>
        </p:spPr>
      </p:pic>
      <p:graphicFrame>
        <p:nvGraphicFramePr>
          <p:cNvPr id="172" name="Google Shape;172;p27"/>
          <p:cNvGraphicFramePr/>
          <p:nvPr/>
        </p:nvGraphicFramePr>
        <p:xfrm>
          <a:off x="4117125" y="855100"/>
          <a:ext cx="3000000" cy="3000000"/>
        </p:xfrm>
        <a:graphic>
          <a:graphicData uri="http://schemas.openxmlformats.org/drawingml/2006/table">
            <a:tbl>
              <a:tblPr>
                <a:noFill/>
                <a:tableStyleId>{9E3C8E5B-DE60-4C38-BC7E-6D5BF74BE1BC}</a:tableStyleId>
              </a:tblPr>
              <a:tblGrid>
                <a:gridCol w="3096600"/>
              </a:tblGrid>
              <a:tr h="381000">
                <a:tc>
                  <a:txBody>
                    <a:bodyPr/>
                    <a:lstStyle/>
                    <a:p>
                      <a:pPr indent="0" lvl="0" marL="0" rtl="0" algn="l">
                        <a:spcBef>
                          <a:spcPts val="0"/>
                        </a:spcBef>
                        <a:spcAft>
                          <a:spcPts val="0"/>
                        </a:spcAft>
                        <a:buNone/>
                      </a:pPr>
                      <a:r>
                        <a:rPr lang="en">
                          <a:solidFill>
                            <a:schemeClr val="dk1"/>
                          </a:solidFill>
                          <a:latin typeface="Dosis Medium"/>
                          <a:ea typeface="Dosis Medium"/>
                          <a:cs typeface="Dosis Medium"/>
                          <a:sym typeface="Dosis Medium"/>
                        </a:rPr>
                        <a:t>Example driver codes for peripherals.</a:t>
                      </a:r>
                      <a:endParaRPr/>
                    </a:p>
                  </a:txBody>
                  <a:tcPr marT="91425" marB="91425" marR="91425" marL="91425"/>
                </a:tc>
              </a:tr>
              <a:tr h="381000">
                <a:tc>
                  <a:txBody>
                    <a:bodyPr/>
                    <a:lstStyle/>
                    <a:p>
                      <a:pPr indent="0" lvl="0" marL="0" rtl="0" algn="l">
                        <a:spcBef>
                          <a:spcPts val="0"/>
                        </a:spcBef>
                        <a:spcAft>
                          <a:spcPts val="0"/>
                        </a:spcAft>
                        <a:buNone/>
                      </a:pPr>
                      <a:r>
                        <a:rPr lang="en">
                          <a:solidFill>
                            <a:schemeClr val="dk1"/>
                          </a:solidFill>
                          <a:latin typeface="Dosis Medium"/>
                          <a:ea typeface="Dosis Medium"/>
                          <a:cs typeface="Dosis Medium"/>
                          <a:sym typeface="Dosis Medium"/>
                        </a:rPr>
                        <a:t>Application Project with many drivers.</a:t>
                      </a:r>
                      <a:endParaRPr/>
                    </a:p>
                  </a:txBody>
                  <a:tcPr marT="91425" marB="91425" marR="91425" marL="91425"/>
                </a:tc>
              </a:tr>
            </a:tbl>
          </a:graphicData>
        </a:graphic>
      </p:graphicFrame>
      <p:sp>
        <p:nvSpPr>
          <p:cNvPr id="173" name="Google Shape;173;p27"/>
          <p:cNvSpPr txBox="1"/>
          <p:nvPr/>
        </p:nvSpPr>
        <p:spPr>
          <a:xfrm>
            <a:off x="1516875" y="2171350"/>
            <a:ext cx="6861600" cy="28782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“Examples” consist of Application code targeted use the functionality of individual peripheral.</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“Projects” consists of Application code involving multiple peripherals.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“BenchMarks” </a:t>
            </a:r>
            <a:r>
              <a:rPr lang="en" sz="2500">
                <a:solidFill>
                  <a:srgbClr val="0B5394"/>
                </a:solidFill>
                <a:latin typeface="Titillium Web"/>
                <a:ea typeface="Titillium Web"/>
                <a:cs typeface="Titillium Web"/>
                <a:sym typeface="Titillium Web"/>
              </a:rPr>
              <a:t>It is a set of Standard works , used to evaluate performance of the Core.</a:t>
            </a:r>
            <a:endParaRPr sz="2500">
              <a:solidFill>
                <a:srgbClr val="0B5394"/>
              </a:solidFill>
              <a:latin typeface="Titillium Web"/>
              <a:ea typeface="Titillium Web"/>
              <a:cs typeface="Titillium Web"/>
              <a:sym typeface="Titillium We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E</a:t>
            </a:r>
            <a:r>
              <a:rPr lang="en">
                <a:latin typeface="Dosis"/>
                <a:ea typeface="Dosis"/>
                <a:cs typeface="Dosis"/>
                <a:sym typeface="Dosis"/>
              </a:rPr>
              <a:t>xamples</a:t>
            </a:r>
            <a:endParaRPr>
              <a:latin typeface="Dosis"/>
              <a:ea typeface="Dosis"/>
              <a:cs typeface="Dosis"/>
              <a:sym typeface="Dosis"/>
            </a:endParaRPr>
          </a:p>
        </p:txBody>
      </p:sp>
      <p:sp>
        <p:nvSpPr>
          <p:cNvPr id="179" name="Google Shape;179;p28"/>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180" name="Google Shape;180;p28"/>
          <p:cNvSpPr txBox="1"/>
          <p:nvPr/>
        </p:nvSpPr>
        <p:spPr>
          <a:xfrm>
            <a:off x="3026300" y="931425"/>
            <a:ext cx="5457600" cy="27705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Simple code to show how the driver API can be called.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Application code which uses only one peripheral (driver) as main one.</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Has multiple </a:t>
            </a:r>
            <a:r>
              <a:rPr lang="en" sz="2500">
                <a:solidFill>
                  <a:srgbClr val="0B5394"/>
                </a:solidFill>
                <a:latin typeface="Titillium Web"/>
                <a:ea typeface="Titillium Web"/>
                <a:cs typeface="Titillium Web"/>
                <a:sym typeface="Titillium Web"/>
              </a:rPr>
              <a:t>application code for each driver.</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p>
        </p:txBody>
      </p:sp>
      <p:pic>
        <p:nvPicPr>
          <p:cNvPr id="181" name="Google Shape;181;p28" title="Screenshot from 2025-07-03 15-03-45.png"/>
          <p:cNvPicPr preferRelativeResize="0"/>
          <p:nvPr/>
        </p:nvPicPr>
        <p:blipFill>
          <a:blip r:embed="rId3">
            <a:alphaModFix/>
          </a:blip>
          <a:stretch>
            <a:fillRect/>
          </a:stretch>
        </p:blipFill>
        <p:spPr>
          <a:xfrm>
            <a:off x="1044663" y="809463"/>
            <a:ext cx="1952625" cy="4105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P</a:t>
            </a:r>
            <a:r>
              <a:rPr lang="en">
                <a:latin typeface="Dosis"/>
                <a:ea typeface="Dosis"/>
                <a:cs typeface="Dosis"/>
                <a:sym typeface="Dosis"/>
              </a:rPr>
              <a:t>rojects</a:t>
            </a:r>
            <a:endParaRPr>
              <a:latin typeface="Dosis"/>
              <a:ea typeface="Dosis"/>
              <a:cs typeface="Dosis"/>
              <a:sym typeface="Dosis"/>
            </a:endParaRPr>
          </a:p>
        </p:txBody>
      </p:sp>
      <p:sp>
        <p:nvSpPr>
          <p:cNvPr id="187" name="Google Shape;187;p29"/>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pic>
        <p:nvPicPr>
          <p:cNvPr id="188" name="Google Shape;188;p29" title="Screenshot from 2025-07-03 15-04-46.png"/>
          <p:cNvPicPr preferRelativeResize="0"/>
          <p:nvPr/>
        </p:nvPicPr>
        <p:blipFill>
          <a:blip r:embed="rId3">
            <a:alphaModFix/>
          </a:blip>
          <a:stretch>
            <a:fillRect/>
          </a:stretch>
        </p:blipFill>
        <p:spPr>
          <a:xfrm>
            <a:off x="802538" y="1274050"/>
            <a:ext cx="1952625" cy="2305050"/>
          </a:xfrm>
          <a:prstGeom prst="rect">
            <a:avLst/>
          </a:prstGeom>
          <a:noFill/>
          <a:ln>
            <a:noFill/>
          </a:ln>
        </p:spPr>
      </p:pic>
      <p:sp>
        <p:nvSpPr>
          <p:cNvPr id="189" name="Google Shape;189;p29"/>
          <p:cNvSpPr txBox="1"/>
          <p:nvPr/>
        </p:nvSpPr>
        <p:spPr>
          <a:xfrm>
            <a:off x="3424975" y="1125875"/>
            <a:ext cx="4623300" cy="35403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Integrates more than one peripheral driver.</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Application code which uses more than one peripheral.</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Focus</a:t>
            </a:r>
            <a:r>
              <a:rPr lang="en" sz="2500">
                <a:solidFill>
                  <a:srgbClr val="0B5394"/>
                </a:solidFill>
                <a:latin typeface="Titillium Web"/>
                <a:ea typeface="Titillium Web"/>
                <a:cs typeface="Titillium Web"/>
                <a:sym typeface="Titillium Web"/>
              </a:rPr>
              <a:t> here is to show how multiple drivers can be integrated into a single top file and used.</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311700" y="19583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Demo : Compile and Execute “Hello World” Program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Prerequisite</a:t>
            </a:r>
            <a:endParaRPr>
              <a:latin typeface="Dosis"/>
              <a:ea typeface="Dosis"/>
              <a:cs typeface="Dosis"/>
              <a:sym typeface="Dosis"/>
            </a:endParaRPr>
          </a:p>
        </p:txBody>
      </p:sp>
      <p:sp>
        <p:nvSpPr>
          <p:cNvPr id="200" name="Google Shape;200;p31"/>
          <p:cNvSpPr txBox="1"/>
          <p:nvPr/>
        </p:nvSpPr>
        <p:spPr>
          <a:xfrm>
            <a:off x="0" y="579475"/>
            <a:ext cx="8254200" cy="56799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Vivado  - to program the FPGA.</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OpenOCD - to configure the host as  server.</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RISCV-GNU-TOOLCHAIN - connect the core (SoC) as client to server and accesses the core/SoC.</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GTKTerm - for viewing the console prints.</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br>
              <a:rPr lang="en" sz="1900">
                <a:solidFill>
                  <a:srgbClr val="0B5394"/>
                </a:solidFill>
                <a:latin typeface="Titillium Web"/>
                <a:ea typeface="Titillium Web"/>
                <a:cs typeface="Titillium Web"/>
                <a:sym typeface="Titillium Web"/>
              </a:rPr>
            </a:br>
            <a:r>
              <a:rPr lang="en" sz="1900">
                <a:solidFill>
                  <a:srgbClr val="0B5394"/>
                </a:solidFill>
                <a:latin typeface="Titillium Web"/>
                <a:ea typeface="Titillium Web"/>
                <a:cs typeface="Titillium Web"/>
                <a:sym typeface="Titillium Web"/>
              </a:rPr>
              <a:t>Refer the “tool setup manual” in GCSDK/Docs </a:t>
            </a:r>
            <a:endParaRPr sz="19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1900">
              <a:solidFill>
                <a:srgbClr val="0B5394"/>
              </a:solidFill>
              <a:latin typeface="Titillium Web"/>
              <a:ea typeface="Titillium Web"/>
              <a:cs typeface="Titillium Web"/>
              <a:sym typeface="Titillium Web"/>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Program the FPGA</a:t>
            </a:r>
            <a:endParaRPr>
              <a:latin typeface="Dosis"/>
              <a:ea typeface="Dosis"/>
              <a:cs typeface="Dosis"/>
              <a:sym typeface="Dosis"/>
            </a:endParaRPr>
          </a:p>
        </p:txBody>
      </p:sp>
      <p:sp>
        <p:nvSpPr>
          <p:cNvPr id="206" name="Google Shape;206;p32"/>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207" name="Google Shape;207;p32"/>
          <p:cNvSpPr txBox="1"/>
          <p:nvPr/>
        </p:nvSpPr>
        <p:spPr>
          <a:xfrm>
            <a:off x="7225" y="540000"/>
            <a:ext cx="8630700" cy="46176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As demonstrated in </a:t>
            </a:r>
            <a:r>
              <a:rPr lang="en" sz="2500">
                <a:solidFill>
                  <a:srgbClr val="0B5394"/>
                </a:solidFill>
                <a:latin typeface="Titillium Web"/>
                <a:ea typeface="Titillium Web"/>
                <a:cs typeface="Titillium Web"/>
                <a:sym typeface="Titillium Web"/>
              </a:rPr>
              <a:t>previous</a:t>
            </a:r>
            <a:r>
              <a:rPr lang="en" sz="2500">
                <a:solidFill>
                  <a:srgbClr val="0B5394"/>
                </a:solidFill>
                <a:latin typeface="Titillium Web"/>
                <a:ea typeface="Titillium Web"/>
                <a:cs typeface="Titillium Web"/>
                <a:sym typeface="Titillium Web"/>
              </a:rPr>
              <a:t> session , program the FPGA with the bitstream / mcs </a:t>
            </a:r>
            <a:r>
              <a:rPr lang="en" sz="2500">
                <a:solidFill>
                  <a:srgbClr val="0B5394"/>
                </a:solidFill>
                <a:latin typeface="Titillium Web"/>
                <a:ea typeface="Titillium Web"/>
                <a:cs typeface="Titillium Web"/>
                <a:sym typeface="Titillium Web"/>
              </a:rPr>
              <a:t>using</a:t>
            </a:r>
            <a:r>
              <a:rPr lang="en" sz="2500">
                <a:solidFill>
                  <a:srgbClr val="0B5394"/>
                </a:solidFill>
                <a:latin typeface="Titillium Web"/>
                <a:ea typeface="Titillium Web"/>
                <a:cs typeface="Titillium Web"/>
                <a:sym typeface="Titillium Web"/>
              </a:rPr>
              <a:t> Vivado</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1900">
                <a:solidFill>
                  <a:srgbClr val="0B5394"/>
                </a:solidFill>
                <a:latin typeface="Titillium Web"/>
                <a:ea typeface="Titillium Web"/>
                <a:cs typeface="Titillium Web"/>
                <a:sym typeface="Titillium Web"/>
              </a:rPr>
              <a:t>Refer the “</a:t>
            </a:r>
            <a:r>
              <a:rPr lang="en" sz="1900">
                <a:solidFill>
                  <a:srgbClr val="0B5394"/>
                </a:solidFill>
                <a:latin typeface="Titillium Web"/>
                <a:ea typeface="Titillium Web"/>
                <a:cs typeface="Titillium Web"/>
                <a:sym typeface="Titillium Web"/>
              </a:rPr>
              <a:t>Bitstream/MCS Generation and FPGA Target Configuration”</a:t>
            </a:r>
            <a:r>
              <a:rPr lang="en" sz="1900">
                <a:solidFill>
                  <a:srgbClr val="0B5394"/>
                </a:solidFill>
                <a:latin typeface="Titillium Web"/>
                <a:ea typeface="Titillium Web"/>
                <a:cs typeface="Titillium Web"/>
                <a:sym typeface="Titillium Web"/>
              </a:rPr>
              <a:t> manual in GCSDK/Docs </a:t>
            </a:r>
            <a:endParaRPr sz="1900">
              <a:solidFill>
                <a:srgbClr val="0B5394"/>
              </a:solidFill>
              <a:latin typeface="Titillium Web"/>
              <a:ea typeface="Titillium Web"/>
              <a:cs typeface="Titillium Web"/>
              <a:sym typeface="Titillium Web"/>
            </a:endParaRPr>
          </a:p>
        </p:txBody>
      </p:sp>
      <p:pic>
        <p:nvPicPr>
          <p:cNvPr id="208" name="Google Shape;208;p32"/>
          <p:cNvPicPr preferRelativeResize="0"/>
          <p:nvPr/>
        </p:nvPicPr>
        <p:blipFill rotWithShape="1">
          <a:blip r:embed="rId3">
            <a:alphaModFix/>
          </a:blip>
          <a:srcRect b="59927" l="5730" r="52531" t="10922"/>
          <a:stretch/>
        </p:blipFill>
        <p:spPr>
          <a:xfrm>
            <a:off x="2777463" y="2248153"/>
            <a:ext cx="3589074" cy="1879922"/>
          </a:xfrm>
          <a:prstGeom prst="rect">
            <a:avLst/>
          </a:prstGeom>
          <a:noFill/>
          <a:ln cap="flat" cmpd="sng" w="9525">
            <a:solidFill>
              <a:srgbClr val="000000"/>
            </a:solidFill>
            <a:prstDash val="solid"/>
            <a:round/>
            <a:headEnd len="sm" w="sm" type="none"/>
            <a:tailEnd len="sm" w="sm" type="none"/>
          </a:ln>
        </p:spPr>
      </p:pic>
      <p:sp>
        <p:nvSpPr>
          <p:cNvPr id="209" name="Google Shape;209;p32"/>
          <p:cNvSpPr txBox="1"/>
          <p:nvPr/>
        </p:nvSpPr>
        <p:spPr>
          <a:xfrm>
            <a:off x="3144239" y="1737025"/>
            <a:ext cx="26436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After Programming the board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Compile the Application</a:t>
            </a:r>
            <a:endParaRPr>
              <a:latin typeface="Dosis"/>
              <a:ea typeface="Dosis"/>
              <a:cs typeface="Dosis"/>
              <a:sym typeface="Dosis"/>
            </a:endParaRPr>
          </a:p>
        </p:txBody>
      </p:sp>
      <p:sp>
        <p:nvSpPr>
          <p:cNvPr id="215" name="Google Shape;215;p33"/>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216" name="Google Shape;216;p33"/>
          <p:cNvSpPr txBox="1"/>
          <p:nvPr/>
        </p:nvSpPr>
        <p:spPr>
          <a:xfrm>
            <a:off x="7225" y="540000"/>
            <a:ext cx="8630700" cy="47100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Make sure the working directory is /GCSDK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rPr lang="en" sz="2500">
                <a:solidFill>
                  <a:srgbClr val="0B5394"/>
                </a:solidFill>
                <a:latin typeface="Titillium Web"/>
                <a:ea typeface="Titillium Web"/>
                <a:cs typeface="Titillium Web"/>
                <a:sym typeface="Titillium Web"/>
              </a:rPr>
              <a:t>Execute the </a:t>
            </a:r>
            <a:r>
              <a:rPr lang="en" sz="2500">
                <a:solidFill>
                  <a:srgbClr val="0B5394"/>
                </a:solidFill>
                <a:latin typeface="Titillium Web"/>
                <a:ea typeface="Titillium Web"/>
                <a:cs typeface="Titillium Web"/>
                <a:sym typeface="Titillium Web"/>
              </a:rPr>
              <a:t>following command</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The &lt;target_soc&gt; can either be ‘ganga’ or ‘yamuna’.</a:t>
            </a:r>
            <a:br>
              <a:rPr lang="en" sz="2500">
                <a:solidFill>
                  <a:srgbClr val="0B5394"/>
                </a:solidFill>
                <a:latin typeface="Titillium Web"/>
                <a:ea typeface="Titillium Web"/>
                <a:cs typeface="Titillium Web"/>
                <a:sym typeface="Titillium Web"/>
              </a:rPr>
            </a:br>
            <a:r>
              <a:rPr lang="en" sz="2500">
                <a:solidFill>
                  <a:srgbClr val="0B5394"/>
                </a:solidFill>
                <a:latin typeface="Titillium Web"/>
                <a:ea typeface="Titillium Web"/>
                <a:cs typeface="Titillium Web"/>
                <a:sym typeface="Titillium Web"/>
              </a:rPr>
              <a:t>*</a:t>
            </a:r>
            <a:r>
              <a:rPr lang="en" sz="2500">
                <a:solidFill>
                  <a:srgbClr val="0B5394"/>
                </a:solidFill>
                <a:latin typeface="Titillium Web"/>
                <a:ea typeface="Titillium Web"/>
                <a:cs typeface="Titillium Web"/>
                <a:sym typeface="Titillium Web"/>
              </a:rPr>
              <a:t>p</a:t>
            </a:r>
            <a:r>
              <a:rPr lang="en" sz="2500">
                <a:solidFill>
                  <a:srgbClr val="0B5394"/>
                </a:solidFill>
                <a:latin typeface="Titillium Web"/>
                <a:ea typeface="Titillium Web"/>
                <a:cs typeface="Titillium Web"/>
                <a:sym typeface="Titillium Web"/>
              </a:rPr>
              <a:t>lease note &lt;target_soc&gt; is case sensitive</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1900">
                <a:solidFill>
                  <a:srgbClr val="0B5394"/>
                </a:solidFill>
                <a:latin typeface="Titillium Web"/>
                <a:ea typeface="Titillium Web"/>
                <a:cs typeface="Titillium Web"/>
                <a:sym typeface="Titillium Web"/>
              </a:rPr>
              <a:t>Refer the “Shakti SDK ” user manual in GCSDK/Docs </a:t>
            </a:r>
            <a:endParaRPr sz="1900">
              <a:solidFill>
                <a:srgbClr val="0B5394"/>
              </a:solidFill>
              <a:latin typeface="Titillium Web"/>
              <a:ea typeface="Titillium Web"/>
              <a:cs typeface="Titillium Web"/>
              <a:sym typeface="Titillium Web"/>
            </a:endParaRPr>
          </a:p>
        </p:txBody>
      </p:sp>
      <p:graphicFrame>
        <p:nvGraphicFramePr>
          <p:cNvPr id="217" name="Google Shape;217;p33"/>
          <p:cNvGraphicFramePr/>
          <p:nvPr/>
        </p:nvGraphicFramePr>
        <p:xfrm>
          <a:off x="952500" y="1734475"/>
          <a:ext cx="3000000" cy="3000000"/>
        </p:xfrm>
        <a:graphic>
          <a:graphicData uri="http://schemas.openxmlformats.org/drawingml/2006/table">
            <a:tbl>
              <a:tblPr>
                <a:noFill/>
                <a:tableStyleId>{9E3C8E5B-DE60-4C38-BC7E-6D5BF74BE1BC}</a:tableStyleId>
              </a:tblPr>
              <a:tblGrid>
                <a:gridCol w="7239000"/>
              </a:tblGrid>
              <a:tr h="381000">
                <a:tc>
                  <a:txBody>
                    <a:bodyPr/>
                    <a:lstStyle/>
                    <a:p>
                      <a:pPr indent="0" lvl="0" marL="0" rtl="0" algn="l">
                        <a:spcBef>
                          <a:spcPts val="0"/>
                        </a:spcBef>
                        <a:spcAft>
                          <a:spcPts val="0"/>
                        </a:spcAft>
                        <a:buNone/>
                      </a:pPr>
                      <a:r>
                        <a:rPr b="1" lang="en"/>
                        <a:t>m</a:t>
                      </a:r>
                      <a:r>
                        <a:rPr b="1" lang="en"/>
                        <a:t>ake software PROGRAM=hello TARGET=&lt;target_soc&gt;</a:t>
                      </a:r>
                      <a:endParaRPr b="1"/>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4"/>
          <p:cNvPicPr preferRelativeResize="0"/>
          <p:nvPr/>
        </p:nvPicPr>
        <p:blipFill>
          <a:blip r:embed="rId3">
            <a:alphaModFix/>
          </a:blip>
          <a:stretch>
            <a:fillRect/>
          </a:stretch>
        </p:blipFill>
        <p:spPr>
          <a:xfrm>
            <a:off x="369563" y="1213775"/>
            <a:ext cx="8404874" cy="771950"/>
          </a:xfrm>
          <a:prstGeom prst="rect">
            <a:avLst/>
          </a:prstGeom>
          <a:noFill/>
          <a:ln>
            <a:noFill/>
          </a:ln>
        </p:spPr>
      </p:pic>
      <p:pic>
        <p:nvPicPr>
          <p:cNvPr id="223" name="Google Shape;223;p34"/>
          <p:cNvPicPr preferRelativeResize="0"/>
          <p:nvPr/>
        </p:nvPicPr>
        <p:blipFill>
          <a:blip r:embed="rId4">
            <a:alphaModFix/>
          </a:blip>
          <a:stretch>
            <a:fillRect/>
          </a:stretch>
        </p:blipFill>
        <p:spPr>
          <a:xfrm>
            <a:off x="152399" y="2138253"/>
            <a:ext cx="8839201" cy="150485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Connecting Openocd</a:t>
            </a:r>
            <a:endParaRPr>
              <a:latin typeface="Dosis"/>
              <a:ea typeface="Dosis"/>
              <a:cs typeface="Dosis"/>
              <a:sym typeface="Dosis"/>
            </a:endParaRPr>
          </a:p>
        </p:txBody>
      </p:sp>
      <p:sp>
        <p:nvSpPr>
          <p:cNvPr id="229" name="Google Shape;229;p35"/>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230" name="Google Shape;230;p35"/>
          <p:cNvSpPr txBox="1"/>
          <p:nvPr/>
        </p:nvSpPr>
        <p:spPr>
          <a:xfrm>
            <a:off x="7225" y="540000"/>
            <a:ext cx="8630700" cy="47100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Make sure the working directory is /GCSDK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rPr lang="en" sz="2500">
                <a:solidFill>
                  <a:srgbClr val="0B5394"/>
                </a:solidFill>
                <a:latin typeface="Titillium Web"/>
                <a:ea typeface="Titillium Web"/>
                <a:cs typeface="Titillium Web"/>
                <a:sym typeface="Titillium Web"/>
              </a:rPr>
              <a:t>Execute the following command</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514350" lvl="0" marL="0" rtl="0" algn="l">
              <a:spcBef>
                <a:spcPts val="0"/>
              </a:spcBef>
              <a:spcAft>
                <a:spcPts val="0"/>
              </a:spcAft>
              <a:buNone/>
            </a:pPr>
            <a:r>
              <a:rPr lang="en" sz="2500">
                <a:solidFill>
                  <a:srgbClr val="0B5394"/>
                </a:solidFill>
                <a:latin typeface="Titillium Web"/>
                <a:ea typeface="Titillium Web"/>
                <a:cs typeface="Titillium Web"/>
                <a:sym typeface="Titillium Web"/>
              </a:rPr>
              <a:t>The</a:t>
            </a:r>
            <a:r>
              <a:rPr lang="en" sz="2500">
                <a:solidFill>
                  <a:srgbClr val="0B5394"/>
                </a:solidFill>
                <a:latin typeface="Titillium Web"/>
                <a:ea typeface="Titillium Web"/>
                <a:cs typeface="Titillium Web"/>
                <a:sym typeface="Titillium Web"/>
              </a:rPr>
              <a:t> &lt;target_soc&gt; can either be ‘ganga’ or ‘yamuna’.</a:t>
            </a:r>
            <a:endParaRPr sz="2500">
              <a:solidFill>
                <a:srgbClr val="0B5394"/>
              </a:solidFill>
              <a:latin typeface="Titillium Web"/>
              <a:ea typeface="Titillium Web"/>
              <a:cs typeface="Titillium Web"/>
              <a:sym typeface="Titillium Web"/>
            </a:endParaRPr>
          </a:p>
          <a:p>
            <a:pPr indent="514350" lvl="0" marL="0" rtl="0" algn="l">
              <a:spcBef>
                <a:spcPts val="0"/>
              </a:spcBef>
              <a:spcAft>
                <a:spcPts val="0"/>
              </a:spcAft>
              <a:buNone/>
            </a:pPr>
            <a:r>
              <a:rPr lang="en" sz="2500">
                <a:solidFill>
                  <a:srgbClr val="0B5394"/>
                </a:solidFill>
                <a:latin typeface="Titillium Web"/>
                <a:ea typeface="Titillium Web"/>
                <a:cs typeface="Titillium Web"/>
                <a:sym typeface="Titillium Web"/>
              </a:rPr>
              <a:t>*please note &lt;target_soc&gt; is case sensitive</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1900">
                <a:solidFill>
                  <a:srgbClr val="0B5394"/>
                </a:solidFill>
                <a:latin typeface="Titillium Web"/>
                <a:ea typeface="Titillium Web"/>
                <a:cs typeface="Titillium Web"/>
                <a:sym typeface="Titillium Web"/>
              </a:rPr>
              <a:t>Refer the “Shakti SDK ” user manual in GCSDK/Docs </a:t>
            </a:r>
            <a:endParaRPr sz="1900">
              <a:solidFill>
                <a:srgbClr val="0B5394"/>
              </a:solidFill>
              <a:latin typeface="Titillium Web"/>
              <a:ea typeface="Titillium Web"/>
              <a:cs typeface="Titillium Web"/>
              <a:sym typeface="Titillium Web"/>
            </a:endParaRPr>
          </a:p>
        </p:txBody>
      </p:sp>
      <p:graphicFrame>
        <p:nvGraphicFramePr>
          <p:cNvPr id="231" name="Google Shape;231;p35"/>
          <p:cNvGraphicFramePr/>
          <p:nvPr/>
        </p:nvGraphicFramePr>
        <p:xfrm>
          <a:off x="952500" y="1734475"/>
          <a:ext cx="3000000" cy="3000000"/>
        </p:xfrm>
        <a:graphic>
          <a:graphicData uri="http://schemas.openxmlformats.org/drawingml/2006/table">
            <a:tbl>
              <a:tblPr>
                <a:noFill/>
                <a:tableStyleId>{9E3C8E5B-DE60-4C38-BC7E-6D5BF74BE1BC}</a:tableStyleId>
              </a:tblPr>
              <a:tblGrid>
                <a:gridCol w="7239000"/>
              </a:tblGrid>
              <a:tr h="4056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cd bsp/third_party/&lt;Target_SoC&gt;</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sudo </a:t>
                      </a:r>
                      <a:r>
                        <a:rPr b="1" lang="en">
                          <a:solidFill>
                            <a:schemeClr val="dk1"/>
                          </a:solidFill>
                        </a:rPr>
                        <a:t>./openocd</a:t>
                      </a:r>
                      <a:r>
                        <a:rPr b="1" lang="en">
                          <a:solidFill>
                            <a:schemeClr val="dk1"/>
                          </a:solidFill>
                        </a:rPr>
                        <a:t> -f ftdi.cfg</a:t>
                      </a:r>
                      <a:endParaRPr b="1"/>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6"/>
          <p:cNvPicPr preferRelativeResize="0"/>
          <p:nvPr/>
        </p:nvPicPr>
        <p:blipFill>
          <a:blip r:embed="rId3">
            <a:alphaModFix/>
          </a:blip>
          <a:stretch>
            <a:fillRect/>
          </a:stretch>
        </p:blipFill>
        <p:spPr>
          <a:xfrm>
            <a:off x="649813" y="152400"/>
            <a:ext cx="7844374" cy="48387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Connecting Debugger</a:t>
            </a:r>
            <a:endParaRPr>
              <a:latin typeface="Dosis"/>
              <a:ea typeface="Dosis"/>
              <a:cs typeface="Dosis"/>
              <a:sym typeface="Dosis"/>
            </a:endParaRPr>
          </a:p>
        </p:txBody>
      </p:sp>
      <p:sp>
        <p:nvSpPr>
          <p:cNvPr id="242" name="Google Shape;242;p37"/>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243" name="Google Shape;243;p37"/>
          <p:cNvSpPr txBox="1"/>
          <p:nvPr/>
        </p:nvSpPr>
        <p:spPr>
          <a:xfrm>
            <a:off x="7225" y="540000"/>
            <a:ext cx="8616600" cy="47100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Make sure the working directory is /GCSDK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rPr lang="en" sz="2500">
                <a:solidFill>
                  <a:srgbClr val="0B5394"/>
                </a:solidFill>
                <a:latin typeface="Titillium Web"/>
                <a:ea typeface="Titillium Web"/>
                <a:cs typeface="Titillium Web"/>
                <a:sym typeface="Titillium Web"/>
              </a:rPr>
              <a:t>Execute the following command</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br>
              <a:rPr lang="en" sz="2500">
                <a:solidFill>
                  <a:srgbClr val="0B5394"/>
                </a:solidFill>
                <a:latin typeface="Titillium Web"/>
                <a:ea typeface="Titillium Web"/>
                <a:cs typeface="Titillium Web"/>
                <a:sym typeface="Titillium Web"/>
              </a:rPr>
            </a:br>
            <a:r>
              <a:rPr lang="en" sz="2500">
                <a:solidFill>
                  <a:srgbClr val="0B5394"/>
                </a:solidFill>
                <a:latin typeface="Titillium Web"/>
                <a:ea typeface="Titillium Web"/>
                <a:cs typeface="Titillium Web"/>
                <a:sym typeface="Titillium Web"/>
              </a:rPr>
              <a:t>*please note XLEN depends on the toolchain you </a:t>
            </a:r>
            <a:r>
              <a:rPr lang="en" sz="2500">
                <a:solidFill>
                  <a:srgbClr val="0B5394"/>
                </a:solidFill>
                <a:latin typeface="Titillium Web"/>
                <a:ea typeface="Titillium Web"/>
                <a:cs typeface="Titillium Web"/>
                <a:sym typeface="Titillium Web"/>
              </a:rPr>
              <a:t>have installed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RV64 : XLEN = 64 ; RV32 : XLEN = 32</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1900">
                <a:solidFill>
                  <a:srgbClr val="0B5394"/>
                </a:solidFill>
                <a:latin typeface="Titillium Web"/>
                <a:ea typeface="Titillium Web"/>
                <a:cs typeface="Titillium Web"/>
                <a:sym typeface="Titillium Web"/>
              </a:rPr>
              <a:t>Refer the “Shakti SDK ” user manual in GCSDK/Docs </a:t>
            </a:r>
            <a:endParaRPr sz="1900">
              <a:solidFill>
                <a:srgbClr val="0B5394"/>
              </a:solidFill>
              <a:latin typeface="Titillium Web"/>
              <a:ea typeface="Titillium Web"/>
              <a:cs typeface="Titillium Web"/>
              <a:sym typeface="Titillium Web"/>
            </a:endParaRPr>
          </a:p>
        </p:txBody>
      </p:sp>
      <p:graphicFrame>
        <p:nvGraphicFramePr>
          <p:cNvPr id="244" name="Google Shape;244;p37"/>
          <p:cNvGraphicFramePr/>
          <p:nvPr/>
        </p:nvGraphicFramePr>
        <p:xfrm>
          <a:off x="952500" y="1734475"/>
          <a:ext cx="3000000" cy="3000000"/>
        </p:xfrm>
        <a:graphic>
          <a:graphicData uri="http://schemas.openxmlformats.org/drawingml/2006/table">
            <a:tbl>
              <a:tblPr>
                <a:noFill/>
                <a:tableStyleId>{9E3C8E5B-DE60-4C38-BC7E-6D5BF74BE1BC}</a:tableStyleId>
              </a:tblPr>
              <a:tblGrid>
                <a:gridCol w="7239000"/>
              </a:tblGrid>
              <a:tr h="381000">
                <a:tc>
                  <a:txBody>
                    <a:bodyPr/>
                    <a:lstStyle/>
                    <a:p>
                      <a:pPr indent="0" lvl="0" marL="0" rtl="0" algn="l">
                        <a:spcBef>
                          <a:spcPts val="0"/>
                        </a:spcBef>
                        <a:spcAft>
                          <a:spcPts val="0"/>
                        </a:spcAft>
                        <a:buNone/>
                      </a:pPr>
                      <a:r>
                        <a:rPr b="1" lang="en"/>
                        <a:t>riscv(XLEN)-unknown-elf-gdb -x </a:t>
                      </a:r>
                      <a:r>
                        <a:rPr b="1" lang="en"/>
                        <a:t>gdb.script</a:t>
                      </a:r>
                      <a:endParaRPr b="1"/>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8"/>
          <p:cNvPicPr preferRelativeResize="0"/>
          <p:nvPr/>
        </p:nvPicPr>
        <p:blipFill>
          <a:blip r:embed="rId3">
            <a:alphaModFix/>
          </a:blip>
          <a:stretch>
            <a:fillRect/>
          </a:stretch>
        </p:blipFill>
        <p:spPr>
          <a:xfrm>
            <a:off x="1779775" y="152400"/>
            <a:ext cx="5584451" cy="48387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Viewing the Output</a:t>
            </a:r>
            <a:endParaRPr>
              <a:latin typeface="Dosis"/>
              <a:ea typeface="Dosis"/>
              <a:cs typeface="Dosis"/>
              <a:sym typeface="Dosis"/>
            </a:endParaRPr>
          </a:p>
        </p:txBody>
      </p:sp>
      <p:sp>
        <p:nvSpPr>
          <p:cNvPr id="255" name="Google Shape;255;p39"/>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256" name="Google Shape;256;p39"/>
          <p:cNvSpPr txBox="1"/>
          <p:nvPr/>
        </p:nvSpPr>
        <p:spPr>
          <a:xfrm>
            <a:off x="7225" y="540000"/>
            <a:ext cx="8616600" cy="47100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Make sure the working directory is /GCSDK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rPr lang="en" sz="2500">
                <a:solidFill>
                  <a:srgbClr val="0B5394"/>
                </a:solidFill>
                <a:latin typeface="Titillium Web"/>
                <a:ea typeface="Titillium Web"/>
                <a:cs typeface="Titillium Web"/>
                <a:sym typeface="Titillium Web"/>
              </a:rPr>
              <a:t>Execute the following command</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45720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br>
              <a:rPr lang="en" sz="2500">
                <a:solidFill>
                  <a:srgbClr val="0B5394"/>
                </a:solidFill>
                <a:latin typeface="Titillium Web"/>
                <a:ea typeface="Titillium Web"/>
                <a:cs typeface="Titillium Web"/>
                <a:sym typeface="Titillium Web"/>
              </a:rPr>
            </a:b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1900">
                <a:solidFill>
                  <a:srgbClr val="0B5394"/>
                </a:solidFill>
                <a:latin typeface="Titillium Web"/>
                <a:ea typeface="Titillium Web"/>
                <a:cs typeface="Titillium Web"/>
                <a:sym typeface="Titillium Web"/>
              </a:rPr>
              <a:t>Refer the “Shakti SDK ” user manual in GCSDK/Docs </a:t>
            </a:r>
            <a:endParaRPr sz="1900">
              <a:solidFill>
                <a:srgbClr val="0B5394"/>
              </a:solidFill>
              <a:latin typeface="Titillium Web"/>
              <a:ea typeface="Titillium Web"/>
              <a:cs typeface="Titillium Web"/>
              <a:sym typeface="Titillium Web"/>
            </a:endParaRPr>
          </a:p>
        </p:txBody>
      </p:sp>
      <p:graphicFrame>
        <p:nvGraphicFramePr>
          <p:cNvPr id="257" name="Google Shape;257;p39"/>
          <p:cNvGraphicFramePr/>
          <p:nvPr/>
        </p:nvGraphicFramePr>
        <p:xfrm>
          <a:off x="952500" y="1734475"/>
          <a:ext cx="3000000" cy="3000000"/>
        </p:xfrm>
        <a:graphic>
          <a:graphicData uri="http://schemas.openxmlformats.org/drawingml/2006/table">
            <a:tbl>
              <a:tblPr>
                <a:noFill/>
                <a:tableStyleId>{9E3C8E5B-DE60-4C38-BC7E-6D5BF74BE1BC}</a:tableStyleId>
              </a:tblPr>
              <a:tblGrid>
                <a:gridCol w="7239000"/>
              </a:tblGrid>
              <a:tr h="381000">
                <a:tc>
                  <a:txBody>
                    <a:bodyPr/>
                    <a:lstStyle/>
                    <a:p>
                      <a:pPr indent="0" lvl="0" marL="0" rtl="0" algn="l">
                        <a:spcBef>
                          <a:spcPts val="0"/>
                        </a:spcBef>
                        <a:spcAft>
                          <a:spcPts val="0"/>
                        </a:spcAft>
                        <a:buNone/>
                      </a:pPr>
                      <a:r>
                        <a:rPr b="1" lang="en"/>
                        <a:t>s</a:t>
                      </a:r>
                      <a:r>
                        <a:rPr b="1" lang="en"/>
                        <a:t>udo gtkterm</a:t>
                      </a:r>
                      <a:endParaRPr b="1"/>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0"/>
          <p:cNvPicPr preferRelativeResize="0"/>
          <p:nvPr/>
        </p:nvPicPr>
        <p:blipFill>
          <a:blip r:embed="rId3">
            <a:alphaModFix/>
          </a:blip>
          <a:stretch>
            <a:fillRect/>
          </a:stretch>
        </p:blipFill>
        <p:spPr>
          <a:xfrm>
            <a:off x="1413404" y="152400"/>
            <a:ext cx="6317191" cy="4838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41"/>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Adding new Application to GCSDK</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1" name="Shape 271"/>
        <p:cNvGrpSpPr/>
        <p:nvPr/>
      </p:nvGrpSpPr>
      <p:grpSpPr>
        <a:xfrm>
          <a:off x="0" y="0"/>
          <a:ext cx="0" cy="0"/>
          <a:chOff x="0" y="0"/>
          <a:chExt cx="0" cy="0"/>
        </a:xfrm>
      </p:grpSpPr>
      <p:sp>
        <p:nvSpPr>
          <p:cNvPr id="272" name="Google Shape;272;p42"/>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Makefile</a:t>
            </a:r>
            <a:endParaRPr>
              <a:latin typeface="Dosis"/>
              <a:ea typeface="Dosis"/>
              <a:cs typeface="Dosis"/>
              <a:sym typeface="Dosis"/>
            </a:endParaRPr>
          </a:p>
        </p:txBody>
      </p:sp>
      <p:sp>
        <p:nvSpPr>
          <p:cNvPr id="273" name="Google Shape;273;p42"/>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800"/>
              <a:buFont typeface="Arial"/>
              <a:buNone/>
            </a:pPr>
            <a:r>
              <a:rPr b="1" lang="en" sz="2500"/>
              <a:t>To compile programs more efficiently the GNU’s MAKE utility is used. The make utility uses the Makefile to compile programs from source code. The output generated by the MAKE utility is in ELF format (with extension as “shakti”).</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p43"/>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Steps to add a new Application to GCSDK</a:t>
            </a:r>
            <a:endParaRPr>
              <a:latin typeface="Dosis"/>
              <a:ea typeface="Dosis"/>
              <a:cs typeface="Dosis"/>
              <a:sym typeface="Dosis"/>
            </a:endParaRPr>
          </a:p>
        </p:txBody>
      </p:sp>
      <p:sp>
        <p:nvSpPr>
          <p:cNvPr id="279" name="Google Shape;279;p43"/>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387350" lvl="0" marL="457200" rtl="0" algn="l">
              <a:lnSpc>
                <a:spcPct val="100000"/>
              </a:lnSpc>
              <a:spcBef>
                <a:spcPts val="0"/>
              </a:spcBef>
              <a:spcAft>
                <a:spcPts val="0"/>
              </a:spcAft>
              <a:buSzPts val="2500"/>
              <a:buChar char="●"/>
            </a:pPr>
            <a:r>
              <a:rPr b="1" lang="en" sz="2500"/>
              <a:t>Create a </a:t>
            </a:r>
            <a:r>
              <a:rPr b="1" lang="en" sz="2500"/>
              <a:t>folder</a:t>
            </a:r>
            <a:r>
              <a:rPr b="1" lang="en" sz="2500"/>
              <a:t> inside the target application</a:t>
            </a:r>
            <a:endParaRPr b="1" sz="2500"/>
          </a:p>
          <a:p>
            <a:pPr indent="0" lvl="0" marL="457200" rtl="0" algn="l">
              <a:lnSpc>
                <a:spcPct val="100000"/>
              </a:lnSpc>
              <a:spcBef>
                <a:spcPts val="0"/>
              </a:spcBef>
              <a:spcAft>
                <a:spcPts val="0"/>
              </a:spcAft>
              <a:buNone/>
            </a:pPr>
            <a:r>
              <a:t/>
            </a:r>
            <a:endParaRPr b="1" sz="2500"/>
          </a:p>
          <a:p>
            <a:pPr indent="0" lvl="0" marL="457200" rtl="0" algn="l">
              <a:lnSpc>
                <a:spcPct val="100000"/>
              </a:lnSpc>
              <a:spcBef>
                <a:spcPts val="0"/>
              </a:spcBef>
              <a:spcAft>
                <a:spcPts val="0"/>
              </a:spcAft>
              <a:buNone/>
            </a:pPr>
            <a:r>
              <a:rPr b="1" lang="en" sz="2500"/>
              <a:t>e</a:t>
            </a:r>
            <a:r>
              <a:rPr b="1" lang="en" sz="2500"/>
              <a:t>xample : new application - my_first_code , (it is a uart based application)</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p45"/>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Steps to add a new Application to GCSDK</a:t>
            </a:r>
            <a:endParaRPr>
              <a:latin typeface="Dosis"/>
              <a:ea typeface="Dosis"/>
              <a:cs typeface="Dosis"/>
              <a:sym typeface="Dosis"/>
            </a:endParaRPr>
          </a:p>
        </p:txBody>
      </p:sp>
      <p:sp>
        <p:nvSpPr>
          <p:cNvPr id="289" name="Google Shape;289;p45"/>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b="1" lang="en" sz="2500"/>
              <a:t>Create a file with the same name of folder inside the   newly created folder.</a:t>
            </a:r>
            <a:endParaRPr b="1" sz="2500"/>
          </a:p>
          <a:p>
            <a:pPr indent="0" lvl="0" marL="457200" rtl="0" algn="l">
              <a:lnSpc>
                <a:spcPct val="100000"/>
              </a:lnSpc>
              <a:spcBef>
                <a:spcPts val="0"/>
              </a:spcBef>
              <a:spcAft>
                <a:spcPts val="0"/>
              </a:spcAft>
              <a:buNone/>
            </a:pPr>
            <a:r>
              <a:t/>
            </a:r>
            <a:endParaRPr b="1" sz="2500"/>
          </a:p>
          <a:p>
            <a:pPr indent="0" lvl="0" marL="457200" rtl="0" algn="l">
              <a:lnSpc>
                <a:spcPct val="100000"/>
              </a:lnSpc>
              <a:spcBef>
                <a:spcPts val="0"/>
              </a:spcBef>
              <a:spcAft>
                <a:spcPts val="0"/>
              </a:spcAft>
              <a:buNone/>
            </a:pPr>
            <a:r>
              <a:rPr b="1" lang="en" sz="2500"/>
              <a:t>example : my_first_code.c</a:t>
            </a:r>
            <a:endParaRPr b="1" sz="2500"/>
          </a:p>
          <a:p>
            <a:pPr indent="0" lvl="0" marL="45720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p47"/>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Steps to add a new Application to GCSDK</a:t>
            </a:r>
            <a:endParaRPr>
              <a:latin typeface="Dosis"/>
              <a:ea typeface="Dosis"/>
              <a:cs typeface="Dosis"/>
              <a:sym typeface="Dosis"/>
            </a:endParaRPr>
          </a:p>
        </p:txBody>
      </p:sp>
      <p:sp>
        <p:nvSpPr>
          <p:cNvPr id="299" name="Google Shape;299;p47"/>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b="1" lang="en" sz="2500"/>
              <a:t>Add a makefile to the newly created folder</a:t>
            </a:r>
            <a:endParaRPr b="1" sz="2500"/>
          </a:p>
          <a:p>
            <a:pPr indent="0" lvl="0" marL="0" rtl="0" algn="l">
              <a:spcBef>
                <a:spcPts val="0"/>
              </a:spcBef>
              <a:spcAft>
                <a:spcPts val="0"/>
              </a:spcAft>
              <a:buNone/>
            </a:pPr>
            <a:r>
              <a:t/>
            </a:r>
            <a:endParaRPr b="1" sz="2500"/>
          </a:p>
          <a:p>
            <a:pPr indent="-387350" lvl="0" marL="914400" rtl="0" algn="l">
              <a:spcBef>
                <a:spcPts val="0"/>
              </a:spcBef>
              <a:spcAft>
                <a:spcPts val="0"/>
              </a:spcAft>
              <a:buSzPts val="2500"/>
              <a:buAutoNum type="arabicPeriod"/>
            </a:pPr>
            <a:r>
              <a:rPr b="1" lang="en" sz="2500"/>
              <a:t>Re-use existing Makefile file from another folder within the same application</a:t>
            </a:r>
            <a:endParaRPr b="1" sz="2500"/>
          </a:p>
          <a:p>
            <a:pPr indent="-387350" lvl="0" marL="914400" rtl="0" algn="l">
              <a:spcBef>
                <a:spcPts val="0"/>
              </a:spcBef>
              <a:spcAft>
                <a:spcPts val="0"/>
              </a:spcAft>
              <a:buSzPts val="2500"/>
              <a:buAutoNum type="arabicPeriod"/>
            </a:pPr>
            <a:r>
              <a:rPr b="1" lang="en" sz="2500"/>
              <a:t>Write your own </a:t>
            </a:r>
            <a:r>
              <a:rPr b="1" lang="en" sz="2500"/>
              <a:t>custom</a:t>
            </a:r>
            <a:r>
              <a:rPr b="1" lang="en" sz="2500"/>
              <a:t> Makefile.</a:t>
            </a:r>
            <a:endParaRPr b="1" sz="2500"/>
          </a:p>
          <a:p>
            <a:pPr indent="0" lvl="0" marL="45720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Steps to add a new Application to GCSDK</a:t>
            </a:r>
            <a:endParaRPr>
              <a:latin typeface="Dosis"/>
              <a:ea typeface="Dosis"/>
              <a:cs typeface="Dosis"/>
              <a:sym typeface="Dosis"/>
            </a:endParaRPr>
          </a:p>
        </p:txBody>
      </p:sp>
      <p:sp>
        <p:nvSpPr>
          <p:cNvPr id="309" name="Google Shape;309;p49"/>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b="1" lang="en" sz="2500"/>
              <a:t>Open the Makefile in the ‘example’ directory. </a:t>
            </a:r>
            <a:endParaRPr b="1" sz="2500"/>
          </a:p>
          <a:p>
            <a:pPr indent="0" lvl="0" marL="0" rtl="0" algn="l">
              <a:spcBef>
                <a:spcPts val="0"/>
              </a:spcBef>
              <a:spcAft>
                <a:spcPts val="0"/>
              </a:spcAft>
              <a:buNone/>
            </a:pPr>
            <a:r>
              <a:t/>
            </a:r>
            <a:endParaRPr b="1" sz="2500"/>
          </a:p>
          <a:p>
            <a:pPr indent="-387350" lvl="0" marL="914400" rtl="0" algn="l">
              <a:spcBef>
                <a:spcPts val="0"/>
              </a:spcBef>
              <a:spcAft>
                <a:spcPts val="0"/>
              </a:spcAft>
              <a:buSzPts val="2500"/>
              <a:buAutoNum type="arabicPeriod"/>
            </a:pPr>
            <a:r>
              <a:rPr b="1" lang="en" sz="2500"/>
              <a:t>Add an new ‘ifeq’ block</a:t>
            </a:r>
            <a:endParaRPr b="1" sz="2500"/>
          </a:p>
          <a:p>
            <a:pPr indent="-387350" lvl="0" marL="914400" rtl="0" algn="l">
              <a:spcBef>
                <a:spcPts val="0"/>
              </a:spcBef>
              <a:spcAft>
                <a:spcPts val="0"/>
              </a:spcAft>
              <a:buSzPts val="2500"/>
              <a:buAutoNum type="arabicPeriod"/>
            </a:pPr>
            <a:r>
              <a:rPr b="1" lang="en" sz="2500"/>
              <a:t>Provide path and file name </a:t>
            </a:r>
            <a:endParaRPr b="1" sz="2500"/>
          </a:p>
          <a:p>
            <a:pPr indent="-387350" lvl="0" marL="914400" rtl="0" algn="l">
              <a:spcBef>
                <a:spcPts val="0"/>
              </a:spcBef>
              <a:spcAft>
                <a:spcPts val="0"/>
              </a:spcAft>
              <a:buSzPts val="2500"/>
              <a:buAutoNum type="arabicPeriod"/>
            </a:pPr>
            <a:r>
              <a:rPr b="1" lang="en" sz="2500"/>
              <a:t>Add and ‘endif’ block to close the ‘ifeq’ block</a:t>
            </a:r>
            <a:endParaRPr b="1" sz="2500"/>
          </a:p>
          <a:p>
            <a:pPr indent="0" lvl="0" marL="45720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Steps to add a new Application to GCSDK</a:t>
            </a:r>
            <a:endParaRPr>
              <a:latin typeface="Dosis"/>
              <a:ea typeface="Dosis"/>
              <a:cs typeface="Dosis"/>
              <a:sym typeface="Dosis"/>
            </a:endParaRPr>
          </a:p>
        </p:txBody>
      </p:sp>
      <p:sp>
        <p:nvSpPr>
          <p:cNvPr id="319" name="Google Shape;319;p51"/>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t>Make sure the working directory is /GCSDK </a:t>
            </a:r>
            <a:endParaRPr b="1" sz="2500"/>
          </a:p>
          <a:p>
            <a:pPr indent="0" lvl="0" marL="0" rtl="0" algn="l">
              <a:spcBef>
                <a:spcPts val="0"/>
              </a:spcBef>
              <a:spcAft>
                <a:spcPts val="0"/>
              </a:spcAft>
              <a:buNone/>
            </a:pPr>
            <a:r>
              <a:rPr b="1" lang="en" sz="2500"/>
              <a:t>Execute the following command</a:t>
            </a:r>
            <a:endParaRPr b="1" sz="2500"/>
          </a:p>
          <a:p>
            <a:pPr indent="0" lvl="0" marL="0" rtl="0" algn="l">
              <a:spcBef>
                <a:spcPts val="0"/>
              </a:spcBef>
              <a:spcAft>
                <a:spcPts val="0"/>
              </a:spcAft>
              <a:buNone/>
            </a:pPr>
            <a:r>
              <a:t/>
            </a:r>
            <a:endParaRPr b="1" sz="2500"/>
          </a:p>
          <a:p>
            <a:pPr indent="0" lvl="0" marL="0" rtl="0" algn="l">
              <a:spcBef>
                <a:spcPts val="0"/>
              </a:spcBef>
              <a:spcAft>
                <a:spcPts val="0"/>
              </a:spcAft>
              <a:buNone/>
            </a:pPr>
            <a:r>
              <a:t/>
            </a:r>
            <a:endParaRPr b="1" sz="2500"/>
          </a:p>
          <a:p>
            <a:pPr indent="0" lvl="0" marL="0" rtl="0" algn="l">
              <a:spcBef>
                <a:spcPts val="0"/>
              </a:spcBef>
              <a:spcAft>
                <a:spcPts val="0"/>
              </a:spcAft>
              <a:buNone/>
            </a:pPr>
            <a:r>
              <a:t/>
            </a:r>
            <a:endParaRPr b="1" sz="2500"/>
          </a:p>
          <a:p>
            <a:pPr indent="0" lvl="0" marL="0" rtl="0" algn="l">
              <a:spcBef>
                <a:spcPts val="0"/>
              </a:spcBef>
              <a:spcAft>
                <a:spcPts val="0"/>
              </a:spcAft>
              <a:buNone/>
            </a:pPr>
            <a:r>
              <a:rPr b="1" lang="en" sz="2500"/>
              <a:t>The &lt;target_soc&gt; can either be ‘Ganga’ or ‘Yamuna’.</a:t>
            </a:r>
            <a:endParaRPr b="1" sz="2500"/>
          </a:p>
          <a:p>
            <a:pPr indent="0" lvl="0" marL="0" rtl="0" algn="l">
              <a:spcBef>
                <a:spcPts val="0"/>
              </a:spcBef>
              <a:spcAft>
                <a:spcPts val="0"/>
              </a:spcAft>
              <a:buNone/>
            </a:pPr>
            <a:r>
              <a:rPr b="1" lang="en" sz="2500"/>
              <a:t>*please note &lt;target_soc&gt; is case sensitive</a:t>
            </a:r>
            <a:endParaRPr b="1" sz="2500"/>
          </a:p>
          <a:p>
            <a:pPr indent="0" lvl="0" marL="45720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0"/>
              </a:spcBef>
              <a:spcAft>
                <a:spcPts val="0"/>
              </a:spcAft>
              <a:buNone/>
            </a:pPr>
            <a:r>
              <a:t/>
            </a:r>
            <a:endParaRPr b="1" sz="2500"/>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graphicFrame>
        <p:nvGraphicFramePr>
          <p:cNvPr id="320" name="Google Shape;320;p51"/>
          <p:cNvGraphicFramePr/>
          <p:nvPr/>
        </p:nvGraphicFramePr>
        <p:xfrm>
          <a:off x="952500" y="1911575"/>
          <a:ext cx="3000000" cy="3000000"/>
        </p:xfrm>
        <a:graphic>
          <a:graphicData uri="http://schemas.openxmlformats.org/drawingml/2006/table">
            <a:tbl>
              <a:tblPr>
                <a:noFill/>
                <a:tableStyleId>{9E3C8E5B-DE60-4C38-BC7E-6D5BF74BE1BC}</a:tableStyleId>
              </a:tblPr>
              <a:tblGrid>
                <a:gridCol w="7239000"/>
              </a:tblGrid>
              <a:tr h="381000">
                <a:tc>
                  <a:txBody>
                    <a:bodyPr/>
                    <a:lstStyle/>
                    <a:p>
                      <a:pPr indent="0" lvl="0" marL="0" rtl="0" algn="l">
                        <a:spcBef>
                          <a:spcPts val="0"/>
                        </a:spcBef>
                        <a:spcAft>
                          <a:spcPts val="0"/>
                        </a:spcAft>
                        <a:buNone/>
                      </a:pPr>
                      <a:r>
                        <a:rPr b="1" lang="en"/>
                        <a:t>m</a:t>
                      </a:r>
                      <a:r>
                        <a:rPr b="1" lang="en"/>
                        <a:t>ake software PROGRAM=my_first_code TARGET=&lt;target_soc&gt;</a:t>
                      </a:r>
                      <a:endParaRPr b="1"/>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4" name="Shape 324"/>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Adding New Peripheral to GCSDK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Adding New Peripheral Details </a:t>
            </a:r>
            <a:endParaRPr>
              <a:latin typeface="Dosis"/>
              <a:ea typeface="Dosis"/>
              <a:cs typeface="Dosis"/>
              <a:sym typeface="Dosis"/>
            </a:endParaRPr>
          </a:p>
          <a:p>
            <a:pPr indent="0" lvl="0" marL="0" rtl="0" algn="l">
              <a:lnSpc>
                <a:spcPct val="100000"/>
              </a:lnSpc>
              <a:spcBef>
                <a:spcPts val="0"/>
              </a:spcBef>
              <a:spcAft>
                <a:spcPts val="0"/>
              </a:spcAft>
              <a:buSzPts val="2800"/>
              <a:buNone/>
            </a:pPr>
            <a:r>
              <a:t/>
            </a:r>
            <a:endParaRPr>
              <a:latin typeface="Dosis"/>
              <a:ea typeface="Dosis"/>
              <a:cs typeface="Dosis"/>
              <a:sym typeface="Dosis"/>
            </a:endParaRPr>
          </a:p>
        </p:txBody>
      </p:sp>
      <p:sp>
        <p:nvSpPr>
          <p:cNvPr id="335" name="Google Shape;335;p54"/>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336" name="Google Shape;336;p54"/>
          <p:cNvSpPr txBox="1"/>
          <p:nvPr/>
        </p:nvSpPr>
        <p:spPr>
          <a:xfrm>
            <a:off x="4405300" y="679550"/>
            <a:ext cx="46233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In the </a:t>
            </a:r>
            <a:r>
              <a:rPr lang="en" sz="2500">
                <a:solidFill>
                  <a:srgbClr val="0B5394"/>
                </a:solidFill>
                <a:latin typeface="Titillium Web"/>
                <a:ea typeface="Titillium Web"/>
                <a:cs typeface="Titillium Web"/>
                <a:sym typeface="Titillium Web"/>
              </a:rPr>
              <a:t>directory /bsp/third_party/&lt;target_SoC&gt; modify “Platform.h” to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Add new peripheral base address.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Peripheral offset.</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Peripheral count.</a:t>
            </a:r>
            <a:endParaRPr sz="2500">
              <a:solidFill>
                <a:srgbClr val="0B5394"/>
              </a:solidFill>
              <a:latin typeface="Titillium Web"/>
              <a:ea typeface="Titillium Web"/>
              <a:cs typeface="Titillium Web"/>
              <a:sym typeface="Titillium Web"/>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Adding New Peripheral Registers Details</a:t>
            </a:r>
            <a:endParaRPr>
              <a:latin typeface="Dosis"/>
              <a:ea typeface="Dosis"/>
              <a:cs typeface="Dosis"/>
              <a:sym typeface="Dosis"/>
            </a:endParaRPr>
          </a:p>
        </p:txBody>
      </p:sp>
      <p:sp>
        <p:nvSpPr>
          <p:cNvPr id="342" name="Google Shape;342;p55"/>
          <p:cNvSpPr txBox="1"/>
          <p:nvPr/>
        </p:nvSpPr>
        <p:spPr>
          <a:xfrm>
            <a:off x="4397625" y="747750"/>
            <a:ext cx="46233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In the directory /bsp/include add “&lt;new_peripheral&gt;.h” to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Add new peripheral registers in structures.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Be careful in adding variable length registers.</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All registers are uniformly placed with 32 bit offset.</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Initializing New Peripheral Address</a:t>
            </a:r>
            <a:endParaRPr>
              <a:latin typeface="Dosis"/>
              <a:ea typeface="Dosis"/>
              <a:cs typeface="Dosis"/>
              <a:sym typeface="Dosis"/>
            </a:endParaRPr>
          </a:p>
        </p:txBody>
      </p:sp>
      <p:sp>
        <p:nvSpPr>
          <p:cNvPr id="348" name="Google Shape;348;p56"/>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
        <p:nvSpPr>
          <p:cNvPr id="349" name="Google Shape;349;p56"/>
          <p:cNvSpPr txBox="1"/>
          <p:nvPr/>
        </p:nvSpPr>
        <p:spPr>
          <a:xfrm>
            <a:off x="330150" y="679550"/>
            <a:ext cx="84837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Inside /bsp/driver/ , create new folder &lt;new_peripheral&gt;  for the newly added peripheral</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rPr lang="en" sz="2500">
                <a:solidFill>
                  <a:srgbClr val="0B5394"/>
                </a:solidFill>
                <a:latin typeface="Titillium Web"/>
                <a:ea typeface="Titillium Web"/>
                <a:cs typeface="Titillium Web"/>
                <a:sym typeface="Titillium Web"/>
              </a:rPr>
              <a:t>Inside the newly created folder , create &lt;new_driver&gt;.c file.  </a:t>
            </a:r>
            <a:endParaRPr sz="2500">
              <a:solidFill>
                <a:srgbClr val="0B5394"/>
              </a:solidFill>
              <a:latin typeface="Titillium Web"/>
              <a:ea typeface="Titillium Web"/>
              <a:cs typeface="Titillium Web"/>
              <a:sym typeface="Titillium Web"/>
            </a:endParaRPr>
          </a:p>
          <a:p>
            <a:pPr indent="0" lvl="0" marL="0" rtl="0" algn="l">
              <a:spcBef>
                <a:spcPts val="0"/>
              </a:spcBef>
              <a:spcAft>
                <a:spcPts val="0"/>
              </a:spcAft>
              <a:buNone/>
            </a:pPr>
            <a:r>
              <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Initialises the base address for a particular set of peripheral.</a:t>
            </a:r>
            <a:endParaRPr sz="2500">
              <a:solidFill>
                <a:srgbClr val="0B5394"/>
              </a:solidFill>
              <a:latin typeface="Titillium Web"/>
              <a:ea typeface="Titillium Web"/>
              <a:cs typeface="Titillium Web"/>
              <a:sym typeface="Titillium Web"/>
            </a:endParaRPr>
          </a:p>
          <a:p>
            <a:pPr indent="-387350" lvl="0" marL="457200" rtl="0" algn="l">
              <a:spcBef>
                <a:spcPts val="0"/>
              </a:spcBef>
              <a:spcAft>
                <a:spcPts val="0"/>
              </a:spcAft>
              <a:buClr>
                <a:srgbClr val="0B5394"/>
              </a:buClr>
              <a:buSzPts val="2500"/>
              <a:buFont typeface="Titillium Web"/>
              <a:buChar char="●"/>
            </a:pPr>
            <a:r>
              <a:rPr lang="en" sz="2500">
                <a:solidFill>
                  <a:srgbClr val="0B5394"/>
                </a:solidFill>
                <a:latin typeface="Titillium Web"/>
                <a:ea typeface="Titillium Web"/>
                <a:cs typeface="Titillium Web"/>
                <a:sym typeface="Titillium Web"/>
              </a:rPr>
              <a:t>Peripheral instance with array index can be used to point to the registers of the peripheral.</a:t>
            </a:r>
            <a:endParaRPr sz="2500">
              <a:solidFill>
                <a:srgbClr val="0B5394"/>
              </a:solidFill>
              <a:latin typeface="Titillium Web"/>
              <a:ea typeface="Titillium Web"/>
              <a:cs typeface="Titillium Web"/>
              <a:sym typeface="Titillium Web"/>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Add New Driver to Makefile</a:t>
            </a:r>
            <a:endParaRPr>
              <a:latin typeface="Dosis"/>
              <a:ea typeface="Dosis"/>
              <a:cs typeface="Dosis"/>
              <a:sym typeface="Dosis"/>
            </a:endParaRPr>
          </a:p>
        </p:txBody>
      </p:sp>
      <p:sp>
        <p:nvSpPr>
          <p:cNvPr id="359" name="Google Shape;359;p58"/>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AutoNum type="arabicPeriod"/>
            </a:pPr>
            <a:r>
              <a:rPr b="1" lang="en"/>
              <a:t>In /examples ‘Makefile’ add the path to the new driver under appropriate TARGET in ‘compile’ section</a:t>
            </a:r>
            <a:endParaRPr b="1"/>
          </a:p>
          <a:p>
            <a:pPr indent="-342900" lvl="0" marL="457200" rtl="0" algn="l">
              <a:lnSpc>
                <a:spcPct val="100000"/>
              </a:lnSpc>
              <a:spcBef>
                <a:spcPts val="0"/>
              </a:spcBef>
              <a:spcAft>
                <a:spcPts val="0"/>
              </a:spcAft>
              <a:buSzPts val="1800"/>
              <a:buAutoNum type="arabicPeriod"/>
            </a:pPr>
            <a:r>
              <a:rPr b="1" lang="en"/>
              <a:t>Add the path to the object file to new driver under appropriate TARGET in ‘build’ section </a:t>
            </a:r>
            <a:endParaRPr b="1"/>
          </a:p>
          <a:p>
            <a:pPr indent="0" lvl="0" marL="0" rtl="0" algn="l">
              <a:lnSpc>
                <a:spcPct val="100000"/>
              </a:lnSpc>
              <a:spcBef>
                <a:spcPts val="0"/>
              </a:spcBef>
              <a:spcAft>
                <a:spcPts val="0"/>
              </a:spcAft>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311700" y="2150850"/>
            <a:ext cx="8520600" cy="841800"/>
          </a:xfrm>
          <a:prstGeom prst="rect">
            <a:avLst/>
          </a:prstGeom>
        </p:spPr>
        <p:txBody>
          <a:bodyPr anchorCtr="0" anchor="ctr" bIns="91425" lIns="182875" spcFirstLastPara="1" rIns="91425" wrap="square" tIns="91425">
            <a:noAutofit/>
          </a:bodyPr>
          <a:lstStyle/>
          <a:p>
            <a:pPr indent="0" lvl="0" marL="0" rtl="0" algn="ctr">
              <a:spcBef>
                <a:spcPts val="0"/>
              </a:spcBef>
              <a:spcAft>
                <a:spcPts val="0"/>
              </a:spcAft>
              <a:buNone/>
            </a:pPr>
            <a:r>
              <a:rPr lang="en"/>
              <a:t>Adding and Compiling New Project to GCSDK</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8" name="Shape 368"/>
        <p:cNvGrpSpPr/>
        <p:nvPr/>
      </p:nvGrpSpPr>
      <p:grpSpPr>
        <a:xfrm>
          <a:off x="0" y="0"/>
          <a:ext cx="0" cy="0"/>
          <a:chOff x="0" y="0"/>
          <a:chExt cx="0" cy="0"/>
        </a:xfrm>
      </p:grpSpPr>
      <p:sp>
        <p:nvSpPr>
          <p:cNvPr id="369" name="Google Shape;369;p60"/>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Add New Project </a:t>
            </a:r>
            <a:endParaRPr>
              <a:latin typeface="Dosis"/>
              <a:ea typeface="Dosis"/>
              <a:cs typeface="Dosis"/>
              <a:sym typeface="Dosis"/>
            </a:endParaRPr>
          </a:p>
        </p:txBody>
      </p:sp>
      <p:sp>
        <p:nvSpPr>
          <p:cNvPr id="370" name="Google Shape;370;p60"/>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4" name="Shape 374"/>
        <p:cNvGrpSpPr/>
        <p:nvPr/>
      </p:nvGrpSpPr>
      <p:grpSpPr>
        <a:xfrm>
          <a:off x="0" y="0"/>
          <a:ext cx="0" cy="0"/>
          <a:chOff x="0" y="0"/>
          <a:chExt cx="0" cy="0"/>
        </a:xfrm>
      </p:grpSpPr>
      <p:sp>
        <p:nvSpPr>
          <p:cNvPr id="375" name="Google Shape;375;p61"/>
          <p:cNvSpPr txBox="1"/>
          <p:nvPr>
            <p:ph type="title"/>
          </p:nvPr>
        </p:nvSpPr>
        <p:spPr>
          <a:xfrm>
            <a:off x="0" y="0"/>
            <a:ext cx="9144000" cy="540000"/>
          </a:xfrm>
          <a:prstGeom prst="rect">
            <a:avLst/>
          </a:prstGeom>
          <a:solidFill>
            <a:srgbClr val="073763"/>
          </a:solidFill>
          <a:ln>
            <a:noFill/>
          </a:ln>
        </p:spPr>
        <p:txBody>
          <a:bodyPr anchorCtr="0" anchor="t" bIns="91425" lIns="182875" spcFirstLastPara="1" rIns="91425" wrap="square" tIns="91425">
            <a:noAutofit/>
          </a:bodyPr>
          <a:lstStyle/>
          <a:p>
            <a:pPr indent="0" lvl="0" marL="0" rtl="0" algn="l">
              <a:lnSpc>
                <a:spcPct val="100000"/>
              </a:lnSpc>
              <a:spcBef>
                <a:spcPts val="0"/>
              </a:spcBef>
              <a:spcAft>
                <a:spcPts val="0"/>
              </a:spcAft>
              <a:buSzPts val="2800"/>
              <a:buNone/>
            </a:pPr>
            <a:r>
              <a:rPr lang="en">
                <a:latin typeface="Dosis"/>
                <a:ea typeface="Dosis"/>
                <a:cs typeface="Dosis"/>
                <a:sym typeface="Dosis"/>
              </a:rPr>
              <a:t>Compiling</a:t>
            </a:r>
            <a:r>
              <a:rPr lang="en">
                <a:latin typeface="Dosis"/>
                <a:ea typeface="Dosis"/>
                <a:cs typeface="Dosis"/>
                <a:sym typeface="Dosis"/>
              </a:rPr>
              <a:t> Newly added Project </a:t>
            </a:r>
            <a:endParaRPr>
              <a:latin typeface="Dosis"/>
              <a:ea typeface="Dosis"/>
              <a:cs typeface="Dosis"/>
              <a:sym typeface="Dosis"/>
            </a:endParaRPr>
          </a:p>
        </p:txBody>
      </p:sp>
      <p:sp>
        <p:nvSpPr>
          <p:cNvPr id="376" name="Google Shape;376;p61"/>
          <p:cNvSpPr txBox="1"/>
          <p:nvPr>
            <p:ph idx="1" type="body"/>
          </p:nvPr>
        </p:nvSpPr>
        <p:spPr>
          <a:xfrm>
            <a:off x="161275" y="679550"/>
            <a:ext cx="8322600" cy="391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a:p>
          <a:p>
            <a:pPr indent="0" lvl="0" marL="0" rtl="0" algn="l">
              <a:lnSpc>
                <a:spcPct val="100000"/>
              </a:lnSpc>
              <a:spcBef>
                <a:spcPts val="1000"/>
              </a:spcBef>
              <a:spcAft>
                <a:spcPts val="0"/>
              </a:spcAft>
              <a:buSzPts val="1800"/>
              <a:buNone/>
            </a:pPr>
            <a:r>
              <a:t/>
            </a:r>
            <a:endParaRPr b="1"/>
          </a:p>
          <a:p>
            <a:pPr indent="0" lvl="0" marL="0" rtl="0" algn="l">
              <a:lnSpc>
                <a:spcPct val="100000"/>
              </a:lnSpc>
              <a:spcBef>
                <a:spcPts val="1000"/>
              </a:spcBef>
              <a:spcAft>
                <a:spcPts val="1000"/>
              </a:spcAft>
              <a:buSzPts val="1800"/>
              <a:buNone/>
            </a:pPr>
            <a:r>
              <a:rPr b="1" i="1" lang="en"/>
              <a:t> </a:t>
            </a:r>
            <a:endParaRPr i="1"/>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0" y="0"/>
            <a:ext cx="9144000" cy="5400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latin typeface="Dosis"/>
                <a:ea typeface="Dosis"/>
                <a:cs typeface="Dosis"/>
                <a:sym typeface="Dosis"/>
              </a:rPr>
              <a:t>References</a:t>
            </a:r>
            <a:endParaRPr>
              <a:latin typeface="Dosis"/>
              <a:ea typeface="Dosis"/>
              <a:cs typeface="Dosis"/>
              <a:sym typeface="Dosis"/>
            </a:endParaRPr>
          </a:p>
        </p:txBody>
      </p:sp>
      <p:sp>
        <p:nvSpPr>
          <p:cNvPr id="382" name="Google Shape;382;p62"/>
          <p:cNvSpPr txBox="1"/>
          <p:nvPr>
            <p:ph idx="1" type="body"/>
          </p:nvPr>
        </p:nvSpPr>
        <p:spPr>
          <a:xfrm>
            <a:off x="325625" y="836500"/>
            <a:ext cx="8714700" cy="4057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Documentation:</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3"/>
              </a:rPr>
              <a:t>https://shakti.org.in/documentation.html</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Blogs:</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4"/>
              </a:rPr>
              <a:t>https://blogshakti.org.in/</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FPGA files:</a:t>
            </a:r>
            <a:r>
              <a:rPr lang="en" sz="1500" u="sng">
                <a:solidFill>
                  <a:schemeClr val="dk1"/>
                </a:solidFill>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5"/>
              </a:rPr>
              <a:t>https://gitlab.com/shaktiproject/sp2020</a:t>
            </a:r>
            <a:endParaRPr sz="1500" u="sng">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SDK:</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6"/>
              </a:rPr>
              <a:t>https://gitlab.com/shaktiproject/software/shakti-sdk</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on Arduino:</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7"/>
              </a:rPr>
              <a:t>https://blogshakti.org.in/how-to-print-hello-world-on-shakti-using-arduino-ide/</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Linux on Shakti:</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8"/>
              </a:rPr>
              <a:t>https://gitlab.com/shaktiproject/software/linux-on-shakti</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Platform IO:</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9"/>
              </a:rPr>
              <a:t>https://registry.platformio.org/platforms/platformio/shakti</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cores:</a:t>
            </a:r>
            <a:r>
              <a:rPr lang="en" sz="1500">
                <a:latin typeface="Dosis Medium"/>
                <a:ea typeface="Dosis Medium"/>
                <a:cs typeface="Dosis Medium"/>
                <a:sym typeface="Dosis Medium"/>
              </a:rPr>
              <a:t> </a:t>
            </a:r>
            <a:r>
              <a:rPr lang="en" sz="1500" u="sng">
                <a:solidFill>
                  <a:schemeClr val="hlink"/>
                </a:solidFill>
                <a:latin typeface="Dosis Medium"/>
                <a:ea typeface="Dosis Medium"/>
                <a:cs typeface="Dosis Medium"/>
                <a:sym typeface="Dosis Medium"/>
                <a:hlinkClick r:id="rId10"/>
              </a:rPr>
              <a:t>https://gitlab.com/shaktiproject/cores</a:t>
            </a:r>
            <a:endParaRPr sz="1500">
              <a:latin typeface="Dosis Medium"/>
              <a:ea typeface="Dosis Medium"/>
              <a:cs typeface="Dosis Medium"/>
              <a:sym typeface="Dosis Medium"/>
            </a:endParaRPr>
          </a:p>
          <a:p>
            <a:pPr indent="0" lvl="0" marL="0" rtl="0" algn="l">
              <a:spcBef>
                <a:spcPts val="1000"/>
              </a:spcBef>
              <a:spcAft>
                <a:spcPts val="0"/>
              </a:spcAft>
              <a:buNone/>
            </a:pPr>
            <a:r>
              <a:rPr lang="en" sz="1500">
                <a:solidFill>
                  <a:schemeClr val="dk1"/>
                </a:solidFill>
                <a:latin typeface="Dosis Medium"/>
                <a:ea typeface="Dosis Medium"/>
                <a:cs typeface="Dosis Medium"/>
                <a:sym typeface="Dosis Medium"/>
              </a:rPr>
              <a:t>Shakti peripherals: </a:t>
            </a:r>
            <a:r>
              <a:rPr lang="en" sz="1500" u="sng">
                <a:solidFill>
                  <a:schemeClr val="hlink"/>
                </a:solidFill>
                <a:latin typeface="Dosis Medium"/>
                <a:ea typeface="Dosis Medium"/>
                <a:cs typeface="Dosis Medium"/>
                <a:sym typeface="Dosis Medium"/>
                <a:hlinkClick r:id="rId11"/>
              </a:rPr>
              <a:t>https://gitlab.com/shaktiproject/uncore/devices</a:t>
            </a:r>
            <a:endParaRPr sz="1500">
              <a:latin typeface="Dosis Medium"/>
              <a:ea typeface="Dosis Medium"/>
              <a:cs typeface="Dosis Medium"/>
              <a:sym typeface="Dosis Medium"/>
            </a:endParaRPr>
          </a:p>
          <a:p>
            <a:pPr indent="0" lvl="0" marL="0" rtl="0" algn="l">
              <a:spcBef>
                <a:spcPts val="1000"/>
              </a:spcBef>
              <a:spcAft>
                <a:spcPts val="1000"/>
              </a:spcAft>
              <a:buNone/>
            </a:pPr>
            <a:r>
              <a:t/>
            </a:r>
            <a:endParaRPr>
              <a:latin typeface="Dosis Medium"/>
              <a:ea typeface="Dosis Medium"/>
              <a:cs typeface="Dosis Medium"/>
              <a:sym typeface="Dosis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nvSpPr>
        <p:spPr>
          <a:xfrm>
            <a:off x="311708" y="363575"/>
            <a:ext cx="8520600" cy="2052600"/>
          </a:xfrm>
          <a:prstGeom prst="rect">
            <a:avLst/>
          </a:prstGeom>
          <a:noFill/>
          <a:ln>
            <a:noFill/>
          </a:ln>
        </p:spPr>
        <p:txBody>
          <a:bodyPr anchorCtr="0" anchor="b" bIns="91425" lIns="182875" spcFirstLastPara="1" rIns="91425" wrap="square" tIns="91425">
            <a:noAutofit/>
          </a:bodyPr>
          <a:lstStyle/>
          <a:p>
            <a:pPr indent="0" lvl="0" marL="0" rtl="0" algn="ctr">
              <a:spcBef>
                <a:spcPts val="0"/>
              </a:spcBef>
              <a:spcAft>
                <a:spcPts val="0"/>
              </a:spcAft>
              <a:buNone/>
            </a:pPr>
            <a:r>
              <a:rPr b="1" lang="en" sz="8300">
                <a:solidFill>
                  <a:srgbClr val="073763"/>
                </a:solidFill>
                <a:latin typeface="Dosis"/>
                <a:ea typeface="Dosis"/>
                <a:cs typeface="Dosis"/>
                <a:sym typeface="Dosis"/>
              </a:rPr>
              <a:t>Thank you</a:t>
            </a:r>
            <a:endParaRPr b="1" sz="8300">
              <a:solidFill>
                <a:srgbClr val="073763"/>
              </a:solidFill>
              <a:latin typeface="Dosis"/>
              <a:ea typeface="Dosis"/>
              <a:cs typeface="Dosis"/>
              <a:sym typeface="Dosi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AKTI-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